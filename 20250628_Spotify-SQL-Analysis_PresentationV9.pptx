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6" r:id="rId2"/>
    <p:sldId id="286" r:id="rId3"/>
    <p:sldId id="291" r:id="rId4"/>
    <p:sldId id="295" r:id="rId5"/>
    <p:sldId id="292" r:id="rId6"/>
    <p:sldId id="298" r:id="rId7"/>
    <p:sldId id="319" r:id="rId8"/>
    <p:sldId id="299" r:id="rId9"/>
    <p:sldId id="301" r:id="rId10"/>
    <p:sldId id="302" r:id="rId11"/>
    <p:sldId id="289" r:id="rId12"/>
    <p:sldId id="316" r:id="rId13"/>
    <p:sldId id="318" r:id="rId14"/>
    <p:sldId id="290" r:id="rId15"/>
    <p:sldId id="341" r:id="rId16"/>
    <p:sldId id="304" r:id="rId17"/>
    <p:sldId id="320" r:id="rId18"/>
    <p:sldId id="333" r:id="rId19"/>
    <p:sldId id="337" r:id="rId20"/>
    <p:sldId id="334" r:id="rId21"/>
    <p:sldId id="338" r:id="rId22"/>
    <p:sldId id="342" r:id="rId23"/>
    <p:sldId id="343" r:id="rId24"/>
    <p:sldId id="345" r:id="rId25"/>
    <p:sldId id="344" r:id="rId26"/>
    <p:sldId id="293" r:id="rId27"/>
    <p:sldId id="314" r:id="rId28"/>
    <p:sldId id="294" r:id="rId29"/>
    <p:sldId id="315" r:id="rId30"/>
    <p:sldId id="264" r:id="rId31"/>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Calibri"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Calibri"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D760"/>
    <a:srgbClr val="76FFAA"/>
    <a:srgbClr val="00B9B3"/>
    <a:srgbClr val="7F7F7F"/>
    <a:srgbClr val="FCC725"/>
    <a:srgbClr val="04A6A1"/>
    <a:srgbClr val="00A8A4"/>
    <a:srgbClr val="008E8B"/>
    <a:srgbClr val="232323"/>
    <a:srgbClr val="0082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showGuides="1">
      <p:cViewPr varScale="1">
        <p:scale>
          <a:sx n="103" d="100"/>
          <a:sy n="103" d="100"/>
        </p:scale>
        <p:origin x="835" y="77"/>
      </p:cViewPr>
      <p:guideLst>
        <p:guide orient="horz" pos="1620"/>
        <p:guide pos="2818"/>
      </p:guideLst>
    </p:cSldViewPr>
  </p:slid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itchFamily="34" charset="0"/>
                <a:ea typeface="SimSun" pitchFamily="2" charset="-122"/>
                <a:cs typeface="+mn-cs"/>
              </a:rPr>
              <a:t>2025/10/18</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itchFamily="34" charset="0"/>
                <a:ea typeface="SimSun"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1969910D-4A62-402E-87EC-B0B73BB0C2FA}"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a:t>
            </a:r>
          </a:p>
          <a:p>
            <a:endParaRPr lang="en-US" altLang="en-US"/>
          </a:p>
          <a:p>
            <a:r>
              <a:rPr lang="zh-CN" altLang="en-US"/>
              <a:t>🔹</a:t>
            </a:r>
            <a:r>
              <a:rPr lang="en-US" altLang="en-US"/>
              <a:t> Track Name: The title of the musical piece, used to identify and categorize songs within the dataset.</a:t>
            </a:r>
          </a:p>
          <a:p>
            <a:endParaRPr lang="en-US" altLang="en-US"/>
          </a:p>
          <a:p>
            <a:r>
              <a:rPr lang="zh-CN" altLang="en-US"/>
              <a:t>🔹</a:t>
            </a:r>
            <a:r>
              <a:rPr lang="en-US" altLang="en-US"/>
              <a:t> Artist Name: The performer or group credited with the track, representing the source of musical content.</a:t>
            </a:r>
          </a:p>
          <a:p>
            <a:endParaRPr lang="en-US" altLang="en-US"/>
          </a:p>
          <a:p>
            <a:r>
              <a:rPr lang="zh-CN" altLang="en-US"/>
              <a:t>🔹</a:t>
            </a:r>
            <a:r>
              <a:rPr lang="en-US" altLang="en-US"/>
              <a:t> Genre: The category or style of the track, such as Pop, Hip-Hop, or Rock, used for classification and trend analysis.</a:t>
            </a:r>
          </a:p>
          <a:p>
            <a:endParaRPr lang="en-US" altLang="en-US"/>
          </a:p>
          <a:p>
            <a:r>
              <a:rPr lang="zh-CN" altLang="en-US"/>
              <a:t>🔹</a:t>
            </a:r>
            <a:r>
              <a:rPr lang="en-US" altLang="en-US"/>
              <a:t> Popularity: A numerical score (0–100) reflecting the overall reception of a track based on recent plays, skips, and user engagement.</a:t>
            </a:r>
          </a:p>
          <a:p>
            <a:endParaRPr lang="en-US" altLang="en-US"/>
          </a:p>
          <a:p>
            <a:r>
              <a:rPr lang="zh-CN" altLang="en-US"/>
              <a:t>🔹</a:t>
            </a:r>
            <a:r>
              <a:rPr lang="en-US" altLang="en-US"/>
              <a:t> Danceability: A float value (0.0–1.0) indicating how suitable the track is for dancing, derived from tempo, rhythm, and beat strength.</a:t>
            </a:r>
          </a:p>
          <a:p>
            <a:endParaRPr lang="en-US" altLang="en-US"/>
          </a:p>
          <a:p>
            <a:r>
              <a:rPr lang="zh-CN" altLang="en-US"/>
              <a:t>🔹</a:t>
            </a:r>
            <a:r>
              <a:rPr lang="en-US" altLang="en-US"/>
              <a:t> Duration (in milliseconds): The length of the track, representing its total play time, used in playlist curation and user behavior analysis.</a:t>
            </a:r>
          </a:p>
          <a:p>
            <a:endParaRPr lang="en-US" altLang="en-US"/>
          </a:p>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41920"/>
            <a:ext cx="7772400" cy="1791013"/>
          </a:xfrm>
        </p:spPr>
        <p:txBody>
          <a:bodyPr anchor="b"/>
          <a:lstStyle>
            <a:lvl1pPr algn="ctr">
              <a:defRPr sz="4500"/>
            </a:lvl1pPr>
          </a:lstStyle>
          <a:p>
            <a:pPr fontAlgn="auto"/>
            <a:r>
              <a:rPr lang="zh-CN" altLang="en-US" strike="noStrike" noProof="1"/>
              <a:t>单击此处编辑母版标题样式</a:t>
            </a:r>
            <a:endParaRPr lang="en-US" strike="noStrike" noProof="1"/>
          </a:p>
        </p:txBody>
      </p:sp>
      <p:sp>
        <p:nvSpPr>
          <p:cNvPr id="3" name="Subtitle 2"/>
          <p:cNvSpPr>
            <a:spLocks noGrp="1"/>
          </p:cNvSpPr>
          <p:nvPr>
            <p:ph type="subTitle" idx="1"/>
          </p:nvPr>
        </p:nvSpPr>
        <p:spPr>
          <a:xfrm>
            <a:off x="1143000" y="2702001"/>
            <a:ext cx="6858000" cy="1242039"/>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529"/>
            <a:ext cx="7886700" cy="2139927"/>
          </a:xfrm>
        </p:spPr>
        <p:txBody>
          <a:bodyPr anchor="b"/>
          <a:lstStyle>
            <a:lvl1pPr>
              <a:defRPr sz="4500"/>
            </a:lvl1p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3888" y="3442701"/>
            <a:ext cx="7886700" cy="11253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50" y="1369458"/>
            <a:ext cx="3886200" cy="3264075"/>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150" y="1369458"/>
            <a:ext cx="3886200" cy="3264075"/>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92"/>
            <a:ext cx="7886700" cy="994346"/>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42" y="1261093"/>
            <a:ext cx="3868340" cy="61804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42" y="1879135"/>
            <a:ext cx="3868340" cy="2763925"/>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150" y="1261093"/>
            <a:ext cx="3887391" cy="61804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150" y="1879135"/>
            <a:ext cx="3887391" cy="2763925"/>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and titl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60"/>
            <a:ext cx="2949178" cy="120036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a:xfrm>
            <a:off x="3887391" y="740699"/>
            <a:ext cx="4629150" cy="36558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endParaRPr lang="en-US" strike="noStrike" noProof="1"/>
          </a:p>
        </p:txBody>
      </p:sp>
      <p:sp>
        <p:nvSpPr>
          <p:cNvPr id="4" name="Text Placeholder 3"/>
          <p:cNvSpPr>
            <a:spLocks noGrp="1"/>
          </p:cNvSpPr>
          <p:nvPr>
            <p:ph type="body" sz="half" idx="2"/>
          </p:nvPr>
        </p:nvSpPr>
        <p:spPr>
          <a:xfrm>
            <a:off x="629841" y="1543320"/>
            <a:ext cx="2949178" cy="28591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60"/>
            <a:ext cx="2949178" cy="120036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391" y="740699"/>
            <a:ext cx="4629150" cy="3655859"/>
          </a:xfrm>
        </p:spPr>
        <p:txBody>
          <a:bodyPr vert="horz" lIns="91440" tIns="45720" rIns="91440" bIns="45720" rtlCol="0" anchor="t">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pPr marL="0" marR="0" lvl="0" indent="0" algn="l" defTabSz="914400" rtl="0" eaLnBrk="1" fontAlgn="auto" latinLnBrk="0" hangingPunct="1">
              <a:lnSpc>
                <a:spcPct val="90000"/>
              </a:lnSpc>
              <a:spcBef>
                <a:spcPts val="1000"/>
              </a:spcBef>
              <a:spcAft>
                <a:spcPts val="0"/>
              </a:spcAft>
              <a:buClrTx/>
              <a:buSzTx/>
              <a:buFont typeface="Arial" panose="020B07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29841" y="1543320"/>
            <a:ext cx="2949178" cy="28591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ly-arranged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92"/>
            <a:ext cx="1971675" cy="4359642"/>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50" y="273892"/>
            <a:ext cx="5800725" cy="4359642"/>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274638"/>
            <a:ext cx="7886700" cy="993775"/>
          </a:xfrm>
          <a:prstGeom prst="rect">
            <a:avLst/>
          </a:prstGeom>
          <a:noFill/>
          <a:ln w="9525">
            <a:noFill/>
          </a:ln>
        </p:spPr>
        <p:txBody>
          <a:bodyPr anchor="ctr" anchorCtr="0"/>
          <a:lstStyle/>
          <a:p>
            <a:pPr lvl="0"/>
            <a:r>
              <a:rPr lang="zh-CN" altLang="en-US" dirty="0"/>
              <a:t>单击此处编辑母版标题样式</a:t>
            </a:r>
            <a:endParaRPr lang="en-US" altLang="x-none" dirty="0"/>
          </a:p>
        </p:txBody>
      </p:sp>
      <p:sp>
        <p:nvSpPr>
          <p:cNvPr id="1027" name="Text Placeholder 2"/>
          <p:cNvSpPr>
            <a:spLocks noGrp="1"/>
          </p:cNvSpPr>
          <p:nvPr>
            <p:ph type="body"/>
          </p:nvPr>
        </p:nvSpPr>
        <p:spPr>
          <a:xfrm>
            <a:off x="628650" y="1370013"/>
            <a:ext cx="7886700" cy="3263900"/>
          </a:xfrm>
          <a:prstGeom prst="rect">
            <a:avLst/>
          </a:prstGeom>
          <a:noFill/>
          <a:ln w="9525">
            <a:noFill/>
          </a:ln>
        </p:spPr>
        <p:txBody>
          <a:bodyPr anchor="t"/>
          <a:lstStyle/>
          <a:p>
            <a:pPr lvl="0" indent="-228600" fontAlgn="auto"/>
            <a:r>
              <a:rPr lang="zh-CN" altLang="en-US" strike="noStrike" noProof="1"/>
              <a:t>单击此处编辑母版文本样式</a:t>
            </a:r>
          </a:p>
          <a:p>
            <a:pPr lvl="1" indent="-228600" fontAlgn="auto"/>
            <a:r>
              <a:rPr lang="zh-CN" altLang="en-US" strike="noStrike" noProof="1"/>
              <a:t>第二级</a:t>
            </a:r>
          </a:p>
          <a:p>
            <a:pPr lvl="2" indent="-228600" fontAlgn="auto"/>
            <a:r>
              <a:rPr lang="zh-CN" altLang="en-US" strike="noStrike" noProof="1"/>
              <a:t>第三级</a:t>
            </a:r>
          </a:p>
          <a:p>
            <a:pPr lvl="3" indent="-228600" fontAlgn="auto"/>
            <a:r>
              <a:rPr lang="zh-CN" altLang="en-US" sz="1350" strike="noStrike" noProof="1"/>
              <a:t>第四级</a:t>
            </a:r>
            <a:endParaRPr lang="zh-CN" altLang="en-US" strike="noStrike" noProof="1"/>
          </a:p>
          <a:p>
            <a:pPr lvl="4" indent="-228600" fontAlgn="auto"/>
            <a:r>
              <a:rPr lang="zh-CN" altLang="en-US" sz="1350" strike="noStrike" noProof="1"/>
              <a:t>第五级</a:t>
            </a:r>
            <a:endParaRPr lang="en-US" altLang="x-none" strike="noStrike" noProof="1"/>
          </a:p>
        </p:txBody>
      </p:sp>
      <p:sp>
        <p:nvSpPr>
          <p:cNvPr id="4" name="Date Placeholder 3"/>
          <p:cNvSpPr>
            <a:spLocks noGrp="1"/>
          </p:cNvSpPr>
          <p:nvPr>
            <p:ph type="dt" sz="half" idx="2"/>
          </p:nvPr>
        </p:nvSpPr>
        <p:spPr>
          <a:xfrm>
            <a:off x="628650" y="4768850"/>
            <a:ext cx="2057400" cy="273050"/>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028950" y="4768850"/>
            <a:ext cx="3086100" cy="273050"/>
          </a:xfrm>
          <a:prstGeom prst="rect">
            <a:avLst/>
          </a:prstGeom>
        </p:spPr>
        <p:txBody>
          <a:bodyPr vert="horz" lIns="91440" tIns="45720" rIns="91440" bIns="45720" rtlCol="0" anchor="ctr"/>
          <a:lstStyle>
            <a:lvl1pPr algn="ctr">
              <a:defRPr sz="9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457950" y="4768850"/>
            <a:ext cx="2057400" cy="273050"/>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4FB4ACB-F371-4BAB-8F3C-D8E5B7B48E0F}"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7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7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7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任意多边形 14"/>
          <p:cNvSpPr/>
          <p:nvPr/>
        </p:nvSpPr>
        <p:spPr>
          <a:xfrm>
            <a:off x="4142105" y="1025525"/>
            <a:ext cx="202565" cy="3256280"/>
          </a:xfrm>
          <a:custGeom>
            <a:avLst/>
            <a:gdLst/>
            <a:ahLst/>
            <a:cxnLst>
              <a:cxn ang="0">
                <a:pos x="0" y="0"/>
              </a:cxn>
              <a:cxn ang="0">
                <a:pos x="34779" y="0"/>
              </a:cxn>
              <a:cxn ang="0">
                <a:pos x="173790" y="0"/>
              </a:cxn>
              <a:cxn ang="0">
                <a:pos x="254000" y="33020"/>
              </a:cxn>
              <a:cxn ang="0">
                <a:pos x="254000" y="1287780"/>
              </a:cxn>
              <a:cxn ang="0">
                <a:pos x="173790" y="1320800"/>
              </a:cxn>
              <a:cxn ang="0">
                <a:pos x="32586" y="1320800"/>
              </a:cxn>
              <a:cxn ang="0">
                <a:pos x="0" y="1320800"/>
              </a:cxn>
            </a:cxnLst>
            <a:rect l="0" t="0" r="0" b="0"/>
            <a:pathLst>
              <a:path w="292978" h="3480531">
                <a:moveTo>
                  <a:pt x="0" y="0"/>
                </a:moveTo>
                <a:lnTo>
                  <a:pt x="40116" y="0"/>
                </a:lnTo>
                <a:cubicBezTo>
                  <a:pt x="200459" y="0"/>
                  <a:pt x="200459" y="0"/>
                  <a:pt x="200459" y="0"/>
                </a:cubicBezTo>
                <a:cubicBezTo>
                  <a:pt x="246718" y="0"/>
                  <a:pt x="292978" y="43507"/>
                  <a:pt x="292978" y="87013"/>
                </a:cubicBezTo>
                <a:cubicBezTo>
                  <a:pt x="292978" y="3393518"/>
                  <a:pt x="292978" y="3393518"/>
                  <a:pt x="292978" y="3393518"/>
                </a:cubicBezTo>
                <a:cubicBezTo>
                  <a:pt x="292978" y="3437024"/>
                  <a:pt x="246718" y="3480531"/>
                  <a:pt x="200459" y="3480531"/>
                </a:cubicBezTo>
                <a:cubicBezTo>
                  <a:pt x="138779" y="3480531"/>
                  <a:pt x="84809" y="3480531"/>
                  <a:pt x="37586" y="3480531"/>
                </a:cubicBezTo>
                <a:lnTo>
                  <a:pt x="0" y="3480531"/>
                </a:lnTo>
                <a:lnTo>
                  <a:pt x="0" y="0"/>
                </a:lnTo>
                <a:close/>
              </a:path>
            </a:pathLst>
          </a:custGeom>
          <a:solidFill>
            <a:srgbClr val="1ED760"/>
          </a:solidFill>
          <a:ln w="9525">
            <a:noFill/>
          </a:ln>
        </p:spPr>
        <p:txBody>
          <a:bodyPr/>
          <a:lstStyle/>
          <a:p>
            <a:endParaRPr lang="en-US"/>
          </a:p>
        </p:txBody>
      </p:sp>
      <p:sp>
        <p:nvSpPr>
          <p:cNvPr id="4106" name="文本框 15"/>
          <p:cNvSpPr txBox="1"/>
          <p:nvPr/>
        </p:nvSpPr>
        <p:spPr>
          <a:xfrm>
            <a:off x="4549775" y="1185228"/>
            <a:ext cx="4194175" cy="1960880"/>
          </a:xfrm>
          <a:prstGeom prst="rect">
            <a:avLst/>
          </a:prstGeom>
          <a:noFill/>
          <a:ln w="9525">
            <a:noFill/>
          </a:ln>
        </p:spPr>
        <p:txBody>
          <a:bodyPr anchor="t">
            <a:spAutoFit/>
          </a:bodyPr>
          <a:lstStyle/>
          <a:p>
            <a:r>
              <a:rPr lang="en-US" altLang="zh-CN" sz="4050" b="1" noProof="1">
                <a:solidFill>
                  <a:schemeClr val="bg1"/>
                </a:solidFill>
                <a:latin typeface="Arial Bold" panose="020B0704020202020204" charset="0"/>
                <a:ea typeface="SimSun" pitchFamily="2" charset="-122"/>
                <a:cs typeface="Arial Bold" panose="020B0704020202020204" charset="0"/>
              </a:rPr>
              <a:t>SPOTIFY ANALYSIS:</a:t>
            </a:r>
            <a:br>
              <a:rPr lang="en-US" altLang="zh-CN" sz="4050" b="1" noProof="1">
                <a:solidFill>
                  <a:schemeClr val="bg1"/>
                </a:solidFill>
                <a:latin typeface="Arial Bold" panose="020B0704020202020204" charset="0"/>
                <a:ea typeface="SimSun" pitchFamily="2" charset="-122"/>
                <a:cs typeface="Arial Bold" panose="020B0704020202020204" charset="0"/>
              </a:rPr>
            </a:br>
            <a:r>
              <a:rPr lang="en-US" altLang="zh-CN" sz="4050" b="1" noProof="1">
                <a:solidFill>
                  <a:schemeClr val="bg1"/>
                </a:solidFill>
                <a:latin typeface="Arial Bold" panose="020B0704020202020204" charset="0"/>
                <a:ea typeface="SimSun" pitchFamily="2" charset="-122"/>
                <a:cs typeface="Arial Bold" panose="020B0704020202020204" charset="0"/>
              </a:rPr>
              <a:t>SQL PROJECT</a:t>
            </a:r>
          </a:p>
        </p:txBody>
      </p:sp>
      <p:sp>
        <p:nvSpPr>
          <p:cNvPr id="2" name="Text Box 1"/>
          <p:cNvSpPr txBox="1"/>
          <p:nvPr/>
        </p:nvSpPr>
        <p:spPr>
          <a:xfrm>
            <a:off x="4645660" y="3103880"/>
            <a:ext cx="3048000" cy="478155"/>
          </a:xfrm>
          <a:prstGeom prst="rect">
            <a:avLst/>
          </a:prstGeom>
          <a:noFill/>
        </p:spPr>
        <p:txBody>
          <a:bodyPr wrap="square" rtlCol="0">
            <a:spAutoFit/>
          </a:bodyPr>
          <a:lstStyle/>
          <a:p>
            <a:pPr>
              <a:lnSpc>
                <a:spcPct val="140000"/>
              </a:lnSpc>
            </a:pPr>
            <a:r>
              <a:rPr lang="en-US">
                <a:solidFill>
                  <a:schemeClr val="bg1"/>
                </a:solidFill>
                <a:latin typeface="Arial Regular" panose="020B0704020202020204" charset="0"/>
                <a:cs typeface="Arial Regular" panose="020B0704020202020204" charset="0"/>
              </a:rPr>
              <a:t>By Babitha Ravindra</a:t>
            </a:r>
          </a:p>
        </p:txBody>
      </p:sp>
      <p:pic>
        <p:nvPicPr>
          <p:cNvPr id="4" name="Picture 3"/>
          <p:cNvPicPr>
            <a:picLocks noChangeAspect="1"/>
          </p:cNvPicPr>
          <p:nvPr/>
        </p:nvPicPr>
        <p:blipFill>
          <a:blip r:embed="rId2"/>
          <a:stretch>
            <a:fillRect/>
          </a:stretch>
        </p:blipFill>
        <p:spPr>
          <a:xfrm>
            <a:off x="1047750" y="1358900"/>
            <a:ext cx="2560320" cy="2560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文本框 5"/>
          <p:cNvSpPr txBox="1"/>
          <p:nvPr/>
        </p:nvSpPr>
        <p:spPr>
          <a:xfrm>
            <a:off x="633730" y="718185"/>
            <a:ext cx="3841750" cy="768350"/>
          </a:xfrm>
          <a:prstGeom prst="rect">
            <a:avLst/>
          </a:prstGeom>
          <a:noFill/>
          <a:ln w="9525">
            <a:noFill/>
          </a:ln>
        </p:spPr>
        <p:txBody>
          <a:bodyPr wrap="square" anchor="t" anchorCtr="0">
            <a:spAutoFit/>
          </a:bodyPr>
          <a:lstStyle/>
          <a:p>
            <a:r>
              <a:rPr lang="en-US" altLang="zh-CN" sz="4400" b="1" dirty="0">
                <a:solidFill>
                  <a:schemeClr val="bg1"/>
                </a:solidFill>
                <a:latin typeface="Arial Bold" panose="020B0704020202020204" charset="0"/>
                <a:ea typeface="Microsoft YaHei" charset="-122"/>
                <a:cs typeface="Arial Bold" panose="020B0704020202020204" charset="0"/>
              </a:rPr>
              <a:t>CONTENTS</a:t>
            </a:r>
          </a:p>
        </p:txBody>
      </p:sp>
      <p:sp>
        <p:nvSpPr>
          <p:cNvPr id="4" name="Rectangles 3"/>
          <p:cNvSpPr/>
          <p:nvPr/>
        </p:nvSpPr>
        <p:spPr>
          <a:xfrm>
            <a:off x="786765" y="1821180"/>
            <a:ext cx="731520" cy="731520"/>
          </a:xfrm>
          <a:prstGeom prst="rect">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Rectangles 4"/>
          <p:cNvSpPr/>
          <p:nvPr/>
        </p:nvSpPr>
        <p:spPr>
          <a:xfrm>
            <a:off x="3582035" y="1799590"/>
            <a:ext cx="731520" cy="731520"/>
          </a:xfrm>
          <a:prstGeom prst="rect">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6" name="Rectangles 5"/>
          <p:cNvSpPr/>
          <p:nvPr/>
        </p:nvSpPr>
        <p:spPr>
          <a:xfrm>
            <a:off x="6388100" y="1788795"/>
            <a:ext cx="731520" cy="731520"/>
          </a:xfrm>
          <a:prstGeom prst="rect">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126" name="文本框 2"/>
          <p:cNvSpPr txBox="1"/>
          <p:nvPr/>
        </p:nvSpPr>
        <p:spPr>
          <a:xfrm>
            <a:off x="824865" y="1892409"/>
            <a:ext cx="658495" cy="584775"/>
          </a:xfrm>
          <a:prstGeom prst="rect">
            <a:avLst/>
          </a:prstGeom>
          <a:noFill/>
          <a:ln w="9525">
            <a:noFill/>
          </a:ln>
        </p:spPr>
        <p:txBody>
          <a:bodyPr wrap="square" anchor="t" anchorCtr="0">
            <a:spAutoFit/>
          </a:bodyPr>
          <a:lstStyle/>
          <a:p>
            <a:r>
              <a:rPr lang="en-US" altLang="zh-CN" sz="3200" b="1" dirty="0">
                <a:solidFill>
                  <a:schemeClr val="bg1"/>
                </a:solidFill>
                <a:latin typeface="Dotum" pitchFamily="34" charset="-127"/>
                <a:ea typeface="Dotum" pitchFamily="34" charset="-127"/>
              </a:rPr>
              <a:t>01</a:t>
            </a:r>
          </a:p>
        </p:txBody>
      </p:sp>
      <p:sp>
        <p:nvSpPr>
          <p:cNvPr id="5129" name="文本框 4"/>
          <p:cNvSpPr txBox="1"/>
          <p:nvPr/>
        </p:nvSpPr>
        <p:spPr>
          <a:xfrm>
            <a:off x="3584575" y="1867308"/>
            <a:ext cx="732155" cy="584775"/>
          </a:xfrm>
          <a:prstGeom prst="rect">
            <a:avLst/>
          </a:prstGeom>
          <a:noFill/>
          <a:ln w="9525">
            <a:noFill/>
          </a:ln>
        </p:spPr>
        <p:txBody>
          <a:bodyPr wrap="square" anchor="t" anchorCtr="0">
            <a:spAutoFit/>
          </a:bodyPr>
          <a:lstStyle/>
          <a:p>
            <a:pPr lvl="0" algn="ctr">
              <a:buClrTx/>
              <a:buSzTx/>
              <a:buFontTx/>
            </a:pPr>
            <a:r>
              <a:rPr lang="en-US" altLang="zh-CN" sz="3200" b="1" dirty="0">
                <a:solidFill>
                  <a:schemeClr val="bg1"/>
                </a:solidFill>
                <a:latin typeface="Dotum" pitchFamily="34" charset="-127"/>
                <a:ea typeface="Dotum" pitchFamily="34" charset="-127"/>
                <a:sym typeface="+mn-ea"/>
              </a:rPr>
              <a:t>02</a:t>
            </a:r>
          </a:p>
        </p:txBody>
      </p:sp>
      <p:sp>
        <p:nvSpPr>
          <p:cNvPr id="5132" name="文本框 11"/>
          <p:cNvSpPr txBox="1"/>
          <p:nvPr/>
        </p:nvSpPr>
        <p:spPr>
          <a:xfrm>
            <a:off x="6377305" y="1857722"/>
            <a:ext cx="732155" cy="584775"/>
          </a:xfrm>
          <a:prstGeom prst="rect">
            <a:avLst/>
          </a:prstGeom>
          <a:noFill/>
          <a:ln w="9525">
            <a:noFill/>
          </a:ln>
        </p:spPr>
        <p:txBody>
          <a:bodyPr wrap="square" anchor="t" anchorCtr="0">
            <a:spAutoFit/>
          </a:bodyPr>
          <a:lstStyle/>
          <a:p>
            <a:pPr lvl="0" algn="ctr">
              <a:buClrTx/>
              <a:buSzTx/>
              <a:buFontTx/>
            </a:pPr>
            <a:r>
              <a:rPr lang="en-US" altLang="zh-CN" sz="3200" b="1" dirty="0">
                <a:solidFill>
                  <a:schemeClr val="bg1"/>
                </a:solidFill>
                <a:latin typeface="Dotum" pitchFamily="34" charset="-127"/>
                <a:ea typeface="Dotum" pitchFamily="34" charset="-127"/>
                <a:sym typeface="+mn-ea"/>
              </a:rPr>
              <a:t>03</a:t>
            </a:r>
          </a:p>
        </p:txBody>
      </p:sp>
      <p:sp>
        <p:nvSpPr>
          <p:cNvPr id="5127" name="矩形 5"/>
          <p:cNvSpPr/>
          <p:nvPr/>
        </p:nvSpPr>
        <p:spPr>
          <a:xfrm>
            <a:off x="1664970" y="1993900"/>
            <a:ext cx="1466850" cy="398780"/>
          </a:xfrm>
          <a:prstGeom prst="rect">
            <a:avLst/>
          </a:prstGeom>
          <a:noFill/>
          <a:ln w="9525">
            <a:noFill/>
          </a:ln>
        </p:spPr>
        <p:txBody>
          <a:bodyPr wrap="square" anchor="t" anchorCtr="0">
            <a:spAutoFit/>
          </a:bodyPr>
          <a:lstStyle/>
          <a:p>
            <a:pPr lvl="0"/>
            <a:r>
              <a:rPr lang="en-US" altLang="zh-CN" sz="2000" dirty="0">
                <a:solidFill>
                  <a:schemeClr val="bg1"/>
                </a:solidFill>
                <a:latin typeface="Dotum" pitchFamily="34" charset="-127"/>
                <a:ea typeface="Dotum" pitchFamily="34" charset="-127"/>
              </a:rPr>
              <a:t>Objectives</a:t>
            </a:r>
          </a:p>
        </p:txBody>
      </p:sp>
      <p:sp>
        <p:nvSpPr>
          <p:cNvPr id="11" name="矩形 5"/>
          <p:cNvSpPr/>
          <p:nvPr/>
        </p:nvSpPr>
        <p:spPr>
          <a:xfrm>
            <a:off x="4475480" y="1813560"/>
            <a:ext cx="1466850" cy="646331"/>
          </a:xfrm>
          <a:prstGeom prst="rect">
            <a:avLst/>
          </a:prstGeom>
          <a:noFill/>
          <a:ln w="9525">
            <a:noFill/>
          </a:ln>
        </p:spPr>
        <p:txBody>
          <a:bodyPr wrap="square" anchor="t" anchorCtr="0">
            <a:spAutoFit/>
          </a:bodyPr>
          <a:lstStyle/>
          <a:p>
            <a:r>
              <a:rPr lang="en-US" altLang="zh-CN" dirty="0">
                <a:solidFill>
                  <a:schemeClr val="bg1"/>
                </a:solidFill>
                <a:latin typeface="Dotum" pitchFamily="34" charset="-127"/>
                <a:ea typeface="Dotum" pitchFamily="34" charset="-127"/>
              </a:rPr>
              <a:t>Data Description</a:t>
            </a:r>
          </a:p>
        </p:txBody>
      </p:sp>
      <p:sp>
        <p:nvSpPr>
          <p:cNvPr id="12" name="矩形 5"/>
          <p:cNvSpPr/>
          <p:nvPr/>
        </p:nvSpPr>
        <p:spPr>
          <a:xfrm>
            <a:off x="7285990" y="1950720"/>
            <a:ext cx="1466850" cy="398780"/>
          </a:xfrm>
          <a:prstGeom prst="rect">
            <a:avLst/>
          </a:prstGeom>
          <a:noFill/>
          <a:ln w="9525">
            <a:noFill/>
          </a:ln>
        </p:spPr>
        <p:txBody>
          <a:bodyPr wrap="square" anchor="t" anchorCtr="0">
            <a:spAutoFit/>
          </a:bodyPr>
          <a:lstStyle/>
          <a:p>
            <a:r>
              <a:rPr lang="en-US" altLang="zh-CN" sz="2000" dirty="0">
                <a:solidFill>
                  <a:schemeClr val="bg1"/>
                </a:solidFill>
                <a:latin typeface="Dotum" pitchFamily="34" charset="-127"/>
                <a:ea typeface="Dotum" pitchFamily="34" charset="-127"/>
              </a:rPr>
              <a:t>Process</a:t>
            </a:r>
          </a:p>
        </p:txBody>
      </p:sp>
      <p:sp>
        <p:nvSpPr>
          <p:cNvPr id="16" name="Rectangles 15"/>
          <p:cNvSpPr/>
          <p:nvPr/>
        </p:nvSpPr>
        <p:spPr>
          <a:xfrm>
            <a:off x="784225" y="3092450"/>
            <a:ext cx="731520" cy="731520"/>
          </a:xfrm>
          <a:prstGeom prst="rect">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7" name="Rectangles 16"/>
          <p:cNvSpPr/>
          <p:nvPr/>
        </p:nvSpPr>
        <p:spPr>
          <a:xfrm>
            <a:off x="3579495" y="3070860"/>
            <a:ext cx="731520" cy="731520"/>
          </a:xfrm>
          <a:prstGeom prst="rect">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8" name="Rectangles 17"/>
          <p:cNvSpPr/>
          <p:nvPr/>
        </p:nvSpPr>
        <p:spPr>
          <a:xfrm>
            <a:off x="6385560" y="3060065"/>
            <a:ext cx="731520" cy="731520"/>
          </a:xfrm>
          <a:prstGeom prst="rect">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文本框 2"/>
          <p:cNvSpPr txBox="1"/>
          <p:nvPr/>
        </p:nvSpPr>
        <p:spPr>
          <a:xfrm>
            <a:off x="755015" y="3161377"/>
            <a:ext cx="756920" cy="584775"/>
          </a:xfrm>
          <a:prstGeom prst="rect">
            <a:avLst/>
          </a:prstGeom>
          <a:noFill/>
          <a:ln w="9525">
            <a:noFill/>
          </a:ln>
        </p:spPr>
        <p:txBody>
          <a:bodyPr wrap="square" anchor="t" anchorCtr="0">
            <a:spAutoFit/>
          </a:bodyPr>
          <a:lstStyle/>
          <a:p>
            <a:pPr algn="ctr"/>
            <a:r>
              <a:rPr lang="en-US" altLang="zh-CN" sz="3200" b="1" dirty="0">
                <a:solidFill>
                  <a:schemeClr val="bg1"/>
                </a:solidFill>
                <a:latin typeface="Dotum" pitchFamily="34" charset="-127"/>
                <a:ea typeface="Dotum" pitchFamily="34" charset="-127"/>
              </a:rPr>
              <a:t>04</a:t>
            </a:r>
          </a:p>
        </p:txBody>
      </p:sp>
      <p:sp>
        <p:nvSpPr>
          <p:cNvPr id="20" name="文本框 4"/>
          <p:cNvSpPr txBox="1"/>
          <p:nvPr/>
        </p:nvSpPr>
        <p:spPr>
          <a:xfrm>
            <a:off x="3568065" y="3135738"/>
            <a:ext cx="732155" cy="584775"/>
          </a:xfrm>
          <a:prstGeom prst="rect">
            <a:avLst/>
          </a:prstGeom>
          <a:noFill/>
          <a:ln w="9525">
            <a:noFill/>
          </a:ln>
        </p:spPr>
        <p:txBody>
          <a:bodyPr wrap="square" anchor="t" anchorCtr="0">
            <a:spAutoFit/>
          </a:bodyPr>
          <a:lstStyle/>
          <a:p>
            <a:pPr lvl="0" algn="ctr">
              <a:buClrTx/>
              <a:buSzTx/>
              <a:buFontTx/>
            </a:pPr>
            <a:r>
              <a:rPr lang="en-US" altLang="zh-CN" sz="3200" b="1" dirty="0">
                <a:solidFill>
                  <a:schemeClr val="bg1"/>
                </a:solidFill>
                <a:latin typeface="Dotum" pitchFamily="34" charset="-127"/>
                <a:ea typeface="Dotum" pitchFamily="34" charset="-127"/>
                <a:sym typeface="+mn-ea"/>
              </a:rPr>
              <a:t>05</a:t>
            </a:r>
          </a:p>
        </p:txBody>
      </p:sp>
      <p:sp>
        <p:nvSpPr>
          <p:cNvPr id="21" name="文本框 11"/>
          <p:cNvSpPr txBox="1"/>
          <p:nvPr/>
        </p:nvSpPr>
        <p:spPr>
          <a:xfrm>
            <a:off x="6325638" y="3144232"/>
            <a:ext cx="823595" cy="584775"/>
          </a:xfrm>
          <a:prstGeom prst="rect">
            <a:avLst/>
          </a:prstGeom>
          <a:noFill/>
          <a:ln w="9525">
            <a:noFill/>
          </a:ln>
        </p:spPr>
        <p:txBody>
          <a:bodyPr wrap="square" anchor="t" anchorCtr="0">
            <a:spAutoFit/>
          </a:bodyPr>
          <a:lstStyle/>
          <a:p>
            <a:pPr lvl="0" algn="ctr">
              <a:buClrTx/>
              <a:buSzTx/>
              <a:buFontTx/>
            </a:pPr>
            <a:r>
              <a:rPr lang="en-US" altLang="zh-CN" sz="3200" b="1" dirty="0">
                <a:solidFill>
                  <a:schemeClr val="bg1"/>
                </a:solidFill>
                <a:latin typeface="Dotum" pitchFamily="34" charset="-127"/>
                <a:ea typeface="Dotum" pitchFamily="34" charset="-127"/>
                <a:sym typeface="+mn-ea"/>
              </a:rPr>
              <a:t>06</a:t>
            </a:r>
          </a:p>
        </p:txBody>
      </p:sp>
      <p:sp>
        <p:nvSpPr>
          <p:cNvPr id="22" name="矩形 5"/>
          <p:cNvSpPr/>
          <p:nvPr/>
        </p:nvSpPr>
        <p:spPr>
          <a:xfrm>
            <a:off x="1662430" y="3254375"/>
            <a:ext cx="1466850" cy="398780"/>
          </a:xfrm>
          <a:prstGeom prst="rect">
            <a:avLst/>
          </a:prstGeom>
          <a:noFill/>
          <a:ln w="9525">
            <a:noFill/>
          </a:ln>
        </p:spPr>
        <p:txBody>
          <a:bodyPr wrap="square" anchor="t" anchorCtr="0">
            <a:spAutoFit/>
          </a:bodyPr>
          <a:lstStyle/>
          <a:p>
            <a:r>
              <a:rPr lang="en-US" altLang="zh-CN" sz="2000" dirty="0">
                <a:solidFill>
                  <a:schemeClr val="bg1"/>
                </a:solidFill>
                <a:latin typeface="Dotum" pitchFamily="34" charset="-127"/>
                <a:ea typeface="Dotum" pitchFamily="34" charset="-127"/>
              </a:rPr>
              <a:t>Analysis</a:t>
            </a:r>
          </a:p>
        </p:txBody>
      </p:sp>
      <p:sp>
        <p:nvSpPr>
          <p:cNvPr id="23" name="矩形 5"/>
          <p:cNvSpPr/>
          <p:nvPr/>
        </p:nvSpPr>
        <p:spPr>
          <a:xfrm>
            <a:off x="4472939" y="3257550"/>
            <a:ext cx="1718481" cy="369332"/>
          </a:xfrm>
          <a:prstGeom prst="rect">
            <a:avLst/>
          </a:prstGeom>
          <a:noFill/>
          <a:ln w="9525">
            <a:noFill/>
          </a:ln>
        </p:spPr>
        <p:txBody>
          <a:bodyPr wrap="square" anchor="t" anchorCtr="0">
            <a:spAutoFit/>
          </a:bodyPr>
          <a:lstStyle/>
          <a:p>
            <a:r>
              <a:rPr lang="en-US" altLang="zh-CN" dirty="0">
                <a:solidFill>
                  <a:schemeClr val="bg1"/>
                </a:solidFill>
                <a:latin typeface="Dotum" pitchFamily="34" charset="-127"/>
                <a:ea typeface="Dotum" pitchFamily="34" charset="-127"/>
              </a:rPr>
              <a:t>Suggestions</a:t>
            </a:r>
          </a:p>
        </p:txBody>
      </p:sp>
      <p:sp>
        <p:nvSpPr>
          <p:cNvPr id="24" name="矩形 5"/>
          <p:cNvSpPr/>
          <p:nvPr/>
        </p:nvSpPr>
        <p:spPr>
          <a:xfrm>
            <a:off x="7283449" y="3243580"/>
            <a:ext cx="1570619" cy="398780"/>
          </a:xfrm>
          <a:prstGeom prst="rect">
            <a:avLst/>
          </a:prstGeom>
          <a:noFill/>
          <a:ln w="9525">
            <a:noFill/>
          </a:ln>
        </p:spPr>
        <p:txBody>
          <a:bodyPr wrap="square" anchor="t" anchorCtr="0">
            <a:spAutoFit/>
          </a:bodyPr>
          <a:lstStyle/>
          <a:p>
            <a:r>
              <a:rPr lang="en-US" altLang="zh-CN" sz="2000" dirty="0">
                <a:solidFill>
                  <a:schemeClr val="bg1"/>
                </a:solidFill>
                <a:latin typeface="Dotum" pitchFamily="34" charset="-127"/>
                <a:ea typeface="Dotum" pitchFamily="34" charset="-127"/>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39"/>
          <p:cNvSpPr>
            <a:spLocks noChangeAspect="1" noTextEdit="1"/>
          </p:cNvSpPr>
          <p:nvPr/>
        </p:nvSpPr>
        <p:spPr>
          <a:xfrm rot="10800000">
            <a:off x="1143000" y="-117475"/>
            <a:ext cx="4122738" cy="5262563"/>
          </a:xfrm>
          <a:prstGeom prst="rect">
            <a:avLst/>
          </a:prstGeom>
          <a:noFill/>
          <a:ln w="9525">
            <a:noFill/>
          </a:ln>
        </p:spPr>
        <p:txBody>
          <a:bodyPr anchor="t" anchorCtr="0"/>
          <a:lstStyle/>
          <a:p>
            <a:pPr eaLnBrk="0" hangingPunct="0"/>
            <a:endParaRPr lang="zh-CN" altLang="en-US" sz="100">
              <a:latin typeface="Calibri" pitchFamily="34" charset="0"/>
              <a:ea typeface="SimSun" pitchFamily="2" charset="-122"/>
            </a:endParaRPr>
          </a:p>
        </p:txBody>
      </p:sp>
      <p:sp>
        <p:nvSpPr>
          <p:cNvPr id="2" name="Text Box 1"/>
          <p:cNvSpPr txBox="1"/>
          <p:nvPr/>
        </p:nvSpPr>
        <p:spPr>
          <a:xfrm>
            <a:off x="1417320" y="1471930"/>
            <a:ext cx="2297430" cy="1861185"/>
          </a:xfrm>
          <a:prstGeom prst="rect">
            <a:avLst/>
          </a:prstGeom>
          <a:noFill/>
        </p:spPr>
        <p:txBody>
          <a:bodyPr wrap="square" rtlCol="0">
            <a:spAutoFit/>
          </a:bodyPr>
          <a:lstStyle/>
          <a:p>
            <a:pPr algn="ctr"/>
            <a:r>
              <a:rPr lang="en-US" sz="11500">
                <a:solidFill>
                  <a:schemeClr val="bg1"/>
                </a:solidFill>
                <a:latin typeface="Arial Black" panose="020B0A04020102020204" charset="0"/>
                <a:cs typeface="Arial Black" panose="020B0A04020102020204" charset="0"/>
              </a:rPr>
              <a:t>01</a:t>
            </a:r>
          </a:p>
        </p:txBody>
      </p:sp>
      <p:sp>
        <p:nvSpPr>
          <p:cNvPr id="3" name="Text Box 2"/>
          <p:cNvSpPr txBox="1"/>
          <p:nvPr/>
        </p:nvSpPr>
        <p:spPr>
          <a:xfrm>
            <a:off x="4037330" y="2122805"/>
            <a:ext cx="3587115" cy="746760"/>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OBJECTIVES</a:t>
            </a:r>
          </a:p>
        </p:txBody>
      </p:sp>
      <p:cxnSp>
        <p:nvCxnSpPr>
          <p:cNvPr id="4" name="Straight Connector 3"/>
          <p:cNvCxnSpPr/>
          <p:nvPr/>
        </p:nvCxnSpPr>
        <p:spPr>
          <a:xfrm>
            <a:off x="1296670" y="3424555"/>
            <a:ext cx="649224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16560" y="161925"/>
            <a:ext cx="4755515"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OBJECTIVES</a:t>
            </a:r>
          </a:p>
        </p:txBody>
      </p:sp>
      <p:cxnSp>
        <p:nvCxnSpPr>
          <p:cNvPr id="5" name="Straight Connector 4"/>
          <p:cNvCxnSpPr/>
          <p:nvPr/>
        </p:nvCxnSpPr>
        <p:spPr>
          <a:xfrm>
            <a:off x="513080" y="1011555"/>
            <a:ext cx="8138160" cy="0"/>
          </a:xfrm>
          <a:prstGeom prst="line">
            <a:avLst/>
          </a:prstGeom>
          <a:ln w="76200">
            <a:solidFill>
              <a:srgbClr val="1ED760"/>
            </a:solidFill>
            <a:prstDash val="solid"/>
          </a:ln>
        </p:spPr>
        <p:style>
          <a:lnRef idx="2">
            <a:schemeClr val="accent1"/>
          </a:lnRef>
          <a:fillRef idx="0">
            <a:srgbClr val="FFFFFF"/>
          </a:fillRef>
          <a:effectRef idx="0">
            <a:srgbClr val="FFFFFF"/>
          </a:effectRef>
          <a:fontRef idx="minor">
            <a:schemeClr val="tx1"/>
          </a:fontRef>
        </p:style>
      </p:cxnSp>
      <p:grpSp>
        <p:nvGrpSpPr>
          <p:cNvPr id="2" name="Group 1"/>
          <p:cNvGrpSpPr>
            <a:grpSpLocks noChangeAspect="1"/>
          </p:cNvGrpSpPr>
          <p:nvPr/>
        </p:nvGrpSpPr>
        <p:grpSpPr>
          <a:xfrm>
            <a:off x="556260" y="1421765"/>
            <a:ext cx="8039735" cy="3192145"/>
            <a:chOff x="1524" y="2591"/>
            <a:chExt cx="11302" cy="4487"/>
          </a:xfrm>
        </p:grpSpPr>
        <p:grpSp>
          <p:nvGrpSpPr>
            <p:cNvPr id="6" name="Group 5"/>
            <p:cNvGrpSpPr/>
            <p:nvPr/>
          </p:nvGrpSpPr>
          <p:grpSpPr>
            <a:xfrm>
              <a:off x="1524" y="2625"/>
              <a:ext cx="3302" cy="1904"/>
              <a:chOff x="567" y="2425"/>
              <a:chExt cx="4068" cy="1513"/>
            </a:xfrm>
          </p:grpSpPr>
          <p:sp>
            <p:nvSpPr>
              <p:cNvPr id="9" name="圆角矩形 8"/>
              <p:cNvSpPr/>
              <p:nvPr/>
            </p:nvSpPr>
            <p:spPr>
              <a:xfrm>
                <a:off x="567" y="2630"/>
                <a:ext cx="4068" cy="1308"/>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11270" name="矩形 9"/>
              <p:cNvSpPr/>
              <p:nvPr/>
            </p:nvSpPr>
            <p:spPr>
              <a:xfrm>
                <a:off x="862" y="2863"/>
                <a:ext cx="3478" cy="1011"/>
              </a:xfrm>
              <a:prstGeom prst="rect">
                <a:avLst/>
              </a:prstGeom>
              <a:noFill/>
              <a:ln w="9525">
                <a:noFill/>
              </a:ln>
            </p:spPr>
            <p:txBody>
              <a:bodyPr lIns="90170" tIns="46990" rIns="90170" bIns="46990" anchor="t">
                <a:spAutoFit/>
              </a:bodyPr>
              <a:lstStyle/>
              <a:p>
                <a:pPr indent="0" algn="ctr" defTabSz="911225" fontAlgn="base">
                  <a:lnSpc>
                    <a:spcPct val="120000"/>
                  </a:lnSpc>
                  <a:spcBef>
                    <a:spcPct val="20000"/>
                  </a:spcBef>
                </a:pPr>
                <a:r>
                  <a:rPr lang="en-US" altLang="en-US" sz="880" strike="noStrike" noProof="1">
                    <a:solidFill>
                      <a:schemeClr val="bg1"/>
                    </a:solidFill>
                    <a:latin typeface="Microsoft YaHei" charset="-122"/>
                    <a:ea typeface="Microsoft YaHei" charset="-122"/>
                    <a:sym typeface="Arial" panose="020B0704020202020204" pitchFamily="34" charset="0"/>
                  </a:rPr>
                  <a:t>Identify and recommend rising or versatile artists with consistent growth across genres to inform talent acquisition or exclusive partnership strategies.</a:t>
                </a:r>
              </a:p>
            </p:txBody>
          </p:sp>
          <p:sp>
            <p:nvSpPr>
              <p:cNvPr id="16" name="圆角矩形 15"/>
              <p:cNvSpPr/>
              <p:nvPr/>
            </p:nvSpPr>
            <p:spPr>
              <a:xfrm>
                <a:off x="1149" y="2425"/>
                <a:ext cx="2905" cy="408"/>
              </a:xfrm>
              <a:prstGeom prst="roundRect">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11271" name="文本框 16"/>
              <p:cNvSpPr txBox="1"/>
              <p:nvPr/>
            </p:nvSpPr>
            <p:spPr>
              <a:xfrm>
                <a:off x="918" y="2478"/>
                <a:ext cx="3347" cy="294"/>
              </a:xfrm>
              <a:prstGeom prst="rect">
                <a:avLst/>
              </a:prstGeom>
              <a:noFill/>
              <a:ln w="9525">
                <a:noFill/>
              </a:ln>
            </p:spPr>
            <p:txBody>
              <a:bodyPr wrap="square" lIns="90170" tIns="46990" rIns="90170" bIns="46990" anchor="t" anchorCtr="0">
                <a:spAutoFit/>
              </a:bodyPr>
              <a:lstStyle/>
              <a:p>
                <a:pPr algn="ctr" defTabSz="911225">
                  <a:spcBef>
                    <a:spcPct val="20000"/>
                  </a:spcBef>
                </a:pPr>
                <a:r>
                  <a:rPr lang="en-US" altLang="en-US" sz="1100" b="1" dirty="0">
                    <a:solidFill>
                      <a:schemeClr val="bg1"/>
                    </a:solidFill>
                    <a:latin typeface="Arial" panose="020B0704020202020204" pitchFamily="34" charset="0"/>
                    <a:ea typeface="Microsoft YaHei" charset="-122"/>
                    <a:sym typeface="Arial" panose="020B0704020202020204" pitchFamily="34" charset="0"/>
                  </a:rPr>
                  <a:t>Target Emerging Artists</a:t>
                </a:r>
              </a:p>
            </p:txBody>
          </p:sp>
        </p:grpSp>
        <p:grpSp>
          <p:nvGrpSpPr>
            <p:cNvPr id="21" name="Group 20"/>
            <p:cNvGrpSpPr/>
            <p:nvPr/>
          </p:nvGrpSpPr>
          <p:grpSpPr>
            <a:xfrm>
              <a:off x="5524" y="2608"/>
              <a:ext cx="3302" cy="1904"/>
              <a:chOff x="567" y="2425"/>
              <a:chExt cx="4068" cy="1513"/>
            </a:xfrm>
          </p:grpSpPr>
          <p:sp>
            <p:nvSpPr>
              <p:cNvPr id="22" name="圆角矩形 8"/>
              <p:cNvSpPr/>
              <p:nvPr/>
            </p:nvSpPr>
            <p:spPr>
              <a:xfrm>
                <a:off x="567" y="2630"/>
                <a:ext cx="4068" cy="1308"/>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23" name="矩形 9"/>
              <p:cNvSpPr/>
              <p:nvPr/>
            </p:nvSpPr>
            <p:spPr>
              <a:xfrm>
                <a:off x="862" y="2843"/>
                <a:ext cx="3478" cy="1011"/>
              </a:xfrm>
              <a:prstGeom prst="rect">
                <a:avLst/>
              </a:prstGeom>
              <a:noFill/>
              <a:ln w="9525">
                <a:noFill/>
              </a:ln>
            </p:spPr>
            <p:txBody>
              <a:bodyPr lIns="90170" tIns="46990" rIns="90170" bIns="46990" anchor="t">
                <a:spAutoFit/>
              </a:bodyPr>
              <a:lstStyle/>
              <a:p>
                <a:pPr indent="0" algn="ctr" defTabSz="911225" fontAlgn="base">
                  <a:lnSpc>
                    <a:spcPct val="120000"/>
                  </a:lnSpc>
                  <a:spcBef>
                    <a:spcPct val="20000"/>
                  </a:spcBef>
                </a:pPr>
                <a:r>
                  <a:rPr lang="en-US" altLang="en-US" sz="880" strike="noStrike" noProof="1">
                    <a:solidFill>
                      <a:schemeClr val="bg1"/>
                    </a:solidFill>
                    <a:latin typeface="Microsoft YaHei" charset="-122"/>
                    <a:ea typeface="Microsoft YaHei" charset="-122"/>
                    <a:sym typeface="Arial" panose="020B0704020202020204" pitchFamily="34" charset="0"/>
                  </a:rPr>
                  <a:t>Pinpoint high-performing, low-variance genres that offer stable listener engagement to guide content investment and marketing focus.</a:t>
                </a:r>
              </a:p>
            </p:txBody>
          </p:sp>
          <p:sp>
            <p:nvSpPr>
              <p:cNvPr id="24" name="圆角矩形 15"/>
              <p:cNvSpPr/>
              <p:nvPr/>
            </p:nvSpPr>
            <p:spPr>
              <a:xfrm>
                <a:off x="989" y="2425"/>
                <a:ext cx="3188" cy="408"/>
              </a:xfrm>
              <a:prstGeom prst="roundRect">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25" name="文本框 16"/>
              <p:cNvSpPr txBox="1"/>
              <p:nvPr/>
            </p:nvSpPr>
            <p:spPr>
              <a:xfrm>
                <a:off x="682" y="2488"/>
                <a:ext cx="3836" cy="294"/>
              </a:xfrm>
              <a:prstGeom prst="rect">
                <a:avLst/>
              </a:prstGeom>
              <a:noFill/>
              <a:ln w="9525">
                <a:noFill/>
              </a:ln>
            </p:spPr>
            <p:txBody>
              <a:bodyPr wrap="square" lIns="90170" tIns="46990" rIns="90170" bIns="46990" anchor="t" anchorCtr="0">
                <a:spAutoFit/>
              </a:bodyPr>
              <a:lstStyle/>
              <a:p>
                <a:pPr algn="ctr" defTabSz="911225">
                  <a:spcBef>
                    <a:spcPct val="20000"/>
                  </a:spcBef>
                </a:pPr>
                <a:r>
                  <a:rPr lang="en-US" altLang="en-US" sz="1100" b="1" dirty="0">
                    <a:solidFill>
                      <a:schemeClr val="bg1"/>
                    </a:solidFill>
                    <a:latin typeface="Arial" panose="020B0704020202020204" pitchFamily="34" charset="0"/>
                    <a:ea typeface="Microsoft YaHei" charset="-122"/>
                    <a:sym typeface="Arial" panose="020B0704020202020204" pitchFamily="34" charset="0"/>
                  </a:rPr>
                  <a:t>Focus on Specific Genres</a:t>
                </a:r>
              </a:p>
            </p:txBody>
          </p:sp>
        </p:grpSp>
        <p:grpSp>
          <p:nvGrpSpPr>
            <p:cNvPr id="26" name="Group 25"/>
            <p:cNvGrpSpPr/>
            <p:nvPr/>
          </p:nvGrpSpPr>
          <p:grpSpPr>
            <a:xfrm>
              <a:off x="9524" y="2591"/>
              <a:ext cx="3302" cy="1904"/>
              <a:chOff x="567" y="2425"/>
              <a:chExt cx="4068" cy="1513"/>
            </a:xfrm>
          </p:grpSpPr>
          <p:sp>
            <p:nvSpPr>
              <p:cNvPr id="27" name="圆角矩形 8"/>
              <p:cNvSpPr/>
              <p:nvPr/>
            </p:nvSpPr>
            <p:spPr>
              <a:xfrm>
                <a:off x="567" y="2630"/>
                <a:ext cx="4068" cy="1308"/>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28" name="矩形 9"/>
              <p:cNvSpPr/>
              <p:nvPr/>
            </p:nvSpPr>
            <p:spPr>
              <a:xfrm>
                <a:off x="751" y="2863"/>
                <a:ext cx="3684" cy="998"/>
              </a:xfrm>
              <a:prstGeom prst="rect">
                <a:avLst/>
              </a:prstGeom>
              <a:noFill/>
              <a:ln w="9525">
                <a:noFill/>
              </a:ln>
            </p:spPr>
            <p:txBody>
              <a:bodyPr wrap="square" lIns="90170" tIns="46990" rIns="90170" bIns="46990" anchor="t">
                <a:spAutoFit/>
              </a:bodyPr>
              <a:lstStyle/>
              <a:p>
                <a:pPr indent="0" algn="ctr" defTabSz="911225" fontAlgn="base">
                  <a:lnSpc>
                    <a:spcPct val="120000"/>
                  </a:lnSpc>
                  <a:spcBef>
                    <a:spcPct val="20000"/>
                  </a:spcBef>
                </a:pPr>
                <a:r>
                  <a:rPr lang="en-US" altLang="en-US" sz="880" strike="noStrike" noProof="1">
                    <a:solidFill>
                      <a:schemeClr val="bg1"/>
                    </a:solidFill>
                    <a:latin typeface="Microsoft YaHei" charset="-122"/>
                    <a:ea typeface="Microsoft YaHei" charset="-122"/>
                    <a:sym typeface="Arial" panose="020B0704020202020204" pitchFamily="34" charset="0"/>
                  </a:rPr>
                  <a:t>Derive optimal audio feature combinations (e.g., danceability, valence, energy) from top-performing tracks to improve playlist curation and user retention.</a:t>
                </a:r>
              </a:p>
            </p:txBody>
          </p:sp>
          <p:sp>
            <p:nvSpPr>
              <p:cNvPr id="29" name="圆角矩形 15"/>
              <p:cNvSpPr/>
              <p:nvPr/>
            </p:nvSpPr>
            <p:spPr>
              <a:xfrm>
                <a:off x="1149" y="2425"/>
                <a:ext cx="2905" cy="408"/>
              </a:xfrm>
              <a:prstGeom prst="roundRect">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30" name="文本框 16"/>
              <p:cNvSpPr txBox="1"/>
              <p:nvPr/>
            </p:nvSpPr>
            <p:spPr>
              <a:xfrm>
                <a:off x="1052" y="2491"/>
                <a:ext cx="3111" cy="294"/>
              </a:xfrm>
              <a:prstGeom prst="rect">
                <a:avLst/>
              </a:prstGeom>
              <a:noFill/>
              <a:ln w="9525">
                <a:noFill/>
              </a:ln>
            </p:spPr>
            <p:txBody>
              <a:bodyPr wrap="square" lIns="90170" tIns="46990" rIns="90170" bIns="46990" anchor="t" anchorCtr="0">
                <a:spAutoFit/>
              </a:bodyPr>
              <a:lstStyle/>
              <a:p>
                <a:pPr algn="ctr" defTabSz="911225">
                  <a:spcBef>
                    <a:spcPct val="20000"/>
                  </a:spcBef>
                </a:pPr>
                <a:r>
                  <a:rPr lang="en-US" altLang="zh-CN" sz="1100" b="1" dirty="0">
                    <a:solidFill>
                      <a:schemeClr val="bg1"/>
                    </a:solidFill>
                    <a:latin typeface="Arial" panose="020B0704020202020204" pitchFamily="34" charset="0"/>
                    <a:ea typeface="Microsoft YaHei" charset="-122"/>
                    <a:sym typeface="Arial" panose="020B0704020202020204" pitchFamily="34" charset="0"/>
                  </a:rPr>
                  <a:t>Playlist Optimization</a:t>
                </a:r>
              </a:p>
            </p:txBody>
          </p:sp>
        </p:grpSp>
        <p:grpSp>
          <p:nvGrpSpPr>
            <p:cNvPr id="31" name="Group 30"/>
            <p:cNvGrpSpPr/>
            <p:nvPr/>
          </p:nvGrpSpPr>
          <p:grpSpPr>
            <a:xfrm>
              <a:off x="1524" y="5174"/>
              <a:ext cx="3302" cy="1904"/>
              <a:chOff x="567" y="2425"/>
              <a:chExt cx="4068" cy="1513"/>
            </a:xfrm>
          </p:grpSpPr>
          <p:sp>
            <p:nvSpPr>
              <p:cNvPr id="32" name="圆角矩形 8"/>
              <p:cNvSpPr/>
              <p:nvPr/>
            </p:nvSpPr>
            <p:spPr>
              <a:xfrm>
                <a:off x="567" y="2630"/>
                <a:ext cx="4068" cy="1308"/>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33" name="矩形 9"/>
              <p:cNvSpPr/>
              <p:nvPr/>
            </p:nvSpPr>
            <p:spPr>
              <a:xfrm>
                <a:off x="862" y="2863"/>
                <a:ext cx="3478" cy="1011"/>
              </a:xfrm>
              <a:prstGeom prst="rect">
                <a:avLst/>
              </a:prstGeom>
              <a:noFill/>
              <a:ln w="9525">
                <a:noFill/>
              </a:ln>
            </p:spPr>
            <p:txBody>
              <a:bodyPr lIns="90170" tIns="46990" rIns="90170" bIns="46990" anchor="t">
                <a:spAutoFit/>
              </a:bodyPr>
              <a:lstStyle/>
              <a:p>
                <a:pPr indent="0" algn="ctr" defTabSz="911225" fontAlgn="base">
                  <a:lnSpc>
                    <a:spcPct val="120000"/>
                  </a:lnSpc>
                  <a:spcBef>
                    <a:spcPct val="20000"/>
                  </a:spcBef>
                </a:pPr>
                <a:r>
                  <a:rPr lang="en-US" altLang="en-US" sz="880" strike="noStrike" noProof="1">
                    <a:solidFill>
                      <a:schemeClr val="bg1"/>
                    </a:solidFill>
                    <a:latin typeface="Microsoft YaHei" charset="-122"/>
                    <a:ea typeface="Microsoft YaHei" charset="-122"/>
                    <a:sym typeface="Arial" panose="020B0704020202020204" pitchFamily="34" charset="0"/>
                  </a:rPr>
                  <a:t>Analyze genre distribution and performance variance to prevent oversaturation and optimize the platform’s content diversification strategy.</a:t>
                </a:r>
              </a:p>
            </p:txBody>
          </p:sp>
          <p:sp>
            <p:nvSpPr>
              <p:cNvPr id="34" name="圆角矩形 15"/>
              <p:cNvSpPr/>
              <p:nvPr/>
            </p:nvSpPr>
            <p:spPr>
              <a:xfrm>
                <a:off x="1149" y="2425"/>
                <a:ext cx="2905" cy="408"/>
              </a:xfrm>
              <a:prstGeom prst="roundRect">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35" name="文本框 16"/>
              <p:cNvSpPr txBox="1"/>
              <p:nvPr/>
            </p:nvSpPr>
            <p:spPr>
              <a:xfrm>
                <a:off x="978" y="2482"/>
                <a:ext cx="3279" cy="294"/>
              </a:xfrm>
              <a:prstGeom prst="rect">
                <a:avLst/>
              </a:prstGeom>
              <a:noFill/>
              <a:ln w="9525">
                <a:noFill/>
              </a:ln>
            </p:spPr>
            <p:txBody>
              <a:bodyPr wrap="square" lIns="90170" tIns="46990" rIns="90170" bIns="46990" anchor="t" anchorCtr="0">
                <a:spAutoFit/>
              </a:bodyPr>
              <a:lstStyle/>
              <a:p>
                <a:pPr algn="ctr" defTabSz="911225">
                  <a:spcBef>
                    <a:spcPct val="20000"/>
                  </a:spcBef>
                </a:pPr>
                <a:r>
                  <a:rPr lang="en-US" altLang="zh-CN" sz="1100" b="1" dirty="0">
                    <a:solidFill>
                      <a:schemeClr val="bg1"/>
                    </a:solidFill>
                    <a:latin typeface="Arial" panose="020B0704020202020204" pitchFamily="34" charset="0"/>
                    <a:ea typeface="Microsoft YaHei" charset="-122"/>
                    <a:sym typeface="Arial" panose="020B0704020202020204" pitchFamily="34" charset="0"/>
                  </a:rPr>
                  <a:t>Avoid Genre Saturation</a:t>
                </a:r>
              </a:p>
            </p:txBody>
          </p:sp>
        </p:grpSp>
        <p:grpSp>
          <p:nvGrpSpPr>
            <p:cNvPr id="36" name="Group 35"/>
            <p:cNvGrpSpPr/>
            <p:nvPr/>
          </p:nvGrpSpPr>
          <p:grpSpPr>
            <a:xfrm>
              <a:off x="5524" y="5174"/>
              <a:ext cx="3302" cy="1904"/>
              <a:chOff x="567" y="2425"/>
              <a:chExt cx="4068" cy="1513"/>
            </a:xfrm>
          </p:grpSpPr>
          <p:sp>
            <p:nvSpPr>
              <p:cNvPr id="37" name="圆角矩形 8"/>
              <p:cNvSpPr/>
              <p:nvPr/>
            </p:nvSpPr>
            <p:spPr>
              <a:xfrm>
                <a:off x="567" y="2630"/>
                <a:ext cx="4068" cy="1308"/>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38" name="矩形 9"/>
              <p:cNvSpPr/>
              <p:nvPr/>
            </p:nvSpPr>
            <p:spPr>
              <a:xfrm>
                <a:off x="862" y="2863"/>
                <a:ext cx="3478" cy="1011"/>
              </a:xfrm>
              <a:prstGeom prst="rect">
                <a:avLst/>
              </a:prstGeom>
              <a:noFill/>
              <a:ln w="9525">
                <a:noFill/>
              </a:ln>
            </p:spPr>
            <p:txBody>
              <a:bodyPr lIns="90170" tIns="46990" rIns="90170" bIns="46990" anchor="t">
                <a:spAutoFit/>
              </a:bodyPr>
              <a:lstStyle/>
              <a:p>
                <a:pPr indent="0" algn="ctr" defTabSz="911225" fontAlgn="base">
                  <a:lnSpc>
                    <a:spcPct val="120000"/>
                  </a:lnSpc>
                  <a:spcBef>
                    <a:spcPct val="20000"/>
                  </a:spcBef>
                </a:pPr>
                <a:r>
                  <a:rPr lang="en-US" altLang="en-US" sz="880" strike="noStrike" noProof="1">
                    <a:solidFill>
                      <a:schemeClr val="bg1"/>
                    </a:solidFill>
                    <a:latin typeface="Microsoft YaHei" charset="-122"/>
                    <a:ea typeface="Microsoft YaHei" charset="-122"/>
                    <a:sym typeface="Arial" panose="020B0704020202020204" pitchFamily="34" charset="0"/>
                  </a:rPr>
                  <a:t>Compare the presence of explicit content across genres to craft platform positioning and marketing narratives targeting different audience segments.</a:t>
                </a:r>
              </a:p>
            </p:txBody>
          </p:sp>
          <p:sp>
            <p:nvSpPr>
              <p:cNvPr id="39" name="圆角矩形 15"/>
              <p:cNvSpPr/>
              <p:nvPr/>
            </p:nvSpPr>
            <p:spPr>
              <a:xfrm>
                <a:off x="1149" y="2425"/>
                <a:ext cx="2905" cy="408"/>
              </a:xfrm>
              <a:prstGeom prst="roundRect">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40" name="文本框 16"/>
              <p:cNvSpPr txBox="1"/>
              <p:nvPr/>
            </p:nvSpPr>
            <p:spPr>
              <a:xfrm>
                <a:off x="1180" y="2479"/>
                <a:ext cx="2856" cy="294"/>
              </a:xfrm>
              <a:prstGeom prst="rect">
                <a:avLst/>
              </a:prstGeom>
              <a:noFill/>
              <a:ln w="9525">
                <a:noFill/>
              </a:ln>
            </p:spPr>
            <p:txBody>
              <a:bodyPr wrap="square" lIns="90170" tIns="46990" rIns="90170" bIns="46990" anchor="t" anchorCtr="0">
                <a:spAutoFit/>
              </a:bodyPr>
              <a:lstStyle/>
              <a:p>
                <a:pPr algn="ctr" defTabSz="911225">
                  <a:spcBef>
                    <a:spcPct val="20000"/>
                  </a:spcBef>
                </a:pPr>
                <a:r>
                  <a:rPr lang="en-US" altLang="zh-CN" sz="1100" b="1" dirty="0">
                    <a:solidFill>
                      <a:schemeClr val="bg1"/>
                    </a:solidFill>
                    <a:latin typeface="Arial" panose="020B0704020202020204" pitchFamily="34" charset="0"/>
                    <a:ea typeface="Microsoft YaHei" charset="-122"/>
                    <a:sym typeface="Arial" panose="020B0704020202020204" pitchFamily="34" charset="0"/>
                  </a:rPr>
                  <a:t>Platform Stratergy</a:t>
                </a:r>
              </a:p>
            </p:txBody>
          </p:sp>
        </p:grpSp>
        <p:grpSp>
          <p:nvGrpSpPr>
            <p:cNvPr id="41" name="Group 40"/>
            <p:cNvGrpSpPr/>
            <p:nvPr/>
          </p:nvGrpSpPr>
          <p:grpSpPr>
            <a:xfrm>
              <a:off x="9524" y="5174"/>
              <a:ext cx="3302" cy="1904"/>
              <a:chOff x="567" y="2425"/>
              <a:chExt cx="4068" cy="1513"/>
            </a:xfrm>
          </p:grpSpPr>
          <p:sp>
            <p:nvSpPr>
              <p:cNvPr id="42" name="圆角矩形 8"/>
              <p:cNvSpPr/>
              <p:nvPr/>
            </p:nvSpPr>
            <p:spPr>
              <a:xfrm>
                <a:off x="567" y="2630"/>
                <a:ext cx="4068" cy="1308"/>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43" name="矩形 9"/>
              <p:cNvSpPr/>
              <p:nvPr/>
            </p:nvSpPr>
            <p:spPr>
              <a:xfrm>
                <a:off x="862" y="2863"/>
                <a:ext cx="3478" cy="1011"/>
              </a:xfrm>
              <a:prstGeom prst="rect">
                <a:avLst/>
              </a:prstGeom>
              <a:noFill/>
              <a:ln w="9525">
                <a:noFill/>
              </a:ln>
            </p:spPr>
            <p:txBody>
              <a:bodyPr lIns="90170" tIns="46990" rIns="90170" bIns="46990" anchor="t">
                <a:spAutoFit/>
              </a:bodyPr>
              <a:lstStyle/>
              <a:p>
                <a:pPr indent="0" algn="ctr" defTabSz="911225" fontAlgn="base">
                  <a:lnSpc>
                    <a:spcPct val="120000"/>
                  </a:lnSpc>
                  <a:spcBef>
                    <a:spcPct val="20000"/>
                  </a:spcBef>
                </a:pPr>
                <a:r>
                  <a:rPr lang="en-US" altLang="en-US" sz="880" strike="noStrike" noProof="1">
                    <a:solidFill>
                      <a:schemeClr val="bg1"/>
                    </a:solidFill>
                    <a:latin typeface="Microsoft YaHei" charset="-122"/>
                    <a:ea typeface="Microsoft YaHei" charset="-122"/>
                    <a:sym typeface="Arial" panose="020B0704020202020204" pitchFamily="34" charset="0"/>
                  </a:rPr>
                  <a:t>Leverage patterns in high-popularity outlier tracks to create a framework for forecasting potential hit songs based on audio attributes.</a:t>
                </a:r>
              </a:p>
            </p:txBody>
          </p:sp>
          <p:sp>
            <p:nvSpPr>
              <p:cNvPr id="44" name="圆角矩形 15"/>
              <p:cNvSpPr/>
              <p:nvPr/>
            </p:nvSpPr>
            <p:spPr>
              <a:xfrm>
                <a:off x="1149" y="2425"/>
                <a:ext cx="2905" cy="408"/>
              </a:xfrm>
              <a:prstGeom prst="roundRect">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16"/>
              <p:cNvSpPr txBox="1"/>
              <p:nvPr/>
            </p:nvSpPr>
            <p:spPr>
              <a:xfrm>
                <a:off x="1069" y="2482"/>
                <a:ext cx="3113" cy="294"/>
              </a:xfrm>
              <a:prstGeom prst="rect">
                <a:avLst/>
              </a:prstGeom>
              <a:noFill/>
              <a:ln w="9525">
                <a:noFill/>
              </a:ln>
            </p:spPr>
            <p:txBody>
              <a:bodyPr wrap="square" lIns="90170" tIns="46990" rIns="90170" bIns="46990" anchor="t" anchorCtr="0">
                <a:spAutoFit/>
              </a:bodyPr>
              <a:lstStyle/>
              <a:p>
                <a:pPr algn="ctr" defTabSz="911225">
                  <a:spcBef>
                    <a:spcPct val="20000"/>
                  </a:spcBef>
                </a:pPr>
                <a:r>
                  <a:rPr lang="en-US" altLang="zh-CN" sz="1100" b="1" dirty="0">
                    <a:solidFill>
                      <a:schemeClr val="bg1"/>
                    </a:solidFill>
                    <a:latin typeface="Arial" panose="020B0704020202020204" pitchFamily="34" charset="0"/>
                    <a:ea typeface="Microsoft YaHei" charset="-122"/>
                    <a:sym typeface="Arial" panose="020B0704020202020204" pitchFamily="34" charset="0"/>
                  </a:rPr>
                  <a:t>Predictive Future Hits</a:t>
                </a: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39"/>
          <p:cNvSpPr>
            <a:spLocks noChangeAspect="1" noTextEdit="1"/>
          </p:cNvSpPr>
          <p:nvPr/>
        </p:nvSpPr>
        <p:spPr>
          <a:xfrm rot="10800000">
            <a:off x="625475" y="-791845"/>
            <a:ext cx="4122738" cy="5262563"/>
          </a:xfrm>
          <a:prstGeom prst="rect">
            <a:avLst/>
          </a:prstGeom>
          <a:noFill/>
          <a:ln w="9525">
            <a:noFill/>
          </a:ln>
        </p:spPr>
        <p:txBody>
          <a:bodyPr anchor="t" anchorCtr="0"/>
          <a:lstStyle/>
          <a:p>
            <a:pPr eaLnBrk="0" hangingPunct="0"/>
            <a:endParaRPr lang="zh-CN" altLang="en-US" sz="100">
              <a:latin typeface="Calibri" pitchFamily="34" charset="0"/>
              <a:ea typeface="SimSun" pitchFamily="2" charset="-122"/>
            </a:endParaRPr>
          </a:p>
        </p:txBody>
      </p:sp>
      <p:sp>
        <p:nvSpPr>
          <p:cNvPr id="2" name="Text Box 1"/>
          <p:cNvSpPr txBox="1"/>
          <p:nvPr/>
        </p:nvSpPr>
        <p:spPr>
          <a:xfrm>
            <a:off x="1405255" y="1461135"/>
            <a:ext cx="2297430" cy="1861185"/>
          </a:xfrm>
          <a:prstGeom prst="rect">
            <a:avLst/>
          </a:prstGeom>
          <a:noFill/>
        </p:spPr>
        <p:txBody>
          <a:bodyPr wrap="square" rtlCol="0">
            <a:spAutoFit/>
          </a:bodyPr>
          <a:lstStyle/>
          <a:p>
            <a:pPr algn="ctr"/>
            <a:r>
              <a:rPr lang="en-US" sz="11500">
                <a:solidFill>
                  <a:schemeClr val="bg1"/>
                </a:solidFill>
                <a:latin typeface="Arial Black" panose="020B0A04020102020204" charset="0"/>
                <a:cs typeface="Arial Black" panose="020B0A04020102020204" charset="0"/>
              </a:rPr>
              <a:t>02</a:t>
            </a:r>
          </a:p>
        </p:txBody>
      </p:sp>
      <p:sp>
        <p:nvSpPr>
          <p:cNvPr id="3" name="Text Box 2"/>
          <p:cNvSpPr txBox="1"/>
          <p:nvPr/>
        </p:nvSpPr>
        <p:spPr>
          <a:xfrm>
            <a:off x="4025265" y="1863725"/>
            <a:ext cx="3797300" cy="130238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DATA DESCRIPTION</a:t>
            </a:r>
          </a:p>
        </p:txBody>
      </p:sp>
      <p:cxnSp>
        <p:nvCxnSpPr>
          <p:cNvPr id="4" name="Straight Connector 3"/>
          <p:cNvCxnSpPr/>
          <p:nvPr/>
        </p:nvCxnSpPr>
        <p:spPr>
          <a:xfrm>
            <a:off x="1296670" y="3413760"/>
            <a:ext cx="658368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8610" y="161925"/>
            <a:ext cx="61874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KEY DATA ELEMENTS</a:t>
            </a:r>
          </a:p>
        </p:txBody>
      </p:sp>
      <p:cxnSp>
        <p:nvCxnSpPr>
          <p:cNvPr id="5" name="Straight Connector 4"/>
          <p:cNvCxnSpPr/>
          <p:nvPr/>
        </p:nvCxnSpPr>
        <p:spPr>
          <a:xfrm>
            <a:off x="405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15" name="Oval 14"/>
          <p:cNvSpPr>
            <a:spLocks noChangeAspect="1"/>
          </p:cNvSpPr>
          <p:nvPr/>
        </p:nvSpPr>
        <p:spPr>
          <a:xfrm>
            <a:off x="7417435" y="2472690"/>
            <a:ext cx="805815" cy="805815"/>
          </a:xfrm>
          <a:prstGeom prst="ellipse">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a:latin typeface="Arial Regular" panose="020B0704020202020204" charset="0"/>
                <a:cs typeface="Arial Regular" panose="020B0704020202020204" charset="0"/>
              </a:rPr>
              <a:t>02</a:t>
            </a:r>
          </a:p>
        </p:txBody>
      </p:sp>
      <p:grpSp>
        <p:nvGrpSpPr>
          <p:cNvPr id="47" name="Group 46"/>
          <p:cNvGrpSpPr/>
          <p:nvPr/>
        </p:nvGrpSpPr>
        <p:grpSpPr>
          <a:xfrm>
            <a:off x="560070" y="1318260"/>
            <a:ext cx="7652385" cy="876300"/>
            <a:chOff x="882" y="2076"/>
            <a:chExt cx="12051" cy="1380"/>
          </a:xfrm>
        </p:grpSpPr>
        <p:sp>
          <p:nvSpPr>
            <p:cNvPr id="14" name="Oval 13"/>
            <p:cNvSpPr>
              <a:spLocks noChangeAspect="1"/>
            </p:cNvSpPr>
            <p:nvPr/>
          </p:nvSpPr>
          <p:spPr>
            <a:xfrm>
              <a:off x="882" y="2076"/>
              <a:ext cx="1269" cy="1269"/>
            </a:xfrm>
            <a:prstGeom prst="ellipse">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a:latin typeface="Arial Regular" panose="020B0704020202020204" charset="0"/>
                  <a:cs typeface="Arial Regular" panose="020B0704020202020204" charset="0"/>
                </a:rPr>
                <a:t>01</a:t>
              </a:r>
            </a:p>
          </p:txBody>
        </p:sp>
        <p:sp>
          <p:nvSpPr>
            <p:cNvPr id="17" name="Text Box 16"/>
            <p:cNvSpPr txBox="1"/>
            <p:nvPr/>
          </p:nvSpPr>
          <p:spPr>
            <a:xfrm>
              <a:off x="2522" y="2115"/>
              <a:ext cx="4800" cy="580"/>
            </a:xfrm>
            <a:prstGeom prst="rect">
              <a:avLst/>
            </a:prstGeom>
            <a:noFill/>
          </p:spPr>
          <p:txBody>
            <a:bodyPr wrap="square" rtlCol="0">
              <a:spAutoFit/>
            </a:bodyPr>
            <a:lstStyle/>
            <a:p>
              <a:r>
                <a:rPr lang="en-US" altLang="en-US">
                  <a:solidFill>
                    <a:schemeClr val="bg1"/>
                  </a:solidFill>
                  <a:latin typeface="Arial Regular" panose="020B0704020202020204" charset="0"/>
                  <a:cs typeface="Arial Regular" panose="020B0704020202020204" charset="0"/>
                  <a:sym typeface="+mn-ea"/>
                </a:rPr>
                <a:t>Popularity</a:t>
              </a:r>
            </a:p>
          </p:txBody>
        </p:sp>
        <p:sp>
          <p:nvSpPr>
            <p:cNvPr id="18" name="矩形 9"/>
            <p:cNvSpPr/>
            <p:nvPr/>
          </p:nvSpPr>
          <p:spPr>
            <a:xfrm>
              <a:off x="2528" y="2616"/>
              <a:ext cx="10405" cy="840"/>
            </a:xfrm>
            <a:prstGeom prst="rect">
              <a:avLst/>
            </a:prstGeom>
            <a:noFill/>
            <a:ln w="9525">
              <a:noFill/>
            </a:ln>
          </p:spPr>
          <p:txBody>
            <a:bodyPr wrap="square" anchor="t">
              <a:spAutoFit/>
            </a:bodyPr>
            <a:lstStyle/>
            <a:p>
              <a:pPr indent="0" algn="just" defTabSz="911225" fontAlgn="base">
                <a:lnSpc>
                  <a:spcPct val="120000"/>
                </a:lnSpc>
                <a:spcBef>
                  <a:spcPct val="20000"/>
                </a:spcBef>
              </a:pPr>
              <a:r>
                <a:rPr lang="en-US" altLang="en-US" sz="1200" strike="noStrike" noProof="1">
                  <a:solidFill>
                    <a:schemeClr val="bg1"/>
                  </a:solidFill>
                  <a:latin typeface="Microsoft YaHei" charset="-122"/>
                  <a:ea typeface="Microsoft YaHei" charset="-122"/>
                  <a:cs typeface="+mn-cs"/>
                  <a:sym typeface="+mn-ea"/>
                </a:rPr>
                <a:t>Reflects a track's success based on user interactions like plays, skips, and recency; central to identifying what features drive popularity.</a:t>
              </a:r>
            </a:p>
          </p:txBody>
        </p:sp>
      </p:grpSp>
      <p:grpSp>
        <p:nvGrpSpPr>
          <p:cNvPr id="46" name="Group 45"/>
          <p:cNvGrpSpPr/>
          <p:nvPr/>
        </p:nvGrpSpPr>
        <p:grpSpPr>
          <a:xfrm>
            <a:off x="674370" y="2455545"/>
            <a:ext cx="6622415" cy="851535"/>
            <a:chOff x="2722" y="2315"/>
            <a:chExt cx="10429" cy="1341"/>
          </a:xfrm>
        </p:grpSpPr>
        <p:sp>
          <p:nvSpPr>
            <p:cNvPr id="19" name="Text Box 18"/>
            <p:cNvSpPr txBox="1"/>
            <p:nvPr/>
          </p:nvSpPr>
          <p:spPr>
            <a:xfrm>
              <a:off x="2722" y="2315"/>
              <a:ext cx="4800" cy="580"/>
            </a:xfrm>
            <a:prstGeom prst="rect">
              <a:avLst/>
            </a:prstGeom>
            <a:noFill/>
          </p:spPr>
          <p:txBody>
            <a:bodyPr wrap="square" rtlCol="0">
              <a:spAutoFit/>
            </a:bodyPr>
            <a:lstStyle/>
            <a:p>
              <a:r>
                <a:rPr lang="en-US" altLang="en-US">
                  <a:solidFill>
                    <a:schemeClr val="bg1"/>
                  </a:solidFill>
                  <a:latin typeface="Arial Regular" panose="020B0704020202020204" charset="0"/>
                  <a:cs typeface="Arial Regular" panose="020B0704020202020204" charset="0"/>
                </a:rPr>
                <a:t>Artist Name</a:t>
              </a:r>
            </a:p>
          </p:txBody>
        </p:sp>
        <p:sp>
          <p:nvSpPr>
            <p:cNvPr id="20" name="矩形 9"/>
            <p:cNvSpPr/>
            <p:nvPr/>
          </p:nvSpPr>
          <p:spPr>
            <a:xfrm>
              <a:off x="2746" y="2816"/>
              <a:ext cx="10405" cy="840"/>
            </a:xfrm>
            <a:prstGeom prst="rect">
              <a:avLst/>
            </a:prstGeom>
            <a:noFill/>
            <a:ln w="9525">
              <a:noFill/>
            </a:ln>
          </p:spPr>
          <p:txBody>
            <a:bodyPr wrap="square" anchor="t">
              <a:spAutoFit/>
            </a:bodyPr>
            <a:lstStyle/>
            <a:p>
              <a:pPr indent="0" algn="just" defTabSz="911225" fontAlgn="base">
                <a:lnSpc>
                  <a:spcPct val="120000"/>
                </a:lnSpc>
                <a:spcBef>
                  <a:spcPct val="20000"/>
                </a:spcBef>
              </a:pPr>
              <a:r>
                <a:rPr lang="en-US" altLang="en-US" sz="1200" strike="noStrike" noProof="1">
                  <a:solidFill>
                    <a:schemeClr val="bg1"/>
                  </a:solidFill>
                  <a:latin typeface="Microsoft YaHei" charset="-122"/>
                  <a:ea typeface="Microsoft YaHei" charset="-122"/>
                  <a:cs typeface="+mn-cs"/>
                  <a:sym typeface="Arial" panose="020B0704020202020204" pitchFamily="34" charset="0"/>
                </a:rPr>
                <a:t>Captures the creator of each track, enabling performance comparisons, career tracking, and trend emergence over time.</a:t>
              </a:r>
            </a:p>
          </p:txBody>
        </p:sp>
      </p:grpSp>
      <p:grpSp>
        <p:nvGrpSpPr>
          <p:cNvPr id="48" name="Group 47"/>
          <p:cNvGrpSpPr/>
          <p:nvPr/>
        </p:nvGrpSpPr>
        <p:grpSpPr>
          <a:xfrm>
            <a:off x="561340" y="3628390"/>
            <a:ext cx="7652385" cy="876300"/>
            <a:chOff x="882" y="2076"/>
            <a:chExt cx="12051" cy="1380"/>
          </a:xfrm>
        </p:grpSpPr>
        <p:sp>
          <p:nvSpPr>
            <p:cNvPr id="49" name="Oval 48"/>
            <p:cNvSpPr>
              <a:spLocks noChangeAspect="1"/>
            </p:cNvSpPr>
            <p:nvPr/>
          </p:nvSpPr>
          <p:spPr>
            <a:xfrm>
              <a:off x="882" y="2076"/>
              <a:ext cx="1269" cy="1269"/>
            </a:xfrm>
            <a:prstGeom prst="ellipse">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a:latin typeface="Arial Regular" panose="020B0704020202020204" charset="0"/>
                  <a:cs typeface="Arial Regular" panose="020B0704020202020204" charset="0"/>
                </a:rPr>
                <a:t>03</a:t>
              </a:r>
            </a:p>
          </p:txBody>
        </p:sp>
        <p:sp>
          <p:nvSpPr>
            <p:cNvPr id="50" name="Text Box 49"/>
            <p:cNvSpPr txBox="1"/>
            <p:nvPr/>
          </p:nvSpPr>
          <p:spPr>
            <a:xfrm>
              <a:off x="2522" y="2115"/>
              <a:ext cx="4800" cy="580"/>
            </a:xfrm>
            <a:prstGeom prst="rect">
              <a:avLst/>
            </a:prstGeom>
            <a:noFill/>
          </p:spPr>
          <p:txBody>
            <a:bodyPr wrap="square" rtlCol="0">
              <a:spAutoFit/>
            </a:bodyPr>
            <a:lstStyle/>
            <a:p>
              <a:r>
                <a:rPr lang="en-US" altLang="en-US">
                  <a:solidFill>
                    <a:schemeClr val="bg1"/>
                  </a:solidFill>
                  <a:latin typeface="Arial Regular" panose="020B0704020202020204" charset="0"/>
                  <a:cs typeface="Arial Regular" panose="020B0704020202020204" charset="0"/>
                </a:rPr>
                <a:t>Genre</a:t>
              </a:r>
            </a:p>
          </p:txBody>
        </p:sp>
        <p:sp>
          <p:nvSpPr>
            <p:cNvPr id="51" name="矩形 9"/>
            <p:cNvSpPr/>
            <p:nvPr/>
          </p:nvSpPr>
          <p:spPr>
            <a:xfrm>
              <a:off x="2528" y="2616"/>
              <a:ext cx="10405" cy="840"/>
            </a:xfrm>
            <a:prstGeom prst="rect">
              <a:avLst/>
            </a:prstGeom>
            <a:noFill/>
            <a:ln w="9525">
              <a:noFill/>
            </a:ln>
          </p:spPr>
          <p:txBody>
            <a:bodyPr wrap="square" anchor="t">
              <a:spAutoFit/>
            </a:bodyPr>
            <a:lstStyle/>
            <a:p>
              <a:pPr indent="0" algn="just" defTabSz="911225" fontAlgn="base">
                <a:lnSpc>
                  <a:spcPct val="120000"/>
                </a:lnSpc>
                <a:spcBef>
                  <a:spcPct val="20000"/>
                </a:spcBef>
              </a:pPr>
              <a:r>
                <a:rPr lang="en-US" altLang="en-US" sz="1200" strike="noStrike" noProof="1">
                  <a:solidFill>
                    <a:schemeClr val="bg1"/>
                  </a:solidFill>
                  <a:latin typeface="Microsoft YaHei" charset="-122"/>
                  <a:ea typeface="Microsoft YaHei" charset="-122"/>
                  <a:cs typeface="+mn-cs"/>
                  <a:sym typeface="Arial" panose="020B0704020202020204" pitchFamily="34" charset="0"/>
                </a:rPr>
                <a:t>Categorizes the track’s musical style, crucial for analyzing audience preferences, demand forecasting, and platform content planning.</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8610" y="161925"/>
            <a:ext cx="61874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KEY DATA ELEMENTS</a:t>
            </a:r>
          </a:p>
        </p:txBody>
      </p:sp>
      <p:cxnSp>
        <p:nvCxnSpPr>
          <p:cNvPr id="5" name="Straight Connector 4"/>
          <p:cNvCxnSpPr/>
          <p:nvPr/>
        </p:nvCxnSpPr>
        <p:spPr>
          <a:xfrm>
            <a:off x="405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15" name="Oval 14"/>
          <p:cNvSpPr>
            <a:spLocks noChangeAspect="1"/>
          </p:cNvSpPr>
          <p:nvPr/>
        </p:nvSpPr>
        <p:spPr>
          <a:xfrm>
            <a:off x="561340" y="2472690"/>
            <a:ext cx="805815" cy="805815"/>
          </a:xfrm>
          <a:prstGeom prst="ellipse">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a:latin typeface="Arial Regular" panose="020B0704020202020204" charset="0"/>
                <a:cs typeface="Arial Regular" panose="020B0704020202020204" charset="0"/>
              </a:rPr>
              <a:t>05</a:t>
            </a:r>
          </a:p>
        </p:txBody>
      </p:sp>
      <p:sp>
        <p:nvSpPr>
          <p:cNvPr id="14" name="Oval 13"/>
          <p:cNvSpPr>
            <a:spLocks noChangeAspect="1"/>
          </p:cNvSpPr>
          <p:nvPr/>
        </p:nvSpPr>
        <p:spPr>
          <a:xfrm>
            <a:off x="7406640" y="1318260"/>
            <a:ext cx="805815" cy="805815"/>
          </a:xfrm>
          <a:prstGeom prst="ellipse">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a:latin typeface="Arial Regular" panose="020B0704020202020204" charset="0"/>
                <a:cs typeface="Arial Regular" panose="020B0704020202020204" charset="0"/>
              </a:rPr>
              <a:t>04</a:t>
            </a:r>
          </a:p>
        </p:txBody>
      </p:sp>
      <p:grpSp>
        <p:nvGrpSpPr>
          <p:cNvPr id="2" name="Group 1"/>
          <p:cNvGrpSpPr/>
          <p:nvPr/>
        </p:nvGrpSpPr>
        <p:grpSpPr>
          <a:xfrm>
            <a:off x="561340" y="1330325"/>
            <a:ext cx="6610985" cy="851535"/>
            <a:chOff x="2522" y="2115"/>
            <a:chExt cx="10411" cy="1341"/>
          </a:xfrm>
        </p:grpSpPr>
        <p:sp>
          <p:nvSpPr>
            <p:cNvPr id="17" name="Text Box 16"/>
            <p:cNvSpPr txBox="1"/>
            <p:nvPr/>
          </p:nvSpPr>
          <p:spPr>
            <a:xfrm>
              <a:off x="2522" y="2115"/>
              <a:ext cx="4800" cy="580"/>
            </a:xfrm>
            <a:prstGeom prst="rect">
              <a:avLst/>
            </a:prstGeom>
            <a:noFill/>
          </p:spPr>
          <p:txBody>
            <a:bodyPr wrap="square" rtlCol="0">
              <a:spAutoFit/>
            </a:bodyPr>
            <a:lstStyle/>
            <a:p>
              <a:r>
                <a:rPr lang="en-US" altLang="en-US">
                  <a:solidFill>
                    <a:schemeClr val="bg1"/>
                  </a:solidFill>
                  <a:latin typeface="Arial Regular" panose="020B0704020202020204" charset="0"/>
                  <a:cs typeface="Arial Regular" panose="020B0704020202020204" charset="0"/>
                </a:rPr>
                <a:t>Danceability</a:t>
              </a:r>
            </a:p>
          </p:txBody>
        </p:sp>
        <p:sp>
          <p:nvSpPr>
            <p:cNvPr id="18" name="矩形 9"/>
            <p:cNvSpPr/>
            <p:nvPr/>
          </p:nvSpPr>
          <p:spPr>
            <a:xfrm>
              <a:off x="2528" y="2616"/>
              <a:ext cx="10405" cy="840"/>
            </a:xfrm>
            <a:prstGeom prst="rect">
              <a:avLst/>
            </a:prstGeom>
            <a:noFill/>
            <a:ln w="9525">
              <a:noFill/>
            </a:ln>
          </p:spPr>
          <p:txBody>
            <a:bodyPr wrap="square" anchor="t">
              <a:spAutoFit/>
            </a:bodyPr>
            <a:lstStyle/>
            <a:p>
              <a:pPr indent="0" algn="just" defTabSz="911225" fontAlgn="base">
                <a:lnSpc>
                  <a:spcPct val="120000"/>
                </a:lnSpc>
                <a:spcBef>
                  <a:spcPct val="20000"/>
                </a:spcBef>
              </a:pPr>
              <a:r>
                <a:rPr lang="en-US" altLang="en-US" sz="1200" strike="noStrike" noProof="1">
                  <a:solidFill>
                    <a:schemeClr val="bg1"/>
                  </a:solidFill>
                  <a:latin typeface="Microsoft YaHei" charset="-122"/>
                  <a:ea typeface="Microsoft YaHei" charset="-122"/>
                  <a:cs typeface="+mn-cs"/>
                  <a:sym typeface="Arial" panose="020B0704020202020204" pitchFamily="34" charset="0"/>
                </a:rPr>
                <a:t>Indicates the suitability of a track for dancing, essential for mood-based and situational recommendations in personalized playlists.</a:t>
              </a:r>
            </a:p>
          </p:txBody>
        </p:sp>
      </p:grpSp>
      <p:grpSp>
        <p:nvGrpSpPr>
          <p:cNvPr id="46" name="Group 45"/>
          <p:cNvGrpSpPr/>
          <p:nvPr/>
        </p:nvGrpSpPr>
        <p:grpSpPr>
          <a:xfrm>
            <a:off x="1590040" y="2465705"/>
            <a:ext cx="6622415" cy="851535"/>
            <a:chOff x="2722" y="2315"/>
            <a:chExt cx="10429" cy="1341"/>
          </a:xfrm>
        </p:grpSpPr>
        <p:sp>
          <p:nvSpPr>
            <p:cNvPr id="19" name="Text Box 18"/>
            <p:cNvSpPr txBox="1"/>
            <p:nvPr/>
          </p:nvSpPr>
          <p:spPr>
            <a:xfrm>
              <a:off x="2722" y="2315"/>
              <a:ext cx="4800" cy="580"/>
            </a:xfrm>
            <a:prstGeom prst="rect">
              <a:avLst/>
            </a:prstGeom>
            <a:noFill/>
          </p:spPr>
          <p:txBody>
            <a:bodyPr wrap="square" rtlCol="0">
              <a:spAutoFit/>
            </a:bodyPr>
            <a:lstStyle/>
            <a:p>
              <a:r>
                <a:rPr lang="en-US" altLang="en-US">
                  <a:solidFill>
                    <a:schemeClr val="bg1"/>
                  </a:solidFill>
                  <a:latin typeface="Arial Regular" panose="020B0704020202020204" charset="0"/>
                  <a:cs typeface="Arial Regular" panose="020B0704020202020204" charset="0"/>
                </a:rPr>
                <a:t>Duration (in milliseconds)</a:t>
              </a:r>
            </a:p>
          </p:txBody>
        </p:sp>
        <p:sp>
          <p:nvSpPr>
            <p:cNvPr id="20" name="矩形 9"/>
            <p:cNvSpPr/>
            <p:nvPr/>
          </p:nvSpPr>
          <p:spPr>
            <a:xfrm>
              <a:off x="2746" y="2816"/>
              <a:ext cx="10405" cy="840"/>
            </a:xfrm>
            <a:prstGeom prst="rect">
              <a:avLst/>
            </a:prstGeom>
            <a:noFill/>
            <a:ln w="9525">
              <a:noFill/>
            </a:ln>
          </p:spPr>
          <p:txBody>
            <a:bodyPr wrap="square" anchor="t">
              <a:spAutoFit/>
            </a:bodyPr>
            <a:lstStyle/>
            <a:p>
              <a:pPr indent="0" algn="just" defTabSz="911225" fontAlgn="base">
                <a:lnSpc>
                  <a:spcPct val="120000"/>
                </a:lnSpc>
                <a:spcBef>
                  <a:spcPct val="20000"/>
                </a:spcBef>
              </a:pPr>
              <a:r>
                <a:rPr lang="en-US" altLang="en-US" sz="1200" strike="noStrike" noProof="1">
                  <a:solidFill>
                    <a:schemeClr val="bg1"/>
                  </a:solidFill>
                  <a:latin typeface="Microsoft YaHei" charset="-122"/>
                  <a:ea typeface="Microsoft YaHei" charset="-122"/>
                  <a:cs typeface="+mn-cs"/>
                  <a:sym typeface="Arial" panose="020B0704020202020204" pitchFamily="34" charset="0"/>
                </a:rPr>
                <a:t>Defines track length, important for optimizing playlist lengths, user engagement time, and skip rate predictions.</a:t>
              </a:r>
            </a:p>
          </p:txBody>
        </p:sp>
      </p:grpSp>
      <p:sp>
        <p:nvSpPr>
          <p:cNvPr id="49" name="Oval 48"/>
          <p:cNvSpPr>
            <a:spLocks noChangeAspect="1"/>
          </p:cNvSpPr>
          <p:nvPr/>
        </p:nvSpPr>
        <p:spPr>
          <a:xfrm>
            <a:off x="7406640" y="3627120"/>
            <a:ext cx="805815" cy="805815"/>
          </a:xfrm>
          <a:prstGeom prst="ellipse">
            <a:avLst/>
          </a:prstGeom>
          <a:solidFill>
            <a:srgbClr val="1ED7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a:latin typeface="Arial Regular" panose="020B0704020202020204" charset="0"/>
                <a:cs typeface="Arial Regular" panose="020B0704020202020204" charset="0"/>
              </a:rPr>
              <a:t>06</a:t>
            </a:r>
          </a:p>
        </p:txBody>
      </p:sp>
      <p:grpSp>
        <p:nvGrpSpPr>
          <p:cNvPr id="3" name="Group 2"/>
          <p:cNvGrpSpPr/>
          <p:nvPr/>
        </p:nvGrpSpPr>
        <p:grpSpPr>
          <a:xfrm>
            <a:off x="568960" y="3601085"/>
            <a:ext cx="6610985" cy="851535"/>
            <a:chOff x="2523" y="5751"/>
            <a:chExt cx="10411" cy="1341"/>
          </a:xfrm>
        </p:grpSpPr>
        <p:sp>
          <p:nvSpPr>
            <p:cNvPr id="50" name="Text Box 49"/>
            <p:cNvSpPr txBox="1"/>
            <p:nvPr/>
          </p:nvSpPr>
          <p:spPr>
            <a:xfrm>
              <a:off x="2523" y="5751"/>
              <a:ext cx="4800" cy="580"/>
            </a:xfrm>
            <a:prstGeom prst="rect">
              <a:avLst/>
            </a:prstGeom>
            <a:noFill/>
          </p:spPr>
          <p:txBody>
            <a:bodyPr wrap="square" rtlCol="0">
              <a:spAutoFit/>
            </a:bodyPr>
            <a:lstStyle/>
            <a:p>
              <a:r>
                <a:rPr lang="en-US" altLang="en-US">
                  <a:solidFill>
                    <a:schemeClr val="bg1"/>
                  </a:solidFill>
                  <a:latin typeface="Arial Regular" panose="020B0704020202020204" charset="0"/>
                  <a:cs typeface="Arial Regular" panose="020B0704020202020204" charset="0"/>
                </a:rPr>
                <a:t>Artist Popularity</a:t>
              </a:r>
            </a:p>
          </p:txBody>
        </p:sp>
        <p:sp>
          <p:nvSpPr>
            <p:cNvPr id="51" name="矩形 9"/>
            <p:cNvSpPr/>
            <p:nvPr/>
          </p:nvSpPr>
          <p:spPr>
            <a:xfrm>
              <a:off x="2529" y="6252"/>
              <a:ext cx="10405" cy="840"/>
            </a:xfrm>
            <a:prstGeom prst="rect">
              <a:avLst/>
            </a:prstGeom>
            <a:noFill/>
            <a:ln w="9525">
              <a:noFill/>
            </a:ln>
          </p:spPr>
          <p:txBody>
            <a:bodyPr wrap="square" anchor="t">
              <a:spAutoFit/>
            </a:bodyPr>
            <a:lstStyle/>
            <a:p>
              <a:pPr indent="0" algn="just" defTabSz="911225" fontAlgn="base">
                <a:lnSpc>
                  <a:spcPct val="120000"/>
                </a:lnSpc>
                <a:spcBef>
                  <a:spcPct val="20000"/>
                </a:spcBef>
              </a:pPr>
              <a:r>
                <a:rPr lang="en-US" altLang="en-US" sz="1200" strike="noStrike" noProof="1">
                  <a:solidFill>
                    <a:schemeClr val="bg1"/>
                  </a:solidFill>
                  <a:latin typeface="Microsoft YaHei" charset="-122"/>
                  <a:ea typeface="Microsoft YaHei" charset="-122"/>
                  <a:cs typeface="+mn-cs"/>
                  <a:sym typeface="Arial" panose="020B0704020202020204" pitchFamily="34" charset="0"/>
                </a:rPr>
                <a:t>Quantifies overall popularity of the artist, aiding in influencer partnerships, promotional planning, and growth prediction.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97510" y="161925"/>
            <a:ext cx="67716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DATA CHARACTERISTICS</a:t>
            </a:r>
          </a:p>
        </p:txBody>
      </p:sp>
      <p:cxnSp>
        <p:nvCxnSpPr>
          <p:cNvPr id="5" name="Straight Connector 4"/>
          <p:cNvCxnSpPr/>
          <p:nvPr/>
        </p:nvCxnSpPr>
        <p:spPr>
          <a:xfrm>
            <a:off x="4940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grpSp>
        <p:nvGrpSpPr>
          <p:cNvPr id="6" name="Group 5"/>
          <p:cNvGrpSpPr>
            <a:grpSpLocks noChangeAspect="1"/>
          </p:cNvGrpSpPr>
          <p:nvPr/>
        </p:nvGrpSpPr>
        <p:grpSpPr>
          <a:xfrm>
            <a:off x="490855" y="1831340"/>
            <a:ext cx="8180705" cy="2475865"/>
            <a:chOff x="969" y="2984"/>
            <a:chExt cx="12154" cy="3678"/>
          </a:xfrm>
        </p:grpSpPr>
        <p:sp>
          <p:nvSpPr>
            <p:cNvPr id="9" name="Teardrop 51"/>
            <p:cNvSpPr/>
            <p:nvPr/>
          </p:nvSpPr>
          <p:spPr>
            <a:xfrm flipV="1">
              <a:off x="5289" y="2984"/>
              <a:ext cx="1504" cy="1504"/>
            </a:xfrm>
            <a:prstGeom prst="teardrop">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44" tIns="25722" rIns="51444" bIns="2572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575" b="1" i="0" u="none" strike="noStrike" kern="1200" cap="none" spc="0" normalizeH="0" baseline="0" noProof="0">
                <a:ln>
                  <a:noFill/>
                </a:ln>
                <a:solidFill>
                  <a:schemeClr val="lt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10" name="AutoShape 4"/>
            <p:cNvSpPr>
              <a:spLocks noChangeAspect="1" noChangeArrowheads="1" noTextEdit="1"/>
            </p:cNvSpPr>
            <p:nvPr/>
          </p:nvSpPr>
          <p:spPr bwMode="auto">
            <a:xfrm>
              <a:off x="5672" y="3335"/>
              <a:ext cx="766" cy="766"/>
            </a:xfrm>
            <a:prstGeom prst="rect">
              <a:avLst/>
            </a:prstGeom>
            <a:noFill/>
            <a:ln w="9525">
              <a:noFill/>
              <a:miter lim="800000"/>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15" name="Teardrop 65"/>
            <p:cNvSpPr/>
            <p:nvPr/>
          </p:nvSpPr>
          <p:spPr>
            <a:xfrm rot="5400000" flipV="1">
              <a:off x="7350" y="2984"/>
              <a:ext cx="1504" cy="1504"/>
            </a:xfrm>
            <a:prstGeom prst="teardrop">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16" name="AutoShape 8"/>
            <p:cNvSpPr>
              <a:spLocks noChangeAspect="1" noChangeArrowheads="1" noTextEdit="1"/>
            </p:cNvSpPr>
            <p:nvPr/>
          </p:nvSpPr>
          <p:spPr bwMode="auto">
            <a:xfrm>
              <a:off x="7743" y="3204"/>
              <a:ext cx="729" cy="1094"/>
            </a:xfrm>
            <a:prstGeom prst="rect">
              <a:avLst/>
            </a:prstGeom>
            <a:noFill/>
            <a:ln w="9525">
              <a:noFill/>
              <a:miter lim="800000"/>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18" name="Teardrop 66"/>
            <p:cNvSpPr/>
            <p:nvPr/>
          </p:nvSpPr>
          <p:spPr>
            <a:xfrm>
              <a:off x="5289" y="5158"/>
              <a:ext cx="1504" cy="1504"/>
            </a:xfrm>
            <a:prstGeom prst="teardrop">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19" name="AutoShape 12"/>
            <p:cNvSpPr>
              <a:spLocks noChangeAspect="1" noChangeArrowheads="1" noTextEdit="1"/>
            </p:cNvSpPr>
            <p:nvPr/>
          </p:nvSpPr>
          <p:spPr bwMode="auto">
            <a:xfrm>
              <a:off x="5699" y="5477"/>
              <a:ext cx="746" cy="809"/>
            </a:xfrm>
            <a:prstGeom prst="rect">
              <a:avLst/>
            </a:prstGeom>
            <a:noFill/>
            <a:ln w="9525">
              <a:noFill/>
              <a:miter lim="800000"/>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1" name="Teardrop 67"/>
            <p:cNvSpPr/>
            <p:nvPr/>
          </p:nvSpPr>
          <p:spPr>
            <a:xfrm rot="16200000">
              <a:off x="7350" y="5158"/>
              <a:ext cx="1504" cy="1504"/>
            </a:xfrm>
            <a:prstGeom prst="teardrop">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44" tIns="25722" rIns="51444" bIns="2572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575" b="1" i="0" u="none" strike="noStrike" kern="1200" cap="none" spc="0" normalizeH="0" baseline="0" noProof="0">
                <a:ln>
                  <a:noFill/>
                </a:ln>
                <a:solidFill>
                  <a:schemeClr val="lt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2" name="AutoShape 16"/>
            <p:cNvSpPr>
              <a:spLocks noChangeAspect="1" noChangeArrowheads="1" noTextEdit="1"/>
            </p:cNvSpPr>
            <p:nvPr/>
          </p:nvSpPr>
          <p:spPr bwMode="auto">
            <a:xfrm>
              <a:off x="7743" y="5568"/>
              <a:ext cx="729" cy="667"/>
            </a:xfrm>
            <a:prstGeom prst="rect">
              <a:avLst/>
            </a:prstGeom>
            <a:noFill/>
            <a:ln w="9525">
              <a:noFill/>
              <a:miter lim="800000"/>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3" name="Freeform 18"/>
            <p:cNvSpPr>
              <a:spLocks noEditPoints="1"/>
            </p:cNvSpPr>
            <p:nvPr/>
          </p:nvSpPr>
          <p:spPr bwMode="auto">
            <a:xfrm>
              <a:off x="5712" y="5562"/>
              <a:ext cx="724" cy="667"/>
            </a:xfrm>
            <a:custGeom>
              <a:avLst/>
              <a:gdLst/>
              <a:ahLst/>
              <a:cxnLst>
                <a:cxn ang="0">
                  <a:pos x="4" y="0"/>
                </a:cxn>
                <a:cxn ang="0">
                  <a:pos x="0" y="0"/>
                </a:cxn>
                <a:cxn ang="0">
                  <a:pos x="0" y="96"/>
                </a:cxn>
                <a:cxn ang="0">
                  <a:pos x="104" y="96"/>
                </a:cxn>
                <a:cxn ang="0">
                  <a:pos x="104" y="92"/>
                </a:cxn>
                <a:cxn ang="0">
                  <a:pos x="4" y="92"/>
                </a:cxn>
                <a:cxn ang="0">
                  <a:pos x="4" y="0"/>
                </a:cxn>
                <a:cxn ang="0">
                  <a:pos x="56" y="4"/>
                </a:cxn>
                <a:cxn ang="0">
                  <a:pos x="52" y="0"/>
                </a:cxn>
                <a:cxn ang="0">
                  <a:pos x="40" y="0"/>
                </a:cxn>
                <a:cxn ang="0">
                  <a:pos x="36" y="4"/>
                </a:cxn>
                <a:cxn ang="0">
                  <a:pos x="36" y="84"/>
                </a:cxn>
                <a:cxn ang="0">
                  <a:pos x="56" y="84"/>
                </a:cxn>
                <a:cxn ang="0">
                  <a:pos x="56" y="4"/>
                </a:cxn>
                <a:cxn ang="0">
                  <a:pos x="32" y="28"/>
                </a:cxn>
                <a:cxn ang="0">
                  <a:pos x="28" y="24"/>
                </a:cxn>
                <a:cxn ang="0">
                  <a:pos x="16" y="24"/>
                </a:cxn>
                <a:cxn ang="0">
                  <a:pos x="12" y="28"/>
                </a:cxn>
                <a:cxn ang="0">
                  <a:pos x="12" y="84"/>
                </a:cxn>
                <a:cxn ang="0">
                  <a:pos x="32" y="84"/>
                </a:cxn>
                <a:cxn ang="0">
                  <a:pos x="32" y="28"/>
                </a:cxn>
                <a:cxn ang="0">
                  <a:pos x="80" y="52"/>
                </a:cxn>
                <a:cxn ang="0">
                  <a:pos x="76" y="48"/>
                </a:cxn>
                <a:cxn ang="0">
                  <a:pos x="64" y="48"/>
                </a:cxn>
                <a:cxn ang="0">
                  <a:pos x="60" y="52"/>
                </a:cxn>
                <a:cxn ang="0">
                  <a:pos x="60" y="84"/>
                </a:cxn>
                <a:cxn ang="0">
                  <a:pos x="80" y="84"/>
                </a:cxn>
                <a:cxn ang="0">
                  <a:pos x="80" y="52"/>
                </a:cxn>
                <a:cxn ang="0">
                  <a:pos x="100" y="72"/>
                </a:cxn>
                <a:cxn ang="0">
                  <a:pos x="88" y="72"/>
                </a:cxn>
                <a:cxn ang="0">
                  <a:pos x="84" y="76"/>
                </a:cxn>
                <a:cxn ang="0">
                  <a:pos x="84" y="84"/>
                </a:cxn>
                <a:cxn ang="0">
                  <a:pos x="104" y="84"/>
                </a:cxn>
                <a:cxn ang="0">
                  <a:pos x="104" y="76"/>
                </a:cxn>
                <a:cxn ang="0">
                  <a:pos x="100" y="72"/>
                </a:cxn>
              </a:cxnLst>
              <a:rect l="0" t="0" r="r" b="b"/>
              <a:pathLst>
                <a:path w="104" h="96">
                  <a:moveTo>
                    <a:pt x="4" y="0"/>
                  </a:moveTo>
                  <a:cubicBezTo>
                    <a:pt x="0" y="0"/>
                    <a:pt x="0" y="0"/>
                    <a:pt x="0" y="0"/>
                  </a:cubicBezTo>
                  <a:cubicBezTo>
                    <a:pt x="0" y="96"/>
                    <a:pt x="0" y="96"/>
                    <a:pt x="0" y="96"/>
                  </a:cubicBezTo>
                  <a:cubicBezTo>
                    <a:pt x="104" y="96"/>
                    <a:pt x="104" y="96"/>
                    <a:pt x="104" y="96"/>
                  </a:cubicBezTo>
                  <a:cubicBezTo>
                    <a:pt x="104" y="92"/>
                    <a:pt x="104" y="92"/>
                    <a:pt x="104" y="92"/>
                  </a:cubicBezTo>
                  <a:cubicBezTo>
                    <a:pt x="4" y="92"/>
                    <a:pt x="4" y="92"/>
                    <a:pt x="4" y="92"/>
                  </a:cubicBezTo>
                  <a:lnTo>
                    <a:pt x="4" y="0"/>
                  </a:lnTo>
                  <a:close/>
                  <a:moveTo>
                    <a:pt x="56" y="4"/>
                  </a:moveTo>
                  <a:cubicBezTo>
                    <a:pt x="56" y="2"/>
                    <a:pt x="54" y="0"/>
                    <a:pt x="52" y="0"/>
                  </a:cubicBezTo>
                  <a:cubicBezTo>
                    <a:pt x="40" y="0"/>
                    <a:pt x="40" y="0"/>
                    <a:pt x="40" y="0"/>
                  </a:cubicBezTo>
                  <a:cubicBezTo>
                    <a:pt x="38" y="0"/>
                    <a:pt x="36" y="2"/>
                    <a:pt x="36" y="4"/>
                  </a:cubicBezTo>
                  <a:cubicBezTo>
                    <a:pt x="36" y="84"/>
                    <a:pt x="36" y="84"/>
                    <a:pt x="36" y="84"/>
                  </a:cubicBezTo>
                  <a:cubicBezTo>
                    <a:pt x="56" y="84"/>
                    <a:pt x="56" y="84"/>
                    <a:pt x="56" y="84"/>
                  </a:cubicBezTo>
                  <a:lnTo>
                    <a:pt x="56" y="4"/>
                  </a:lnTo>
                  <a:close/>
                  <a:moveTo>
                    <a:pt x="32" y="28"/>
                  </a:moveTo>
                  <a:cubicBezTo>
                    <a:pt x="32" y="26"/>
                    <a:pt x="30" y="24"/>
                    <a:pt x="28" y="24"/>
                  </a:cubicBezTo>
                  <a:cubicBezTo>
                    <a:pt x="16" y="24"/>
                    <a:pt x="16" y="24"/>
                    <a:pt x="16" y="24"/>
                  </a:cubicBezTo>
                  <a:cubicBezTo>
                    <a:pt x="14" y="24"/>
                    <a:pt x="12" y="26"/>
                    <a:pt x="12" y="28"/>
                  </a:cubicBezTo>
                  <a:cubicBezTo>
                    <a:pt x="12" y="84"/>
                    <a:pt x="12" y="84"/>
                    <a:pt x="12" y="84"/>
                  </a:cubicBezTo>
                  <a:cubicBezTo>
                    <a:pt x="32" y="84"/>
                    <a:pt x="32" y="84"/>
                    <a:pt x="32" y="84"/>
                  </a:cubicBezTo>
                  <a:lnTo>
                    <a:pt x="32" y="28"/>
                  </a:lnTo>
                  <a:close/>
                  <a:moveTo>
                    <a:pt x="80" y="52"/>
                  </a:moveTo>
                  <a:cubicBezTo>
                    <a:pt x="80" y="50"/>
                    <a:pt x="78" y="48"/>
                    <a:pt x="76" y="48"/>
                  </a:cubicBezTo>
                  <a:cubicBezTo>
                    <a:pt x="64" y="48"/>
                    <a:pt x="64" y="48"/>
                    <a:pt x="64" y="48"/>
                  </a:cubicBezTo>
                  <a:cubicBezTo>
                    <a:pt x="62" y="48"/>
                    <a:pt x="60" y="50"/>
                    <a:pt x="60" y="52"/>
                  </a:cubicBezTo>
                  <a:cubicBezTo>
                    <a:pt x="60" y="84"/>
                    <a:pt x="60" y="84"/>
                    <a:pt x="60" y="84"/>
                  </a:cubicBezTo>
                  <a:cubicBezTo>
                    <a:pt x="80" y="84"/>
                    <a:pt x="80" y="84"/>
                    <a:pt x="80" y="84"/>
                  </a:cubicBezTo>
                  <a:lnTo>
                    <a:pt x="80" y="52"/>
                  </a:lnTo>
                  <a:close/>
                  <a:moveTo>
                    <a:pt x="100" y="72"/>
                  </a:moveTo>
                  <a:cubicBezTo>
                    <a:pt x="88" y="72"/>
                    <a:pt x="88" y="72"/>
                    <a:pt x="88" y="72"/>
                  </a:cubicBezTo>
                  <a:cubicBezTo>
                    <a:pt x="86" y="72"/>
                    <a:pt x="84" y="74"/>
                    <a:pt x="84" y="76"/>
                  </a:cubicBezTo>
                  <a:cubicBezTo>
                    <a:pt x="84" y="84"/>
                    <a:pt x="84" y="84"/>
                    <a:pt x="84" y="84"/>
                  </a:cubicBezTo>
                  <a:cubicBezTo>
                    <a:pt x="104" y="84"/>
                    <a:pt x="104" y="84"/>
                    <a:pt x="104" y="84"/>
                  </a:cubicBezTo>
                  <a:cubicBezTo>
                    <a:pt x="104" y="76"/>
                    <a:pt x="104" y="76"/>
                    <a:pt x="104" y="76"/>
                  </a:cubicBezTo>
                  <a:cubicBezTo>
                    <a:pt x="104" y="74"/>
                    <a:pt x="102" y="72"/>
                    <a:pt x="100" y="72"/>
                  </a:cubicBezTo>
                  <a:close/>
                </a:path>
              </a:pathLst>
            </a:custGeom>
            <a:solidFill>
              <a:schemeClr val="bg1"/>
            </a:solidFill>
            <a:ln w="9525">
              <a:noFill/>
              <a:round/>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4" name="Freeform 5"/>
            <p:cNvSpPr>
              <a:spLocks noEditPoints="1"/>
            </p:cNvSpPr>
            <p:nvPr/>
          </p:nvSpPr>
          <p:spPr bwMode="auto">
            <a:xfrm>
              <a:off x="9380" y="3178"/>
              <a:ext cx="403" cy="417"/>
            </a:xfrm>
            <a:custGeom>
              <a:avLst/>
              <a:gdLst/>
              <a:ahLst/>
              <a:cxnLst>
                <a:cxn ang="0">
                  <a:pos x="52" y="104"/>
                </a:cxn>
                <a:cxn ang="0">
                  <a:pos x="0" y="52"/>
                </a:cxn>
                <a:cxn ang="0">
                  <a:pos x="52" y="0"/>
                </a:cxn>
                <a:cxn ang="0">
                  <a:pos x="104" y="52"/>
                </a:cxn>
                <a:cxn ang="0">
                  <a:pos x="52" y="104"/>
                </a:cxn>
                <a:cxn ang="0">
                  <a:pos x="81" y="34"/>
                </a:cxn>
                <a:cxn ang="0">
                  <a:pos x="76" y="29"/>
                </a:cxn>
                <a:cxn ang="0">
                  <a:pos x="72" y="29"/>
                </a:cxn>
                <a:cxn ang="0">
                  <a:pos x="41" y="60"/>
                </a:cxn>
                <a:cxn ang="0">
                  <a:pos x="27" y="45"/>
                </a:cxn>
                <a:cxn ang="0">
                  <a:pos x="23" y="45"/>
                </a:cxn>
                <a:cxn ang="0">
                  <a:pos x="18" y="50"/>
                </a:cxn>
                <a:cxn ang="0">
                  <a:pos x="18" y="53"/>
                </a:cxn>
                <a:cxn ang="0">
                  <a:pos x="34" y="70"/>
                </a:cxn>
                <a:cxn ang="0">
                  <a:pos x="35" y="70"/>
                </a:cxn>
                <a:cxn ang="0">
                  <a:pos x="38" y="74"/>
                </a:cxn>
                <a:cxn ang="0">
                  <a:pos x="39" y="74"/>
                </a:cxn>
                <a:cxn ang="0">
                  <a:pos x="39" y="74"/>
                </a:cxn>
                <a:cxn ang="0">
                  <a:pos x="40" y="75"/>
                </a:cxn>
                <a:cxn ang="0">
                  <a:pos x="43" y="75"/>
                </a:cxn>
                <a:cxn ang="0">
                  <a:pos x="81" y="37"/>
                </a:cxn>
                <a:cxn ang="0">
                  <a:pos x="81" y="34"/>
                </a:cxn>
              </a:cxnLst>
              <a:rect l="0" t="0" r="r" b="b"/>
              <a:pathLst>
                <a:path w="104" h="104">
                  <a:moveTo>
                    <a:pt x="52" y="104"/>
                  </a:moveTo>
                  <a:cubicBezTo>
                    <a:pt x="23" y="104"/>
                    <a:pt x="0" y="81"/>
                    <a:pt x="0" y="52"/>
                  </a:cubicBezTo>
                  <a:cubicBezTo>
                    <a:pt x="0" y="23"/>
                    <a:pt x="23" y="0"/>
                    <a:pt x="52" y="0"/>
                  </a:cubicBezTo>
                  <a:cubicBezTo>
                    <a:pt x="81" y="0"/>
                    <a:pt x="104" y="23"/>
                    <a:pt x="104" y="52"/>
                  </a:cubicBezTo>
                  <a:cubicBezTo>
                    <a:pt x="104" y="81"/>
                    <a:pt x="81" y="104"/>
                    <a:pt x="52" y="104"/>
                  </a:cubicBezTo>
                  <a:close/>
                  <a:moveTo>
                    <a:pt x="81" y="34"/>
                  </a:moveTo>
                  <a:cubicBezTo>
                    <a:pt x="76" y="29"/>
                    <a:pt x="76" y="29"/>
                    <a:pt x="76" y="29"/>
                  </a:cubicBezTo>
                  <a:cubicBezTo>
                    <a:pt x="75" y="28"/>
                    <a:pt x="73" y="28"/>
                    <a:pt x="72" y="29"/>
                  </a:cubicBezTo>
                  <a:cubicBezTo>
                    <a:pt x="41" y="60"/>
                    <a:pt x="41" y="60"/>
                    <a:pt x="41" y="60"/>
                  </a:cubicBezTo>
                  <a:cubicBezTo>
                    <a:pt x="27" y="45"/>
                    <a:pt x="27" y="45"/>
                    <a:pt x="27" y="45"/>
                  </a:cubicBezTo>
                  <a:cubicBezTo>
                    <a:pt x="26" y="44"/>
                    <a:pt x="24" y="44"/>
                    <a:pt x="23" y="45"/>
                  </a:cubicBezTo>
                  <a:cubicBezTo>
                    <a:pt x="18" y="50"/>
                    <a:pt x="18" y="50"/>
                    <a:pt x="18" y="50"/>
                  </a:cubicBezTo>
                  <a:cubicBezTo>
                    <a:pt x="17" y="51"/>
                    <a:pt x="17" y="52"/>
                    <a:pt x="18" y="53"/>
                  </a:cubicBezTo>
                  <a:cubicBezTo>
                    <a:pt x="34" y="70"/>
                    <a:pt x="34" y="70"/>
                    <a:pt x="34" y="70"/>
                  </a:cubicBezTo>
                  <a:cubicBezTo>
                    <a:pt x="34" y="70"/>
                    <a:pt x="34" y="70"/>
                    <a:pt x="35" y="70"/>
                  </a:cubicBezTo>
                  <a:cubicBezTo>
                    <a:pt x="38" y="74"/>
                    <a:pt x="38" y="74"/>
                    <a:pt x="38" y="74"/>
                  </a:cubicBezTo>
                  <a:cubicBezTo>
                    <a:pt x="39" y="74"/>
                    <a:pt x="39" y="74"/>
                    <a:pt x="39" y="74"/>
                  </a:cubicBezTo>
                  <a:cubicBezTo>
                    <a:pt x="39" y="74"/>
                    <a:pt x="39" y="74"/>
                    <a:pt x="39" y="74"/>
                  </a:cubicBezTo>
                  <a:cubicBezTo>
                    <a:pt x="40" y="75"/>
                    <a:pt x="40" y="75"/>
                    <a:pt x="40" y="75"/>
                  </a:cubicBezTo>
                  <a:cubicBezTo>
                    <a:pt x="41" y="76"/>
                    <a:pt x="42" y="76"/>
                    <a:pt x="43" y="75"/>
                  </a:cubicBezTo>
                  <a:cubicBezTo>
                    <a:pt x="81" y="37"/>
                    <a:pt x="81" y="37"/>
                    <a:pt x="81" y="37"/>
                  </a:cubicBezTo>
                  <a:cubicBezTo>
                    <a:pt x="82" y="36"/>
                    <a:pt x="82" y="35"/>
                    <a:pt x="81" y="34"/>
                  </a:cubicBezTo>
                  <a:close/>
                </a:path>
              </a:pathLst>
            </a:custGeom>
            <a:solidFill>
              <a:srgbClr val="1ED760"/>
            </a:solidFill>
            <a:ln w="9525">
              <a:noFill/>
              <a:round/>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5" name="Freeform 5"/>
            <p:cNvSpPr>
              <a:spLocks noEditPoints="1"/>
            </p:cNvSpPr>
            <p:nvPr/>
          </p:nvSpPr>
          <p:spPr bwMode="auto">
            <a:xfrm>
              <a:off x="9380" y="5200"/>
              <a:ext cx="403" cy="417"/>
            </a:xfrm>
            <a:custGeom>
              <a:avLst/>
              <a:gdLst/>
              <a:ahLst/>
              <a:cxnLst>
                <a:cxn ang="0">
                  <a:pos x="52" y="104"/>
                </a:cxn>
                <a:cxn ang="0">
                  <a:pos x="0" y="52"/>
                </a:cxn>
                <a:cxn ang="0">
                  <a:pos x="52" y="0"/>
                </a:cxn>
                <a:cxn ang="0">
                  <a:pos x="104" y="52"/>
                </a:cxn>
                <a:cxn ang="0">
                  <a:pos x="52" y="104"/>
                </a:cxn>
                <a:cxn ang="0">
                  <a:pos x="81" y="34"/>
                </a:cxn>
                <a:cxn ang="0">
                  <a:pos x="76" y="29"/>
                </a:cxn>
                <a:cxn ang="0">
                  <a:pos x="72" y="29"/>
                </a:cxn>
                <a:cxn ang="0">
                  <a:pos x="41" y="60"/>
                </a:cxn>
                <a:cxn ang="0">
                  <a:pos x="27" y="45"/>
                </a:cxn>
                <a:cxn ang="0">
                  <a:pos x="23" y="45"/>
                </a:cxn>
                <a:cxn ang="0">
                  <a:pos x="18" y="50"/>
                </a:cxn>
                <a:cxn ang="0">
                  <a:pos x="18" y="53"/>
                </a:cxn>
                <a:cxn ang="0">
                  <a:pos x="34" y="70"/>
                </a:cxn>
                <a:cxn ang="0">
                  <a:pos x="35" y="70"/>
                </a:cxn>
                <a:cxn ang="0">
                  <a:pos x="38" y="74"/>
                </a:cxn>
                <a:cxn ang="0">
                  <a:pos x="39" y="74"/>
                </a:cxn>
                <a:cxn ang="0">
                  <a:pos x="39" y="74"/>
                </a:cxn>
                <a:cxn ang="0">
                  <a:pos x="40" y="75"/>
                </a:cxn>
                <a:cxn ang="0">
                  <a:pos x="43" y="75"/>
                </a:cxn>
                <a:cxn ang="0">
                  <a:pos x="81" y="37"/>
                </a:cxn>
                <a:cxn ang="0">
                  <a:pos x="81" y="34"/>
                </a:cxn>
              </a:cxnLst>
              <a:rect l="0" t="0" r="r" b="b"/>
              <a:pathLst>
                <a:path w="104" h="104">
                  <a:moveTo>
                    <a:pt x="52" y="104"/>
                  </a:moveTo>
                  <a:cubicBezTo>
                    <a:pt x="23" y="104"/>
                    <a:pt x="0" y="81"/>
                    <a:pt x="0" y="52"/>
                  </a:cubicBezTo>
                  <a:cubicBezTo>
                    <a:pt x="0" y="23"/>
                    <a:pt x="23" y="0"/>
                    <a:pt x="52" y="0"/>
                  </a:cubicBezTo>
                  <a:cubicBezTo>
                    <a:pt x="81" y="0"/>
                    <a:pt x="104" y="23"/>
                    <a:pt x="104" y="52"/>
                  </a:cubicBezTo>
                  <a:cubicBezTo>
                    <a:pt x="104" y="81"/>
                    <a:pt x="81" y="104"/>
                    <a:pt x="52" y="104"/>
                  </a:cubicBezTo>
                  <a:close/>
                  <a:moveTo>
                    <a:pt x="81" y="34"/>
                  </a:moveTo>
                  <a:cubicBezTo>
                    <a:pt x="76" y="29"/>
                    <a:pt x="76" y="29"/>
                    <a:pt x="76" y="29"/>
                  </a:cubicBezTo>
                  <a:cubicBezTo>
                    <a:pt x="75" y="28"/>
                    <a:pt x="73" y="28"/>
                    <a:pt x="72" y="29"/>
                  </a:cubicBezTo>
                  <a:cubicBezTo>
                    <a:pt x="41" y="60"/>
                    <a:pt x="41" y="60"/>
                    <a:pt x="41" y="60"/>
                  </a:cubicBezTo>
                  <a:cubicBezTo>
                    <a:pt x="27" y="45"/>
                    <a:pt x="27" y="45"/>
                    <a:pt x="27" y="45"/>
                  </a:cubicBezTo>
                  <a:cubicBezTo>
                    <a:pt x="26" y="44"/>
                    <a:pt x="24" y="44"/>
                    <a:pt x="23" y="45"/>
                  </a:cubicBezTo>
                  <a:cubicBezTo>
                    <a:pt x="18" y="50"/>
                    <a:pt x="18" y="50"/>
                    <a:pt x="18" y="50"/>
                  </a:cubicBezTo>
                  <a:cubicBezTo>
                    <a:pt x="17" y="51"/>
                    <a:pt x="17" y="52"/>
                    <a:pt x="18" y="53"/>
                  </a:cubicBezTo>
                  <a:cubicBezTo>
                    <a:pt x="34" y="70"/>
                    <a:pt x="34" y="70"/>
                    <a:pt x="34" y="70"/>
                  </a:cubicBezTo>
                  <a:cubicBezTo>
                    <a:pt x="34" y="70"/>
                    <a:pt x="34" y="70"/>
                    <a:pt x="35" y="70"/>
                  </a:cubicBezTo>
                  <a:cubicBezTo>
                    <a:pt x="38" y="74"/>
                    <a:pt x="38" y="74"/>
                    <a:pt x="38" y="74"/>
                  </a:cubicBezTo>
                  <a:cubicBezTo>
                    <a:pt x="39" y="74"/>
                    <a:pt x="39" y="74"/>
                    <a:pt x="39" y="74"/>
                  </a:cubicBezTo>
                  <a:cubicBezTo>
                    <a:pt x="39" y="74"/>
                    <a:pt x="39" y="74"/>
                    <a:pt x="39" y="74"/>
                  </a:cubicBezTo>
                  <a:cubicBezTo>
                    <a:pt x="40" y="75"/>
                    <a:pt x="40" y="75"/>
                    <a:pt x="40" y="75"/>
                  </a:cubicBezTo>
                  <a:cubicBezTo>
                    <a:pt x="41" y="76"/>
                    <a:pt x="42" y="76"/>
                    <a:pt x="43" y="75"/>
                  </a:cubicBezTo>
                  <a:cubicBezTo>
                    <a:pt x="81" y="37"/>
                    <a:pt x="81" y="37"/>
                    <a:pt x="81" y="37"/>
                  </a:cubicBezTo>
                  <a:cubicBezTo>
                    <a:pt x="82" y="36"/>
                    <a:pt x="82" y="35"/>
                    <a:pt x="81" y="34"/>
                  </a:cubicBezTo>
                  <a:close/>
                </a:path>
              </a:pathLst>
            </a:custGeom>
            <a:solidFill>
              <a:srgbClr val="1ED760"/>
            </a:solidFill>
            <a:ln w="9525">
              <a:noFill/>
              <a:round/>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6" name="Freeform 5"/>
            <p:cNvSpPr>
              <a:spLocks noEditPoints="1"/>
            </p:cNvSpPr>
            <p:nvPr/>
          </p:nvSpPr>
          <p:spPr bwMode="auto">
            <a:xfrm>
              <a:off x="4437" y="3158"/>
              <a:ext cx="403" cy="417"/>
            </a:xfrm>
            <a:custGeom>
              <a:avLst/>
              <a:gdLst/>
              <a:ahLst/>
              <a:cxnLst>
                <a:cxn ang="0">
                  <a:pos x="52" y="104"/>
                </a:cxn>
                <a:cxn ang="0">
                  <a:pos x="0" y="52"/>
                </a:cxn>
                <a:cxn ang="0">
                  <a:pos x="52" y="0"/>
                </a:cxn>
                <a:cxn ang="0">
                  <a:pos x="104" y="52"/>
                </a:cxn>
                <a:cxn ang="0">
                  <a:pos x="52" y="104"/>
                </a:cxn>
                <a:cxn ang="0">
                  <a:pos x="81" y="34"/>
                </a:cxn>
                <a:cxn ang="0">
                  <a:pos x="76" y="29"/>
                </a:cxn>
                <a:cxn ang="0">
                  <a:pos x="72" y="29"/>
                </a:cxn>
                <a:cxn ang="0">
                  <a:pos x="41" y="60"/>
                </a:cxn>
                <a:cxn ang="0">
                  <a:pos x="27" y="45"/>
                </a:cxn>
                <a:cxn ang="0">
                  <a:pos x="23" y="45"/>
                </a:cxn>
                <a:cxn ang="0">
                  <a:pos x="18" y="50"/>
                </a:cxn>
                <a:cxn ang="0">
                  <a:pos x="18" y="53"/>
                </a:cxn>
                <a:cxn ang="0">
                  <a:pos x="34" y="70"/>
                </a:cxn>
                <a:cxn ang="0">
                  <a:pos x="35" y="70"/>
                </a:cxn>
                <a:cxn ang="0">
                  <a:pos x="38" y="74"/>
                </a:cxn>
                <a:cxn ang="0">
                  <a:pos x="39" y="74"/>
                </a:cxn>
                <a:cxn ang="0">
                  <a:pos x="39" y="74"/>
                </a:cxn>
                <a:cxn ang="0">
                  <a:pos x="40" y="75"/>
                </a:cxn>
                <a:cxn ang="0">
                  <a:pos x="43" y="75"/>
                </a:cxn>
                <a:cxn ang="0">
                  <a:pos x="81" y="37"/>
                </a:cxn>
                <a:cxn ang="0">
                  <a:pos x="81" y="34"/>
                </a:cxn>
              </a:cxnLst>
              <a:rect l="0" t="0" r="r" b="b"/>
              <a:pathLst>
                <a:path w="104" h="104">
                  <a:moveTo>
                    <a:pt x="52" y="104"/>
                  </a:moveTo>
                  <a:cubicBezTo>
                    <a:pt x="23" y="104"/>
                    <a:pt x="0" y="81"/>
                    <a:pt x="0" y="52"/>
                  </a:cubicBezTo>
                  <a:cubicBezTo>
                    <a:pt x="0" y="23"/>
                    <a:pt x="23" y="0"/>
                    <a:pt x="52" y="0"/>
                  </a:cubicBezTo>
                  <a:cubicBezTo>
                    <a:pt x="81" y="0"/>
                    <a:pt x="104" y="23"/>
                    <a:pt x="104" y="52"/>
                  </a:cubicBezTo>
                  <a:cubicBezTo>
                    <a:pt x="104" y="81"/>
                    <a:pt x="81" y="104"/>
                    <a:pt x="52" y="104"/>
                  </a:cubicBezTo>
                  <a:close/>
                  <a:moveTo>
                    <a:pt x="81" y="34"/>
                  </a:moveTo>
                  <a:cubicBezTo>
                    <a:pt x="76" y="29"/>
                    <a:pt x="76" y="29"/>
                    <a:pt x="76" y="29"/>
                  </a:cubicBezTo>
                  <a:cubicBezTo>
                    <a:pt x="75" y="28"/>
                    <a:pt x="73" y="28"/>
                    <a:pt x="72" y="29"/>
                  </a:cubicBezTo>
                  <a:cubicBezTo>
                    <a:pt x="41" y="60"/>
                    <a:pt x="41" y="60"/>
                    <a:pt x="41" y="60"/>
                  </a:cubicBezTo>
                  <a:cubicBezTo>
                    <a:pt x="27" y="45"/>
                    <a:pt x="27" y="45"/>
                    <a:pt x="27" y="45"/>
                  </a:cubicBezTo>
                  <a:cubicBezTo>
                    <a:pt x="26" y="44"/>
                    <a:pt x="24" y="44"/>
                    <a:pt x="23" y="45"/>
                  </a:cubicBezTo>
                  <a:cubicBezTo>
                    <a:pt x="18" y="50"/>
                    <a:pt x="18" y="50"/>
                    <a:pt x="18" y="50"/>
                  </a:cubicBezTo>
                  <a:cubicBezTo>
                    <a:pt x="17" y="51"/>
                    <a:pt x="17" y="52"/>
                    <a:pt x="18" y="53"/>
                  </a:cubicBezTo>
                  <a:cubicBezTo>
                    <a:pt x="34" y="70"/>
                    <a:pt x="34" y="70"/>
                    <a:pt x="34" y="70"/>
                  </a:cubicBezTo>
                  <a:cubicBezTo>
                    <a:pt x="34" y="70"/>
                    <a:pt x="34" y="70"/>
                    <a:pt x="35" y="70"/>
                  </a:cubicBezTo>
                  <a:cubicBezTo>
                    <a:pt x="38" y="74"/>
                    <a:pt x="38" y="74"/>
                    <a:pt x="38" y="74"/>
                  </a:cubicBezTo>
                  <a:cubicBezTo>
                    <a:pt x="39" y="74"/>
                    <a:pt x="39" y="74"/>
                    <a:pt x="39" y="74"/>
                  </a:cubicBezTo>
                  <a:cubicBezTo>
                    <a:pt x="39" y="74"/>
                    <a:pt x="39" y="74"/>
                    <a:pt x="39" y="74"/>
                  </a:cubicBezTo>
                  <a:cubicBezTo>
                    <a:pt x="40" y="75"/>
                    <a:pt x="40" y="75"/>
                    <a:pt x="40" y="75"/>
                  </a:cubicBezTo>
                  <a:cubicBezTo>
                    <a:pt x="41" y="76"/>
                    <a:pt x="42" y="76"/>
                    <a:pt x="43" y="75"/>
                  </a:cubicBezTo>
                  <a:cubicBezTo>
                    <a:pt x="81" y="37"/>
                    <a:pt x="81" y="37"/>
                    <a:pt x="81" y="37"/>
                  </a:cubicBezTo>
                  <a:cubicBezTo>
                    <a:pt x="82" y="36"/>
                    <a:pt x="82" y="35"/>
                    <a:pt x="81" y="34"/>
                  </a:cubicBezTo>
                  <a:close/>
                </a:path>
              </a:pathLst>
            </a:custGeom>
            <a:solidFill>
              <a:srgbClr val="1ED760"/>
            </a:solidFill>
            <a:ln w="9525">
              <a:noFill/>
              <a:round/>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27" name="Freeform 5"/>
            <p:cNvSpPr>
              <a:spLocks noEditPoints="1"/>
            </p:cNvSpPr>
            <p:nvPr/>
          </p:nvSpPr>
          <p:spPr bwMode="auto">
            <a:xfrm>
              <a:off x="4433" y="5298"/>
              <a:ext cx="403" cy="417"/>
            </a:xfrm>
            <a:custGeom>
              <a:avLst/>
              <a:gdLst/>
              <a:ahLst/>
              <a:cxnLst>
                <a:cxn ang="0">
                  <a:pos x="52" y="104"/>
                </a:cxn>
                <a:cxn ang="0">
                  <a:pos x="0" y="52"/>
                </a:cxn>
                <a:cxn ang="0">
                  <a:pos x="52" y="0"/>
                </a:cxn>
                <a:cxn ang="0">
                  <a:pos x="104" y="52"/>
                </a:cxn>
                <a:cxn ang="0">
                  <a:pos x="52" y="104"/>
                </a:cxn>
                <a:cxn ang="0">
                  <a:pos x="81" y="34"/>
                </a:cxn>
                <a:cxn ang="0">
                  <a:pos x="76" y="29"/>
                </a:cxn>
                <a:cxn ang="0">
                  <a:pos x="72" y="29"/>
                </a:cxn>
                <a:cxn ang="0">
                  <a:pos x="41" y="60"/>
                </a:cxn>
                <a:cxn ang="0">
                  <a:pos x="27" y="45"/>
                </a:cxn>
                <a:cxn ang="0">
                  <a:pos x="23" y="45"/>
                </a:cxn>
                <a:cxn ang="0">
                  <a:pos x="18" y="50"/>
                </a:cxn>
                <a:cxn ang="0">
                  <a:pos x="18" y="53"/>
                </a:cxn>
                <a:cxn ang="0">
                  <a:pos x="34" y="70"/>
                </a:cxn>
                <a:cxn ang="0">
                  <a:pos x="35" y="70"/>
                </a:cxn>
                <a:cxn ang="0">
                  <a:pos x="38" y="74"/>
                </a:cxn>
                <a:cxn ang="0">
                  <a:pos x="39" y="74"/>
                </a:cxn>
                <a:cxn ang="0">
                  <a:pos x="39" y="74"/>
                </a:cxn>
                <a:cxn ang="0">
                  <a:pos x="40" y="75"/>
                </a:cxn>
                <a:cxn ang="0">
                  <a:pos x="43" y="75"/>
                </a:cxn>
                <a:cxn ang="0">
                  <a:pos x="81" y="37"/>
                </a:cxn>
                <a:cxn ang="0">
                  <a:pos x="81" y="34"/>
                </a:cxn>
              </a:cxnLst>
              <a:rect l="0" t="0" r="r" b="b"/>
              <a:pathLst>
                <a:path w="104" h="104">
                  <a:moveTo>
                    <a:pt x="52" y="104"/>
                  </a:moveTo>
                  <a:cubicBezTo>
                    <a:pt x="23" y="104"/>
                    <a:pt x="0" y="81"/>
                    <a:pt x="0" y="52"/>
                  </a:cubicBezTo>
                  <a:cubicBezTo>
                    <a:pt x="0" y="23"/>
                    <a:pt x="23" y="0"/>
                    <a:pt x="52" y="0"/>
                  </a:cubicBezTo>
                  <a:cubicBezTo>
                    <a:pt x="81" y="0"/>
                    <a:pt x="104" y="23"/>
                    <a:pt x="104" y="52"/>
                  </a:cubicBezTo>
                  <a:cubicBezTo>
                    <a:pt x="104" y="81"/>
                    <a:pt x="81" y="104"/>
                    <a:pt x="52" y="104"/>
                  </a:cubicBezTo>
                  <a:close/>
                  <a:moveTo>
                    <a:pt x="81" y="34"/>
                  </a:moveTo>
                  <a:cubicBezTo>
                    <a:pt x="76" y="29"/>
                    <a:pt x="76" y="29"/>
                    <a:pt x="76" y="29"/>
                  </a:cubicBezTo>
                  <a:cubicBezTo>
                    <a:pt x="75" y="28"/>
                    <a:pt x="73" y="28"/>
                    <a:pt x="72" y="29"/>
                  </a:cubicBezTo>
                  <a:cubicBezTo>
                    <a:pt x="41" y="60"/>
                    <a:pt x="41" y="60"/>
                    <a:pt x="41" y="60"/>
                  </a:cubicBezTo>
                  <a:cubicBezTo>
                    <a:pt x="27" y="45"/>
                    <a:pt x="27" y="45"/>
                    <a:pt x="27" y="45"/>
                  </a:cubicBezTo>
                  <a:cubicBezTo>
                    <a:pt x="26" y="44"/>
                    <a:pt x="24" y="44"/>
                    <a:pt x="23" y="45"/>
                  </a:cubicBezTo>
                  <a:cubicBezTo>
                    <a:pt x="18" y="50"/>
                    <a:pt x="18" y="50"/>
                    <a:pt x="18" y="50"/>
                  </a:cubicBezTo>
                  <a:cubicBezTo>
                    <a:pt x="17" y="51"/>
                    <a:pt x="17" y="52"/>
                    <a:pt x="18" y="53"/>
                  </a:cubicBezTo>
                  <a:cubicBezTo>
                    <a:pt x="34" y="70"/>
                    <a:pt x="34" y="70"/>
                    <a:pt x="34" y="70"/>
                  </a:cubicBezTo>
                  <a:cubicBezTo>
                    <a:pt x="34" y="70"/>
                    <a:pt x="34" y="70"/>
                    <a:pt x="35" y="70"/>
                  </a:cubicBezTo>
                  <a:cubicBezTo>
                    <a:pt x="38" y="74"/>
                    <a:pt x="38" y="74"/>
                    <a:pt x="38" y="74"/>
                  </a:cubicBezTo>
                  <a:cubicBezTo>
                    <a:pt x="39" y="74"/>
                    <a:pt x="39" y="74"/>
                    <a:pt x="39" y="74"/>
                  </a:cubicBezTo>
                  <a:cubicBezTo>
                    <a:pt x="39" y="74"/>
                    <a:pt x="39" y="74"/>
                    <a:pt x="39" y="74"/>
                  </a:cubicBezTo>
                  <a:cubicBezTo>
                    <a:pt x="40" y="75"/>
                    <a:pt x="40" y="75"/>
                    <a:pt x="40" y="75"/>
                  </a:cubicBezTo>
                  <a:cubicBezTo>
                    <a:pt x="41" y="76"/>
                    <a:pt x="42" y="76"/>
                    <a:pt x="43" y="75"/>
                  </a:cubicBezTo>
                  <a:cubicBezTo>
                    <a:pt x="81" y="37"/>
                    <a:pt x="81" y="37"/>
                    <a:pt x="81" y="37"/>
                  </a:cubicBezTo>
                  <a:cubicBezTo>
                    <a:pt x="82" y="36"/>
                    <a:pt x="82" y="35"/>
                    <a:pt x="81" y="34"/>
                  </a:cubicBezTo>
                  <a:close/>
                </a:path>
              </a:pathLst>
            </a:custGeom>
            <a:solidFill>
              <a:srgbClr val="1ED760"/>
            </a:solidFill>
            <a:ln w="9525">
              <a:noFill/>
              <a:round/>
            </a:ln>
          </p:spPr>
          <p:txBody>
            <a:bodyPr vert="horz" wrap="square" lIns="68574" tIns="34287" rIns="68574" bIns="3428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704020202020204" pitchFamily="34" charset="0"/>
                <a:ea typeface="Microsoft YaHei" charset="-122"/>
                <a:cs typeface="+mn-cs"/>
                <a:sym typeface="Arial" panose="020B0704020202020204" pitchFamily="34" charset="0"/>
              </a:endParaRPr>
            </a:p>
          </p:txBody>
        </p:sp>
        <p:sp>
          <p:nvSpPr>
            <p:cNvPr id="17427" name="TextBox 13"/>
            <p:cNvSpPr txBox="1"/>
            <p:nvPr/>
          </p:nvSpPr>
          <p:spPr>
            <a:xfrm>
              <a:off x="1340" y="2984"/>
              <a:ext cx="2789" cy="386"/>
            </a:xfrm>
            <a:prstGeom prst="rect">
              <a:avLst/>
            </a:prstGeom>
            <a:noFill/>
            <a:ln w="9525">
              <a:noFill/>
            </a:ln>
          </p:spPr>
          <p:txBody>
            <a:bodyPr wrap="square" lIns="0" tIns="0" rIns="0" bIns="0" anchor="t" anchorCtr="0">
              <a:noAutofit/>
            </a:bodyPr>
            <a:lstStyle/>
            <a:p>
              <a:pPr algn="r" defTabSz="911225">
                <a:spcBef>
                  <a:spcPct val="20000"/>
                </a:spcBef>
              </a:pPr>
              <a:r>
                <a:rPr lang="en-US" altLang="en-US" sz="1600" b="1" dirty="0">
                  <a:solidFill>
                    <a:schemeClr val="bg1"/>
                  </a:solidFill>
                  <a:latin typeface="Arial" panose="020B0704020202020204" pitchFamily="34" charset="0"/>
                  <a:ea typeface="Microsoft YaHei" charset="-122"/>
                  <a:sym typeface="Arial" panose="020B0704020202020204" pitchFamily="34" charset="0"/>
                </a:rPr>
                <a:t>Categorical Data</a:t>
              </a:r>
            </a:p>
          </p:txBody>
        </p:sp>
        <p:sp>
          <p:nvSpPr>
            <p:cNvPr id="17431" name="TextBox 13"/>
            <p:cNvSpPr txBox="1"/>
            <p:nvPr/>
          </p:nvSpPr>
          <p:spPr>
            <a:xfrm>
              <a:off x="969" y="3579"/>
              <a:ext cx="3142" cy="987"/>
            </a:xfrm>
            <a:prstGeom prst="rect">
              <a:avLst/>
            </a:prstGeom>
            <a:noFill/>
            <a:ln w="9525">
              <a:noFill/>
            </a:ln>
          </p:spPr>
          <p:txBody>
            <a:bodyPr lIns="0" tIns="0" rIns="0" bIns="0" anchor="t">
              <a:spAutoFit/>
            </a:bodyPr>
            <a:lstStyle/>
            <a:p>
              <a:pPr algn="r" defTabSz="911225">
                <a:spcBef>
                  <a:spcPct val="20000"/>
                </a:spcBef>
              </a:pPr>
              <a:r>
                <a:rPr lang="en-US" altLang="en-US" sz="1080" noProof="1">
                  <a:solidFill>
                    <a:schemeClr val="bg1"/>
                  </a:solidFill>
                  <a:latin typeface="Arial" panose="020B0704020202020204" pitchFamily="34" charset="0"/>
                  <a:ea typeface="Microsoft YaHei" charset="-122"/>
                  <a:cs typeface="+mn-cs"/>
                  <a:sym typeface="Arial" panose="020B0704020202020204" pitchFamily="34" charset="0"/>
                </a:rPr>
                <a:t>Includes variables like genre, artist name, and track name used for grouping and comparison.</a:t>
              </a:r>
            </a:p>
          </p:txBody>
        </p:sp>
        <p:sp>
          <p:nvSpPr>
            <p:cNvPr id="17429" name="TextBox 13"/>
            <p:cNvSpPr txBox="1"/>
            <p:nvPr/>
          </p:nvSpPr>
          <p:spPr>
            <a:xfrm>
              <a:off x="1641" y="5033"/>
              <a:ext cx="2488" cy="386"/>
            </a:xfrm>
            <a:prstGeom prst="rect">
              <a:avLst/>
            </a:prstGeom>
            <a:noFill/>
            <a:ln w="9525">
              <a:noFill/>
            </a:ln>
          </p:spPr>
          <p:txBody>
            <a:bodyPr wrap="square" lIns="0" tIns="0" rIns="0" bIns="0" anchor="t" anchorCtr="0">
              <a:noAutofit/>
            </a:bodyPr>
            <a:lstStyle/>
            <a:p>
              <a:pPr algn="r" defTabSz="911225">
                <a:spcBef>
                  <a:spcPct val="20000"/>
                </a:spcBef>
              </a:pPr>
              <a:r>
                <a:rPr lang="en-US" altLang="en-US" sz="1600" b="1" dirty="0">
                  <a:solidFill>
                    <a:schemeClr val="bg1"/>
                  </a:solidFill>
                  <a:latin typeface="Arial" panose="020B0704020202020204" pitchFamily="34" charset="0"/>
                  <a:ea typeface="Microsoft YaHei" charset="-122"/>
                  <a:sym typeface="Arial" panose="020B0704020202020204" pitchFamily="34" charset="0"/>
                </a:rPr>
                <a:t>Numerical Data</a:t>
              </a:r>
            </a:p>
          </p:txBody>
        </p:sp>
        <p:sp>
          <p:nvSpPr>
            <p:cNvPr id="17433" name="TextBox 13"/>
            <p:cNvSpPr txBox="1"/>
            <p:nvPr/>
          </p:nvSpPr>
          <p:spPr>
            <a:xfrm>
              <a:off x="969" y="5628"/>
              <a:ext cx="3142" cy="740"/>
            </a:xfrm>
            <a:prstGeom prst="rect">
              <a:avLst/>
            </a:prstGeom>
            <a:noFill/>
            <a:ln w="9525">
              <a:noFill/>
            </a:ln>
          </p:spPr>
          <p:txBody>
            <a:bodyPr lIns="0" tIns="0" rIns="0" bIns="0" anchor="t">
              <a:spAutoFit/>
            </a:bodyPr>
            <a:lstStyle/>
            <a:p>
              <a:pPr algn="r" defTabSz="911225">
                <a:spcBef>
                  <a:spcPct val="20000"/>
                </a:spcBef>
              </a:pPr>
              <a:r>
                <a:rPr lang="en-US" altLang="en-US" sz="1080" noProof="1">
                  <a:solidFill>
                    <a:schemeClr val="bg1"/>
                  </a:solidFill>
                  <a:latin typeface="Arial" panose="020B0704020202020204" pitchFamily="34" charset="0"/>
                  <a:ea typeface="Microsoft YaHei" charset="-122"/>
                  <a:cs typeface="+mn-cs"/>
                  <a:sym typeface="Arial" panose="020B0704020202020204" pitchFamily="34" charset="0"/>
                </a:rPr>
                <a:t>Features like popularity, danceability, and duration provide measurable insights.</a:t>
              </a:r>
            </a:p>
          </p:txBody>
        </p:sp>
        <p:sp>
          <p:nvSpPr>
            <p:cNvPr id="2" name="TextBox 13"/>
            <p:cNvSpPr txBox="1"/>
            <p:nvPr/>
          </p:nvSpPr>
          <p:spPr>
            <a:xfrm>
              <a:off x="9976" y="2984"/>
              <a:ext cx="2325" cy="365"/>
            </a:xfrm>
            <a:prstGeom prst="rect">
              <a:avLst/>
            </a:prstGeom>
            <a:noFill/>
            <a:ln w="9525">
              <a:noFill/>
            </a:ln>
          </p:spPr>
          <p:txBody>
            <a:bodyPr wrap="square" lIns="0" tIns="0" rIns="0" bIns="0" anchor="t" anchorCtr="0">
              <a:spAutoFit/>
            </a:bodyPr>
            <a:lstStyle/>
            <a:p>
              <a:pPr defTabSz="911225">
                <a:spcBef>
                  <a:spcPct val="20000"/>
                </a:spcBef>
              </a:pPr>
              <a:r>
                <a:rPr lang="en-US" altLang="en-US" sz="1600" b="1" dirty="0">
                  <a:solidFill>
                    <a:schemeClr val="bg1"/>
                  </a:solidFill>
                  <a:latin typeface="Arial" panose="020B0704020202020204" pitchFamily="34" charset="0"/>
                  <a:ea typeface="Microsoft YaHei" charset="-122"/>
                  <a:sym typeface="Arial" panose="020B0704020202020204" pitchFamily="34" charset="0"/>
                </a:rPr>
                <a:t>Variability</a:t>
              </a:r>
            </a:p>
          </p:txBody>
        </p:sp>
        <p:sp>
          <p:nvSpPr>
            <p:cNvPr id="17435" name="TextBox 13"/>
            <p:cNvSpPr txBox="1"/>
            <p:nvPr/>
          </p:nvSpPr>
          <p:spPr>
            <a:xfrm>
              <a:off x="9981" y="3579"/>
              <a:ext cx="3142" cy="740"/>
            </a:xfrm>
            <a:prstGeom prst="rect">
              <a:avLst/>
            </a:prstGeom>
            <a:noFill/>
            <a:ln w="9525">
              <a:noFill/>
            </a:ln>
          </p:spPr>
          <p:txBody>
            <a:bodyPr lIns="0" tIns="0" rIns="0" bIns="0" anchor="t">
              <a:spAutoFit/>
            </a:bodyPr>
            <a:lstStyle/>
            <a:p>
              <a:pPr defTabSz="911225">
                <a:spcBef>
                  <a:spcPct val="20000"/>
                </a:spcBef>
              </a:pPr>
              <a:r>
                <a:rPr lang="en-US" altLang="en-US" sz="1080" noProof="1">
                  <a:solidFill>
                    <a:schemeClr val="bg1"/>
                  </a:solidFill>
                  <a:latin typeface="Arial" panose="020B0704020202020204" pitchFamily="34" charset="0"/>
                  <a:ea typeface="Microsoft YaHei" charset="-122"/>
                  <a:cs typeface="+mn-cs"/>
                  <a:sym typeface="Arial" panose="020B0704020202020204" pitchFamily="34" charset="0"/>
                </a:rPr>
                <a:t>High variation across genres and artists reflects diverse music styles and user preferences.</a:t>
              </a:r>
            </a:p>
          </p:txBody>
        </p:sp>
        <p:sp>
          <p:nvSpPr>
            <p:cNvPr id="3" name="TextBox 13"/>
            <p:cNvSpPr txBox="1"/>
            <p:nvPr/>
          </p:nvSpPr>
          <p:spPr>
            <a:xfrm>
              <a:off x="9976" y="5033"/>
              <a:ext cx="2790" cy="365"/>
            </a:xfrm>
            <a:prstGeom prst="rect">
              <a:avLst/>
            </a:prstGeom>
            <a:noFill/>
            <a:ln w="9525">
              <a:noFill/>
            </a:ln>
          </p:spPr>
          <p:txBody>
            <a:bodyPr wrap="square" lIns="0" tIns="0" rIns="0" bIns="0" anchor="t" anchorCtr="0">
              <a:spAutoFit/>
            </a:bodyPr>
            <a:lstStyle/>
            <a:p>
              <a:pPr defTabSz="911225">
                <a:spcBef>
                  <a:spcPct val="20000"/>
                </a:spcBef>
              </a:pPr>
              <a:r>
                <a:rPr lang="en-US" altLang="en-US" sz="1600" b="1" dirty="0">
                  <a:solidFill>
                    <a:schemeClr val="bg1"/>
                  </a:solidFill>
                  <a:latin typeface="Arial" panose="020B0704020202020204" pitchFamily="34" charset="0"/>
                  <a:ea typeface="Microsoft YaHei" charset="-122"/>
                  <a:sym typeface="Arial" panose="020B0704020202020204" pitchFamily="34" charset="0"/>
                </a:rPr>
                <a:t>Data Granularity</a:t>
              </a:r>
            </a:p>
          </p:txBody>
        </p:sp>
        <p:sp>
          <p:nvSpPr>
            <p:cNvPr id="17437" name="TextBox 13"/>
            <p:cNvSpPr txBox="1"/>
            <p:nvPr/>
          </p:nvSpPr>
          <p:spPr>
            <a:xfrm>
              <a:off x="9981" y="5628"/>
              <a:ext cx="3142" cy="740"/>
            </a:xfrm>
            <a:prstGeom prst="rect">
              <a:avLst/>
            </a:prstGeom>
            <a:noFill/>
            <a:ln w="9525">
              <a:noFill/>
            </a:ln>
          </p:spPr>
          <p:txBody>
            <a:bodyPr lIns="0" tIns="0" rIns="0" bIns="0" anchor="t">
              <a:spAutoFit/>
            </a:bodyPr>
            <a:lstStyle/>
            <a:p>
              <a:pPr defTabSz="911225">
                <a:spcBef>
                  <a:spcPct val="20000"/>
                </a:spcBef>
              </a:pPr>
              <a:r>
                <a:rPr lang="en-US" altLang="en-US" sz="1080" noProof="1">
                  <a:solidFill>
                    <a:schemeClr val="bg1"/>
                  </a:solidFill>
                  <a:latin typeface="Arial" panose="020B0704020202020204" pitchFamily="34" charset="0"/>
                  <a:ea typeface="Microsoft YaHei" charset="-122"/>
                  <a:cs typeface="+mn-cs"/>
                  <a:sym typeface="Arial" panose="020B0704020202020204" pitchFamily="34" charset="0"/>
                </a:rPr>
                <a:t>Each row represents a single track, allowing detailed song-level analysis.</a:t>
              </a:r>
            </a:p>
          </p:txBody>
        </p:sp>
      </p:grpSp>
      <p:sp>
        <p:nvSpPr>
          <p:cNvPr id="45" name="Freeform 105"/>
          <p:cNvSpPr>
            <a:spLocks noEditPoints="1"/>
          </p:cNvSpPr>
          <p:nvPr/>
        </p:nvSpPr>
        <p:spPr bwMode="auto">
          <a:xfrm>
            <a:off x="5008245" y="3496945"/>
            <a:ext cx="521208" cy="521208"/>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dirty="0">
              <a:ln>
                <a:noFill/>
              </a:ln>
              <a:solidFill>
                <a:srgbClr val="2AC2AC">
                  <a:lumMod val="50000"/>
                </a:srgbClr>
              </a:solidFill>
              <a:effectLst/>
              <a:uLnTx/>
              <a:uFillTx/>
              <a:latin typeface="Arial" panose="020B0704020202020204" pitchFamily="34" charset="0"/>
              <a:ea typeface="Microsoft YaHei" charset="-122"/>
              <a:cs typeface="+mn-ea"/>
              <a:sym typeface="Arial" panose="020B0704020202020204" pitchFamily="34" charset="0"/>
            </a:endParaRPr>
          </a:p>
        </p:txBody>
      </p:sp>
      <p:pic>
        <p:nvPicPr>
          <p:cNvPr id="12" name="Picture 11"/>
          <p:cNvPicPr/>
          <p:nvPr/>
        </p:nvPicPr>
        <p:blipFill>
          <a:blip r:embed="rId2"/>
          <a:srcRect l="21899" r="22073"/>
          <a:stretch>
            <a:fillRect/>
          </a:stretch>
        </p:blipFill>
        <p:spPr>
          <a:xfrm>
            <a:off x="3655695" y="2073275"/>
            <a:ext cx="521208" cy="521208"/>
          </a:xfrm>
          <a:prstGeom prst="rect">
            <a:avLst/>
          </a:prstGeom>
        </p:spPr>
      </p:pic>
      <p:pic>
        <p:nvPicPr>
          <p:cNvPr id="13" name="Picture 12"/>
          <p:cNvPicPr>
            <a:picLocks noChangeAspect="1"/>
          </p:cNvPicPr>
          <p:nvPr/>
        </p:nvPicPr>
        <p:blipFill>
          <a:blip r:embed="rId3"/>
          <a:stretch>
            <a:fillRect/>
          </a:stretch>
        </p:blipFill>
        <p:spPr>
          <a:xfrm>
            <a:off x="4866640" y="1955165"/>
            <a:ext cx="821690" cy="8216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563880" y="1403350"/>
            <a:ext cx="3198495" cy="3263265"/>
          </a:xfrm>
        </p:spPr>
        <p:txBody>
          <a:bodyPr/>
          <a:lstStyle/>
          <a:p>
            <a:pPr>
              <a:lnSpc>
                <a:spcPct val="100000"/>
              </a:lnSpc>
            </a:pPr>
            <a:r>
              <a:rPr lang="en-US" altLang="en-US" sz="1700">
                <a:solidFill>
                  <a:schemeClr val="bg1"/>
                </a:solidFill>
                <a:latin typeface="Arial Regular" panose="020B0704020202020204" charset="0"/>
                <a:cs typeface="Arial Regular" panose="020B0704020202020204" charset="0"/>
              </a:rPr>
              <a:t>The dataset used in this project was sourced from Kaggle, titled “Spotify Tracks Dataset”, which contains detailed information on tracks, artists, genres, and audio features. It represents a curated snapshot of Spotify’s music catalog, suitable for music trend analysis, artist performance evaluation, and feature-based recommendations.</a:t>
            </a:r>
          </a:p>
        </p:txBody>
      </p:sp>
      <p:sp>
        <p:nvSpPr>
          <p:cNvPr id="4" name="Text Box 3"/>
          <p:cNvSpPr txBox="1"/>
          <p:nvPr/>
        </p:nvSpPr>
        <p:spPr>
          <a:xfrm>
            <a:off x="435610" y="161925"/>
            <a:ext cx="67716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DATA SOURCE</a:t>
            </a:r>
          </a:p>
        </p:txBody>
      </p:sp>
      <p:cxnSp>
        <p:nvCxnSpPr>
          <p:cNvPr id="5" name="Straight Connector 4"/>
          <p:cNvCxnSpPr/>
          <p:nvPr/>
        </p:nvCxnSpPr>
        <p:spPr>
          <a:xfrm>
            <a:off x="532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pic>
        <p:nvPicPr>
          <p:cNvPr id="8" name="Picture 7"/>
          <p:cNvPicPr>
            <a:picLocks noChangeAspect="1"/>
          </p:cNvPicPr>
          <p:nvPr/>
        </p:nvPicPr>
        <p:blipFill>
          <a:blip r:embed="rId2"/>
          <a:srcRect t="10104" b="15035"/>
          <a:stretch>
            <a:fillRect/>
          </a:stretch>
        </p:blipFill>
        <p:spPr>
          <a:xfrm>
            <a:off x="3997960" y="1351280"/>
            <a:ext cx="1828800" cy="1369060"/>
          </a:xfrm>
          <a:prstGeom prst="rect">
            <a:avLst/>
          </a:prstGeom>
        </p:spPr>
      </p:pic>
      <p:pic>
        <p:nvPicPr>
          <p:cNvPr id="12" name="Picture 11" descr="Screen Shot 2025-04-16 at 2.34.36 PM"/>
          <p:cNvPicPr>
            <a:picLocks noChangeAspect="1"/>
          </p:cNvPicPr>
          <p:nvPr/>
        </p:nvPicPr>
        <p:blipFill>
          <a:blip r:embed="rId3"/>
          <a:stretch>
            <a:fillRect/>
          </a:stretch>
        </p:blipFill>
        <p:spPr>
          <a:xfrm>
            <a:off x="6049645" y="1348740"/>
            <a:ext cx="2563073" cy="1371600"/>
          </a:xfrm>
          <a:prstGeom prst="rect">
            <a:avLst/>
          </a:prstGeom>
        </p:spPr>
      </p:pic>
      <p:pic>
        <p:nvPicPr>
          <p:cNvPr id="15" name="Picture 14"/>
          <p:cNvPicPr>
            <a:picLocks noChangeAspect="1"/>
          </p:cNvPicPr>
          <p:nvPr/>
        </p:nvPicPr>
        <p:blipFill>
          <a:blip r:embed="rId4"/>
          <a:srcRect b="42515"/>
          <a:stretch>
            <a:fillRect/>
          </a:stretch>
        </p:blipFill>
        <p:spPr>
          <a:xfrm>
            <a:off x="3998595" y="2852420"/>
            <a:ext cx="4572000" cy="17506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8610" y="161925"/>
            <a:ext cx="67716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DATA QUALITY</a:t>
            </a:r>
          </a:p>
        </p:txBody>
      </p:sp>
      <p:cxnSp>
        <p:nvCxnSpPr>
          <p:cNvPr id="5" name="Straight Connector 4"/>
          <p:cNvCxnSpPr/>
          <p:nvPr/>
        </p:nvCxnSpPr>
        <p:spPr>
          <a:xfrm>
            <a:off x="405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pic>
        <p:nvPicPr>
          <p:cNvPr id="7" name="Picture 6"/>
          <p:cNvPicPr/>
          <p:nvPr/>
        </p:nvPicPr>
        <p:blipFill>
          <a:blip r:embed="rId2"/>
          <a:stretch>
            <a:fillRect/>
          </a:stretch>
        </p:blipFill>
        <p:spPr>
          <a:xfrm>
            <a:off x="595630" y="1543050"/>
            <a:ext cx="4519930" cy="3059430"/>
          </a:xfrm>
          <a:prstGeom prst="rect">
            <a:avLst/>
          </a:prstGeom>
        </p:spPr>
      </p:pic>
      <p:sp>
        <p:nvSpPr>
          <p:cNvPr id="8" name="Text Placeholder 7"/>
          <p:cNvSpPr>
            <a:spLocks noGrp="1"/>
          </p:cNvSpPr>
          <p:nvPr>
            <p:ph type="body" sz="half" idx="2"/>
          </p:nvPr>
        </p:nvSpPr>
        <p:spPr>
          <a:xfrm>
            <a:off x="5594350" y="1542415"/>
            <a:ext cx="2948940" cy="3060065"/>
          </a:xfrm>
        </p:spPr>
        <p:txBody>
          <a:bodyPr/>
          <a:lstStyle/>
          <a:p>
            <a:pPr marL="0" indent="0">
              <a:lnSpc>
                <a:spcPct val="90000"/>
              </a:lnSpc>
              <a:buNone/>
            </a:pPr>
            <a:r>
              <a:rPr lang="en-US" altLang="en-US" sz="1700">
                <a:solidFill>
                  <a:schemeClr val="bg1"/>
                </a:solidFill>
                <a:latin typeface="Arial Regular" panose="020B0704020202020204" charset="0"/>
                <a:cs typeface="Arial Regular" panose="020B0704020202020204" charset="0"/>
              </a:rPr>
              <a:t>The dataset displays several quality concerns in its raw form. These include missing values in fields such as popularity and audio features, potential duplicate entries, and inconsistent text formats in columns like artist name and genre. Such issues may impact the reliability of analysis and require attention during the data preparation phase.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39"/>
          <p:cNvSpPr>
            <a:spLocks noChangeAspect="1" noTextEdit="1"/>
          </p:cNvSpPr>
          <p:nvPr/>
        </p:nvSpPr>
        <p:spPr>
          <a:xfrm rot="10800000">
            <a:off x="1143000" y="-117475"/>
            <a:ext cx="4122738" cy="5262563"/>
          </a:xfrm>
          <a:prstGeom prst="rect">
            <a:avLst/>
          </a:prstGeom>
          <a:noFill/>
          <a:ln w="9525">
            <a:noFill/>
          </a:ln>
        </p:spPr>
        <p:txBody>
          <a:bodyPr anchor="t" anchorCtr="0"/>
          <a:lstStyle/>
          <a:p>
            <a:pPr eaLnBrk="0" hangingPunct="0"/>
            <a:endParaRPr lang="zh-CN" altLang="en-US" sz="100">
              <a:latin typeface="Calibri" pitchFamily="34" charset="0"/>
              <a:ea typeface="SimSun" pitchFamily="2" charset="-122"/>
            </a:endParaRPr>
          </a:p>
        </p:txBody>
      </p:sp>
      <p:sp>
        <p:nvSpPr>
          <p:cNvPr id="2" name="Text Box 1"/>
          <p:cNvSpPr txBox="1"/>
          <p:nvPr/>
        </p:nvSpPr>
        <p:spPr>
          <a:xfrm>
            <a:off x="1684020" y="1471930"/>
            <a:ext cx="2297430" cy="1861185"/>
          </a:xfrm>
          <a:prstGeom prst="rect">
            <a:avLst/>
          </a:prstGeom>
          <a:noFill/>
        </p:spPr>
        <p:txBody>
          <a:bodyPr wrap="square" rtlCol="0">
            <a:spAutoFit/>
          </a:bodyPr>
          <a:lstStyle/>
          <a:p>
            <a:pPr algn="ctr"/>
            <a:r>
              <a:rPr lang="en-US" sz="11500">
                <a:solidFill>
                  <a:schemeClr val="bg1"/>
                </a:solidFill>
                <a:latin typeface="Arial Black" panose="020B0A04020102020204" charset="0"/>
                <a:cs typeface="Arial Black" panose="020B0A04020102020204" charset="0"/>
              </a:rPr>
              <a:t>03</a:t>
            </a:r>
          </a:p>
        </p:txBody>
      </p:sp>
      <p:sp>
        <p:nvSpPr>
          <p:cNvPr id="3" name="Text Box 2"/>
          <p:cNvSpPr txBox="1"/>
          <p:nvPr/>
        </p:nvSpPr>
        <p:spPr>
          <a:xfrm>
            <a:off x="4304030" y="2122805"/>
            <a:ext cx="4254500" cy="746760"/>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PROCESS</a:t>
            </a:r>
          </a:p>
        </p:txBody>
      </p:sp>
      <p:cxnSp>
        <p:nvCxnSpPr>
          <p:cNvPr id="4" name="Straight Connector 3"/>
          <p:cNvCxnSpPr/>
          <p:nvPr/>
        </p:nvCxnSpPr>
        <p:spPr>
          <a:xfrm>
            <a:off x="1329055" y="3424555"/>
            <a:ext cx="612648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22910" y="161925"/>
            <a:ext cx="67716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PROCESS</a:t>
            </a:r>
          </a:p>
        </p:txBody>
      </p:sp>
      <p:cxnSp>
        <p:nvCxnSpPr>
          <p:cNvPr id="5" name="Straight Connector 4"/>
          <p:cNvCxnSpPr/>
          <p:nvPr/>
        </p:nvCxnSpPr>
        <p:spPr>
          <a:xfrm>
            <a:off x="5194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18" name="Freeform 14"/>
          <p:cNvSpPr/>
          <p:nvPr/>
        </p:nvSpPr>
        <p:spPr bwMode="auto">
          <a:xfrm>
            <a:off x="1515745" y="1642745"/>
            <a:ext cx="853440" cy="1050290"/>
          </a:xfrm>
          <a:custGeom>
            <a:avLst/>
            <a:gdLst>
              <a:gd name="T0" fmla="*/ 262 w 432"/>
              <a:gd name="T1" fmla="*/ 0 h 531"/>
              <a:gd name="T2" fmla="*/ 170 w 432"/>
              <a:gd name="T3" fmla="*/ 0 h 531"/>
              <a:gd name="T4" fmla="*/ 0 w 432"/>
              <a:gd name="T5" fmla="*/ 170 h 531"/>
              <a:gd name="T6" fmla="*/ 0 w 432"/>
              <a:gd name="T7" fmla="*/ 238 h 531"/>
              <a:gd name="T8" fmla="*/ 170 w 432"/>
              <a:gd name="T9" fmla="*/ 408 h 531"/>
              <a:gd name="T10" fmla="*/ 200 w 432"/>
              <a:gd name="T11" fmla="*/ 408 h 531"/>
              <a:gd name="T12" fmla="*/ 217 w 432"/>
              <a:gd name="T13" fmla="*/ 531 h 531"/>
              <a:gd name="T14" fmla="*/ 233 w 432"/>
              <a:gd name="T15" fmla="*/ 408 h 531"/>
              <a:gd name="T16" fmla="*/ 262 w 432"/>
              <a:gd name="T17" fmla="*/ 408 h 531"/>
              <a:gd name="T18" fmla="*/ 432 w 432"/>
              <a:gd name="T19" fmla="*/ 238 h 531"/>
              <a:gd name="T20" fmla="*/ 432 w 432"/>
              <a:gd name="T21" fmla="*/ 170 h 531"/>
              <a:gd name="T22" fmla="*/ 262 w 432"/>
              <a:gd name="T23"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531">
                <a:moveTo>
                  <a:pt x="262" y="0"/>
                </a:moveTo>
                <a:cubicBezTo>
                  <a:pt x="170" y="0"/>
                  <a:pt x="170" y="0"/>
                  <a:pt x="170" y="0"/>
                </a:cubicBezTo>
                <a:cubicBezTo>
                  <a:pt x="76" y="0"/>
                  <a:pt x="0" y="76"/>
                  <a:pt x="0" y="170"/>
                </a:cubicBezTo>
                <a:cubicBezTo>
                  <a:pt x="0" y="238"/>
                  <a:pt x="0" y="238"/>
                  <a:pt x="0" y="238"/>
                </a:cubicBezTo>
                <a:cubicBezTo>
                  <a:pt x="0" y="332"/>
                  <a:pt x="76" y="408"/>
                  <a:pt x="170" y="408"/>
                </a:cubicBezTo>
                <a:cubicBezTo>
                  <a:pt x="200" y="408"/>
                  <a:pt x="200" y="408"/>
                  <a:pt x="200" y="408"/>
                </a:cubicBezTo>
                <a:cubicBezTo>
                  <a:pt x="217" y="531"/>
                  <a:pt x="217" y="531"/>
                  <a:pt x="217" y="531"/>
                </a:cubicBezTo>
                <a:cubicBezTo>
                  <a:pt x="233" y="408"/>
                  <a:pt x="233" y="408"/>
                  <a:pt x="233" y="408"/>
                </a:cubicBezTo>
                <a:cubicBezTo>
                  <a:pt x="262" y="408"/>
                  <a:pt x="262" y="408"/>
                  <a:pt x="262" y="408"/>
                </a:cubicBezTo>
                <a:cubicBezTo>
                  <a:pt x="356" y="408"/>
                  <a:pt x="432" y="332"/>
                  <a:pt x="432" y="238"/>
                </a:cubicBezTo>
                <a:cubicBezTo>
                  <a:pt x="432" y="170"/>
                  <a:pt x="432" y="170"/>
                  <a:pt x="432" y="170"/>
                </a:cubicBezTo>
                <a:cubicBezTo>
                  <a:pt x="432" y="76"/>
                  <a:pt x="356" y="0"/>
                  <a:pt x="262" y="0"/>
                </a:cubicBezTo>
                <a:close/>
              </a:path>
            </a:pathLst>
          </a:custGeom>
          <a:solidFill>
            <a:srgbClr val="1ED760"/>
          </a:solidFill>
          <a:ln>
            <a:noFill/>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30" name="Freeform 14"/>
          <p:cNvSpPr/>
          <p:nvPr/>
        </p:nvSpPr>
        <p:spPr bwMode="auto">
          <a:xfrm>
            <a:off x="3293745" y="1642745"/>
            <a:ext cx="851535" cy="1050290"/>
          </a:xfrm>
          <a:custGeom>
            <a:avLst/>
            <a:gdLst>
              <a:gd name="T0" fmla="*/ 262 w 432"/>
              <a:gd name="T1" fmla="*/ 0 h 531"/>
              <a:gd name="T2" fmla="*/ 170 w 432"/>
              <a:gd name="T3" fmla="*/ 0 h 531"/>
              <a:gd name="T4" fmla="*/ 0 w 432"/>
              <a:gd name="T5" fmla="*/ 170 h 531"/>
              <a:gd name="T6" fmla="*/ 0 w 432"/>
              <a:gd name="T7" fmla="*/ 238 h 531"/>
              <a:gd name="T8" fmla="*/ 170 w 432"/>
              <a:gd name="T9" fmla="*/ 408 h 531"/>
              <a:gd name="T10" fmla="*/ 200 w 432"/>
              <a:gd name="T11" fmla="*/ 408 h 531"/>
              <a:gd name="T12" fmla="*/ 217 w 432"/>
              <a:gd name="T13" fmla="*/ 531 h 531"/>
              <a:gd name="T14" fmla="*/ 233 w 432"/>
              <a:gd name="T15" fmla="*/ 408 h 531"/>
              <a:gd name="T16" fmla="*/ 262 w 432"/>
              <a:gd name="T17" fmla="*/ 408 h 531"/>
              <a:gd name="T18" fmla="*/ 432 w 432"/>
              <a:gd name="T19" fmla="*/ 238 h 531"/>
              <a:gd name="T20" fmla="*/ 432 w 432"/>
              <a:gd name="T21" fmla="*/ 170 h 531"/>
              <a:gd name="T22" fmla="*/ 262 w 432"/>
              <a:gd name="T23"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531">
                <a:moveTo>
                  <a:pt x="262" y="0"/>
                </a:moveTo>
                <a:cubicBezTo>
                  <a:pt x="170" y="0"/>
                  <a:pt x="170" y="0"/>
                  <a:pt x="170" y="0"/>
                </a:cubicBezTo>
                <a:cubicBezTo>
                  <a:pt x="76" y="0"/>
                  <a:pt x="0" y="76"/>
                  <a:pt x="0" y="170"/>
                </a:cubicBezTo>
                <a:cubicBezTo>
                  <a:pt x="0" y="238"/>
                  <a:pt x="0" y="238"/>
                  <a:pt x="0" y="238"/>
                </a:cubicBezTo>
                <a:cubicBezTo>
                  <a:pt x="0" y="332"/>
                  <a:pt x="76" y="408"/>
                  <a:pt x="170" y="408"/>
                </a:cubicBezTo>
                <a:cubicBezTo>
                  <a:pt x="200" y="408"/>
                  <a:pt x="200" y="408"/>
                  <a:pt x="200" y="408"/>
                </a:cubicBezTo>
                <a:cubicBezTo>
                  <a:pt x="217" y="531"/>
                  <a:pt x="217" y="531"/>
                  <a:pt x="217" y="531"/>
                </a:cubicBezTo>
                <a:cubicBezTo>
                  <a:pt x="233" y="408"/>
                  <a:pt x="233" y="408"/>
                  <a:pt x="233" y="408"/>
                </a:cubicBezTo>
                <a:cubicBezTo>
                  <a:pt x="262" y="408"/>
                  <a:pt x="262" y="408"/>
                  <a:pt x="262" y="408"/>
                </a:cubicBezTo>
                <a:cubicBezTo>
                  <a:pt x="356" y="408"/>
                  <a:pt x="432" y="332"/>
                  <a:pt x="432" y="238"/>
                </a:cubicBezTo>
                <a:cubicBezTo>
                  <a:pt x="432" y="170"/>
                  <a:pt x="432" y="170"/>
                  <a:pt x="432" y="170"/>
                </a:cubicBezTo>
                <a:cubicBezTo>
                  <a:pt x="432" y="76"/>
                  <a:pt x="356" y="0"/>
                  <a:pt x="262" y="0"/>
                </a:cubicBezTo>
                <a:close/>
              </a:path>
            </a:pathLst>
          </a:custGeom>
          <a:solidFill>
            <a:srgbClr val="1ED760"/>
          </a:solidFill>
          <a:ln>
            <a:noFill/>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37" name="Freeform 14"/>
          <p:cNvSpPr/>
          <p:nvPr/>
        </p:nvSpPr>
        <p:spPr bwMode="auto">
          <a:xfrm>
            <a:off x="5069840" y="1642745"/>
            <a:ext cx="851535" cy="1050290"/>
          </a:xfrm>
          <a:custGeom>
            <a:avLst/>
            <a:gdLst>
              <a:gd name="T0" fmla="*/ 262 w 432"/>
              <a:gd name="T1" fmla="*/ 0 h 531"/>
              <a:gd name="T2" fmla="*/ 170 w 432"/>
              <a:gd name="T3" fmla="*/ 0 h 531"/>
              <a:gd name="T4" fmla="*/ 0 w 432"/>
              <a:gd name="T5" fmla="*/ 170 h 531"/>
              <a:gd name="T6" fmla="*/ 0 w 432"/>
              <a:gd name="T7" fmla="*/ 238 h 531"/>
              <a:gd name="T8" fmla="*/ 170 w 432"/>
              <a:gd name="T9" fmla="*/ 408 h 531"/>
              <a:gd name="T10" fmla="*/ 200 w 432"/>
              <a:gd name="T11" fmla="*/ 408 h 531"/>
              <a:gd name="T12" fmla="*/ 217 w 432"/>
              <a:gd name="T13" fmla="*/ 531 h 531"/>
              <a:gd name="T14" fmla="*/ 233 w 432"/>
              <a:gd name="T15" fmla="*/ 408 h 531"/>
              <a:gd name="T16" fmla="*/ 262 w 432"/>
              <a:gd name="T17" fmla="*/ 408 h 531"/>
              <a:gd name="T18" fmla="*/ 432 w 432"/>
              <a:gd name="T19" fmla="*/ 238 h 531"/>
              <a:gd name="T20" fmla="*/ 432 w 432"/>
              <a:gd name="T21" fmla="*/ 170 h 531"/>
              <a:gd name="T22" fmla="*/ 262 w 432"/>
              <a:gd name="T23"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531">
                <a:moveTo>
                  <a:pt x="262" y="0"/>
                </a:moveTo>
                <a:cubicBezTo>
                  <a:pt x="170" y="0"/>
                  <a:pt x="170" y="0"/>
                  <a:pt x="170" y="0"/>
                </a:cubicBezTo>
                <a:cubicBezTo>
                  <a:pt x="76" y="0"/>
                  <a:pt x="0" y="76"/>
                  <a:pt x="0" y="170"/>
                </a:cubicBezTo>
                <a:cubicBezTo>
                  <a:pt x="0" y="238"/>
                  <a:pt x="0" y="238"/>
                  <a:pt x="0" y="238"/>
                </a:cubicBezTo>
                <a:cubicBezTo>
                  <a:pt x="0" y="332"/>
                  <a:pt x="76" y="408"/>
                  <a:pt x="170" y="408"/>
                </a:cubicBezTo>
                <a:cubicBezTo>
                  <a:pt x="200" y="408"/>
                  <a:pt x="200" y="408"/>
                  <a:pt x="200" y="408"/>
                </a:cubicBezTo>
                <a:cubicBezTo>
                  <a:pt x="217" y="531"/>
                  <a:pt x="217" y="531"/>
                  <a:pt x="217" y="531"/>
                </a:cubicBezTo>
                <a:cubicBezTo>
                  <a:pt x="233" y="408"/>
                  <a:pt x="233" y="408"/>
                  <a:pt x="233" y="408"/>
                </a:cubicBezTo>
                <a:cubicBezTo>
                  <a:pt x="262" y="408"/>
                  <a:pt x="262" y="408"/>
                  <a:pt x="262" y="408"/>
                </a:cubicBezTo>
                <a:cubicBezTo>
                  <a:pt x="356" y="408"/>
                  <a:pt x="432" y="332"/>
                  <a:pt x="432" y="238"/>
                </a:cubicBezTo>
                <a:cubicBezTo>
                  <a:pt x="432" y="170"/>
                  <a:pt x="432" y="170"/>
                  <a:pt x="432" y="170"/>
                </a:cubicBezTo>
                <a:cubicBezTo>
                  <a:pt x="432" y="76"/>
                  <a:pt x="356" y="0"/>
                  <a:pt x="262" y="0"/>
                </a:cubicBezTo>
                <a:close/>
              </a:path>
            </a:pathLst>
          </a:custGeom>
          <a:solidFill>
            <a:srgbClr val="1ED760"/>
          </a:solidFill>
          <a:ln>
            <a:noFill/>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44" name="Freeform 14"/>
          <p:cNvSpPr/>
          <p:nvPr/>
        </p:nvSpPr>
        <p:spPr bwMode="auto">
          <a:xfrm>
            <a:off x="6845935" y="1642745"/>
            <a:ext cx="849630" cy="1050290"/>
          </a:xfrm>
          <a:custGeom>
            <a:avLst/>
            <a:gdLst>
              <a:gd name="T0" fmla="*/ 262 w 432"/>
              <a:gd name="T1" fmla="*/ 0 h 531"/>
              <a:gd name="T2" fmla="*/ 170 w 432"/>
              <a:gd name="T3" fmla="*/ 0 h 531"/>
              <a:gd name="T4" fmla="*/ 0 w 432"/>
              <a:gd name="T5" fmla="*/ 170 h 531"/>
              <a:gd name="T6" fmla="*/ 0 w 432"/>
              <a:gd name="T7" fmla="*/ 238 h 531"/>
              <a:gd name="T8" fmla="*/ 170 w 432"/>
              <a:gd name="T9" fmla="*/ 408 h 531"/>
              <a:gd name="T10" fmla="*/ 200 w 432"/>
              <a:gd name="T11" fmla="*/ 408 h 531"/>
              <a:gd name="T12" fmla="*/ 217 w 432"/>
              <a:gd name="T13" fmla="*/ 531 h 531"/>
              <a:gd name="T14" fmla="*/ 233 w 432"/>
              <a:gd name="T15" fmla="*/ 408 h 531"/>
              <a:gd name="T16" fmla="*/ 262 w 432"/>
              <a:gd name="T17" fmla="*/ 408 h 531"/>
              <a:gd name="T18" fmla="*/ 432 w 432"/>
              <a:gd name="T19" fmla="*/ 238 h 531"/>
              <a:gd name="T20" fmla="*/ 432 w 432"/>
              <a:gd name="T21" fmla="*/ 170 h 531"/>
              <a:gd name="T22" fmla="*/ 262 w 432"/>
              <a:gd name="T23"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531">
                <a:moveTo>
                  <a:pt x="262" y="0"/>
                </a:moveTo>
                <a:cubicBezTo>
                  <a:pt x="170" y="0"/>
                  <a:pt x="170" y="0"/>
                  <a:pt x="170" y="0"/>
                </a:cubicBezTo>
                <a:cubicBezTo>
                  <a:pt x="76" y="0"/>
                  <a:pt x="0" y="76"/>
                  <a:pt x="0" y="170"/>
                </a:cubicBezTo>
                <a:cubicBezTo>
                  <a:pt x="0" y="238"/>
                  <a:pt x="0" y="238"/>
                  <a:pt x="0" y="238"/>
                </a:cubicBezTo>
                <a:cubicBezTo>
                  <a:pt x="0" y="332"/>
                  <a:pt x="76" y="408"/>
                  <a:pt x="170" y="408"/>
                </a:cubicBezTo>
                <a:cubicBezTo>
                  <a:pt x="200" y="408"/>
                  <a:pt x="200" y="408"/>
                  <a:pt x="200" y="408"/>
                </a:cubicBezTo>
                <a:cubicBezTo>
                  <a:pt x="217" y="531"/>
                  <a:pt x="217" y="531"/>
                  <a:pt x="217" y="531"/>
                </a:cubicBezTo>
                <a:cubicBezTo>
                  <a:pt x="233" y="408"/>
                  <a:pt x="233" y="408"/>
                  <a:pt x="233" y="408"/>
                </a:cubicBezTo>
                <a:cubicBezTo>
                  <a:pt x="262" y="408"/>
                  <a:pt x="262" y="408"/>
                  <a:pt x="262" y="408"/>
                </a:cubicBezTo>
                <a:cubicBezTo>
                  <a:pt x="356" y="408"/>
                  <a:pt x="432" y="332"/>
                  <a:pt x="432" y="238"/>
                </a:cubicBezTo>
                <a:cubicBezTo>
                  <a:pt x="432" y="170"/>
                  <a:pt x="432" y="170"/>
                  <a:pt x="432" y="170"/>
                </a:cubicBezTo>
                <a:cubicBezTo>
                  <a:pt x="432" y="76"/>
                  <a:pt x="356" y="0"/>
                  <a:pt x="262" y="0"/>
                </a:cubicBezTo>
                <a:close/>
              </a:path>
            </a:pathLst>
          </a:custGeom>
          <a:solidFill>
            <a:srgbClr val="1ED760"/>
          </a:solidFill>
          <a:ln>
            <a:noFill/>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45" name="Freeform 105"/>
          <p:cNvSpPr>
            <a:spLocks noEditPoints="1"/>
          </p:cNvSpPr>
          <p:nvPr/>
        </p:nvSpPr>
        <p:spPr bwMode="auto">
          <a:xfrm>
            <a:off x="1736725" y="1843405"/>
            <a:ext cx="413385" cy="407670"/>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dirty="0">
              <a:ln>
                <a:noFill/>
              </a:ln>
              <a:solidFill>
                <a:srgbClr val="2AC2AC">
                  <a:lumMod val="50000"/>
                </a:srgbClr>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47" name="Freeform 57"/>
          <p:cNvSpPr>
            <a:spLocks noChangeAspect="1" noEditPoints="1"/>
          </p:cNvSpPr>
          <p:nvPr/>
        </p:nvSpPr>
        <p:spPr bwMode="auto">
          <a:xfrm>
            <a:off x="5297170" y="1849755"/>
            <a:ext cx="395605" cy="395605"/>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48" name="Freeform 135"/>
          <p:cNvSpPr>
            <a:spLocks noEditPoints="1"/>
          </p:cNvSpPr>
          <p:nvPr/>
        </p:nvSpPr>
        <p:spPr bwMode="auto">
          <a:xfrm>
            <a:off x="7066915" y="1833245"/>
            <a:ext cx="407670" cy="381000"/>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913130" rtl="0" eaLnBrk="1" fontAlgn="auto" latinLnBrk="0" hangingPunct="1">
              <a:lnSpc>
                <a:spcPct val="100000"/>
              </a:lnSpc>
              <a:spcBef>
                <a:spcPts val="0"/>
              </a:spcBef>
              <a:spcAft>
                <a:spcPts val="0"/>
              </a:spcAft>
              <a:buClrTx/>
              <a:buSzTx/>
              <a:buFontTx/>
              <a:buNone/>
              <a:defRPr/>
            </a:pPr>
            <a:endParaRPr kumimoji="0" lang="en-US" sz="17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grpSp>
        <p:nvGrpSpPr>
          <p:cNvPr id="20" name="Group 19"/>
          <p:cNvGrpSpPr/>
          <p:nvPr/>
        </p:nvGrpSpPr>
        <p:grpSpPr>
          <a:xfrm>
            <a:off x="1074420" y="3233818"/>
            <a:ext cx="1711960" cy="1150386"/>
            <a:chOff x="1480" y="5586"/>
            <a:chExt cx="2696" cy="915"/>
          </a:xfrm>
        </p:grpSpPr>
        <p:sp>
          <p:nvSpPr>
            <p:cNvPr id="12307" name="TextBox 13"/>
            <p:cNvSpPr txBox="1"/>
            <p:nvPr/>
          </p:nvSpPr>
          <p:spPr>
            <a:xfrm>
              <a:off x="1480" y="5586"/>
              <a:ext cx="2696" cy="377"/>
            </a:xfrm>
            <a:prstGeom prst="rect">
              <a:avLst/>
            </a:prstGeom>
            <a:noFill/>
            <a:ln w="9525">
              <a:noFill/>
            </a:ln>
          </p:spPr>
          <p:txBody>
            <a:bodyPr wrap="square" lIns="0" tIns="0" rIns="0" bIns="0" anchor="ctr" anchorCtr="0">
              <a:spAutoFit/>
            </a:bodyPr>
            <a:lstStyle/>
            <a:p>
              <a:pPr algn="ctr" defTabSz="913130">
                <a:spcBef>
                  <a:spcPct val="20000"/>
                </a:spcBef>
              </a:pPr>
              <a:r>
                <a:rPr lang="en-US" altLang="zh-CN" sz="1400" b="1">
                  <a:solidFill>
                    <a:schemeClr val="bg1"/>
                  </a:solidFill>
                  <a:latin typeface="Arial" panose="020B0704020202020204" pitchFamily="34" charset="0"/>
                  <a:ea typeface="Microsoft YaHei" charset="-122"/>
                  <a:sym typeface="Arial" panose="020B0704020202020204" pitchFamily="34" charset="0"/>
                </a:rPr>
                <a:t>Defining Objectives</a:t>
              </a:r>
            </a:p>
            <a:p>
              <a:pPr algn="ctr" defTabSz="913130">
                <a:spcBef>
                  <a:spcPct val="20000"/>
                </a:spcBef>
              </a:pPr>
              <a:r>
                <a:rPr lang="en-US" altLang="zh-CN" sz="1400" b="1" dirty="0">
                  <a:solidFill>
                    <a:schemeClr val="bg1"/>
                  </a:solidFill>
                  <a:latin typeface="Arial" panose="020B0704020202020204" pitchFamily="34" charset="0"/>
                  <a:ea typeface="Microsoft YaHei" charset="-122"/>
                  <a:sym typeface="Arial" panose="020B0704020202020204" pitchFamily="34" charset="0"/>
                </a:rPr>
                <a:t>&amp; Collecting Data</a:t>
              </a:r>
            </a:p>
          </p:txBody>
        </p:sp>
        <p:sp>
          <p:nvSpPr>
            <p:cNvPr id="50" name="TextBox 13"/>
            <p:cNvSpPr txBox="1"/>
            <p:nvPr/>
          </p:nvSpPr>
          <p:spPr>
            <a:xfrm>
              <a:off x="1579" y="6022"/>
              <a:ext cx="2342" cy="479"/>
            </a:xfrm>
            <a:prstGeom prst="rect">
              <a:avLst/>
            </a:prstGeom>
            <a:noFill/>
          </p:spPr>
          <p:txBody>
            <a:bodyPr wrap="square" lIns="0" tIns="0" rIns="0" bIns="0" rtlCol="0" anchor="t" anchorCtr="0">
              <a:spAutoFit/>
            </a:bodyPr>
            <a:lstStyle>
              <a:defPPr>
                <a:defRPr lang="zh-CN"/>
              </a:defPPr>
              <a:lvl1pPr defTabSz="1216660">
                <a:spcBef>
                  <a:spcPct val="20000"/>
                </a:spcBef>
                <a:defRPr sz="1200">
                  <a:solidFill>
                    <a:srgbClr val="000000"/>
                  </a:solidFill>
                  <a:latin typeface="Arial" panose="020B0704020202020204" pitchFamily="34" charset="0"/>
                  <a:ea typeface="Microsoft YaHei" charset="-122"/>
                </a:defRPr>
              </a:lvl1pPr>
            </a:lstStyle>
            <a:p>
              <a:pPr marL="0" marR="0" lvl="0" indent="0" algn="just" defTabSz="1216660" rtl="0" eaLnBrk="1" fontAlgn="auto" latinLnBrk="0" hangingPunct="1">
                <a:lnSpc>
                  <a:spcPct val="100000"/>
                </a:lnSpc>
                <a:spcBef>
                  <a:spcPct val="20000"/>
                </a:spcBef>
                <a:spcAft>
                  <a:spcPts val="0"/>
                </a:spcAft>
                <a:buClrTx/>
                <a:buSzTx/>
                <a:buFontTx/>
                <a:buNone/>
                <a:defRPr/>
              </a:pPr>
              <a:r>
                <a:rPr kumimoji="0" lang="en-US" altLang="en-US" sz="980" b="0" i="0" u="none" strike="noStrike" kern="1200" cap="none" spc="0" normalizeH="0" baseline="0" noProof="0">
                  <a:ln>
                    <a:noFill/>
                  </a:ln>
                  <a:solidFill>
                    <a:schemeClr val="bg1"/>
                  </a:solidFill>
                  <a:effectLst/>
                  <a:uLnTx/>
                  <a:uFillTx/>
                  <a:latin typeface="Arial" panose="020B0704020202020204" pitchFamily="34" charset="0"/>
                  <a:ea typeface="Microsoft YaHei" charset="-122"/>
                  <a:cs typeface="+mn-ea"/>
                  <a:sym typeface="Arial" panose="020B0704020202020204" pitchFamily="34" charset="0"/>
                </a:rPr>
                <a:t>Set clear goals to analyze Spotify’s strategy using a Kaggle dataset of tracks and features.</a:t>
              </a:r>
            </a:p>
          </p:txBody>
        </p:sp>
      </p:grpSp>
      <p:grpSp>
        <p:nvGrpSpPr>
          <p:cNvPr id="21" name="Group 20"/>
          <p:cNvGrpSpPr/>
          <p:nvPr/>
        </p:nvGrpSpPr>
        <p:grpSpPr>
          <a:xfrm>
            <a:off x="2969260" y="3235075"/>
            <a:ext cx="1487170" cy="1174274"/>
            <a:chOff x="4624" y="5587"/>
            <a:chExt cx="2342" cy="934"/>
          </a:xfrm>
        </p:grpSpPr>
        <p:sp>
          <p:nvSpPr>
            <p:cNvPr id="12309" name="TextBox 13"/>
            <p:cNvSpPr txBox="1"/>
            <p:nvPr/>
          </p:nvSpPr>
          <p:spPr>
            <a:xfrm>
              <a:off x="4798" y="5587"/>
              <a:ext cx="1954" cy="377"/>
            </a:xfrm>
            <a:prstGeom prst="rect">
              <a:avLst/>
            </a:prstGeom>
            <a:noFill/>
            <a:ln w="9525">
              <a:noFill/>
            </a:ln>
          </p:spPr>
          <p:txBody>
            <a:bodyPr wrap="square" lIns="0" tIns="0" rIns="0" bIns="0" anchor="ctr" anchorCtr="0">
              <a:spAutoFit/>
            </a:bodyPr>
            <a:lstStyle/>
            <a:p>
              <a:pPr algn="ctr" defTabSz="913130">
                <a:spcBef>
                  <a:spcPct val="20000"/>
                </a:spcBef>
              </a:pPr>
              <a:r>
                <a:rPr lang="en-US" altLang="zh-CN" sz="1400" b="1">
                  <a:solidFill>
                    <a:schemeClr val="bg1"/>
                  </a:solidFill>
                  <a:latin typeface="Arial" panose="020B0704020202020204" pitchFamily="34" charset="0"/>
                  <a:ea typeface="Microsoft YaHei" charset="-122"/>
                  <a:sym typeface="Arial" panose="020B0704020202020204" pitchFamily="34" charset="0"/>
                </a:rPr>
                <a:t>Data</a:t>
              </a:r>
            </a:p>
            <a:p>
              <a:pPr algn="ctr" defTabSz="913130">
                <a:spcBef>
                  <a:spcPct val="20000"/>
                </a:spcBef>
              </a:pPr>
              <a:r>
                <a:rPr lang="en-US" altLang="zh-CN" sz="1400" b="1">
                  <a:solidFill>
                    <a:schemeClr val="bg1"/>
                  </a:solidFill>
                  <a:latin typeface="Arial" panose="020B0704020202020204" pitchFamily="34" charset="0"/>
                  <a:ea typeface="Microsoft YaHei" charset="-122"/>
                  <a:sym typeface="Arial" panose="020B0704020202020204" pitchFamily="34" charset="0"/>
                </a:rPr>
                <a:t>Wrangling</a:t>
              </a:r>
            </a:p>
          </p:txBody>
        </p:sp>
        <p:sp>
          <p:nvSpPr>
            <p:cNvPr id="52" name="TextBox 13"/>
            <p:cNvSpPr txBox="1"/>
            <p:nvPr/>
          </p:nvSpPr>
          <p:spPr>
            <a:xfrm>
              <a:off x="4624" y="6042"/>
              <a:ext cx="2342" cy="479"/>
            </a:xfrm>
            <a:prstGeom prst="rect">
              <a:avLst/>
            </a:prstGeom>
            <a:noFill/>
          </p:spPr>
          <p:txBody>
            <a:bodyPr wrap="square" lIns="0" tIns="0" rIns="0" bIns="0" rtlCol="0" anchor="t" anchorCtr="0">
              <a:spAutoFit/>
            </a:bodyPr>
            <a:lstStyle>
              <a:defPPr>
                <a:defRPr lang="zh-CN"/>
              </a:defPPr>
              <a:lvl1pPr defTabSz="1216660">
                <a:spcBef>
                  <a:spcPct val="20000"/>
                </a:spcBef>
                <a:defRPr sz="1200">
                  <a:solidFill>
                    <a:srgbClr val="000000"/>
                  </a:solidFill>
                  <a:latin typeface="Arial" panose="020B0704020202020204" pitchFamily="34" charset="0"/>
                  <a:ea typeface="Microsoft YaHei" charset="-122"/>
                </a:defRPr>
              </a:lvl1pPr>
            </a:lstStyle>
            <a:p>
              <a:pPr marL="0" marR="0" lvl="0" indent="0" algn="just" defTabSz="1216660" rtl="0" eaLnBrk="1" fontAlgn="auto" latinLnBrk="0" hangingPunct="1">
                <a:lnSpc>
                  <a:spcPct val="100000"/>
                </a:lnSpc>
                <a:spcBef>
                  <a:spcPct val="20000"/>
                </a:spcBef>
                <a:spcAft>
                  <a:spcPts val="0"/>
                </a:spcAft>
                <a:buClrTx/>
                <a:buSzTx/>
                <a:buFontTx/>
                <a:buNone/>
                <a:defRPr/>
              </a:pPr>
              <a:r>
                <a:rPr kumimoji="0" lang="en-US" altLang="en-US" sz="980" b="0" i="0" u="none" strike="noStrike" kern="1200" cap="none" spc="0" normalizeH="0" baseline="0" noProof="0">
                  <a:ln>
                    <a:noFill/>
                  </a:ln>
                  <a:solidFill>
                    <a:schemeClr val="bg1"/>
                  </a:solidFill>
                  <a:effectLst/>
                  <a:uLnTx/>
                  <a:uFillTx/>
                  <a:latin typeface="Arial" panose="020B0704020202020204" pitchFamily="34" charset="0"/>
                  <a:ea typeface="Microsoft YaHei" charset="-122"/>
                  <a:cs typeface="+mn-ea"/>
                  <a:sym typeface="Arial" panose="020B0704020202020204" pitchFamily="34" charset="0"/>
                </a:rPr>
                <a:t>Identified and prepared data by handling missing values, duplicates, and formatting issues.</a:t>
              </a:r>
            </a:p>
          </p:txBody>
        </p:sp>
      </p:grpSp>
      <p:grpSp>
        <p:nvGrpSpPr>
          <p:cNvPr id="22" name="Group 21"/>
          <p:cNvGrpSpPr/>
          <p:nvPr/>
        </p:nvGrpSpPr>
        <p:grpSpPr>
          <a:xfrm>
            <a:off x="4795520" y="3256448"/>
            <a:ext cx="1487805" cy="1165473"/>
            <a:chOff x="7420" y="5604"/>
            <a:chExt cx="2343" cy="927"/>
          </a:xfrm>
        </p:grpSpPr>
        <p:sp>
          <p:nvSpPr>
            <p:cNvPr id="12311" name="TextBox 13"/>
            <p:cNvSpPr txBox="1"/>
            <p:nvPr/>
          </p:nvSpPr>
          <p:spPr>
            <a:xfrm>
              <a:off x="7598" y="5604"/>
              <a:ext cx="1951" cy="342"/>
            </a:xfrm>
            <a:prstGeom prst="rect">
              <a:avLst/>
            </a:prstGeom>
            <a:noFill/>
            <a:ln w="9525">
              <a:noFill/>
            </a:ln>
          </p:spPr>
          <p:txBody>
            <a:bodyPr wrap="square" lIns="0" tIns="0" rIns="0" bIns="0" anchor="ctr" anchorCtr="0">
              <a:spAutoFit/>
            </a:bodyPr>
            <a:lstStyle/>
            <a:p>
              <a:pPr algn="ctr" defTabSz="913130">
                <a:spcBef>
                  <a:spcPct val="20000"/>
                </a:spcBef>
              </a:pPr>
              <a:r>
                <a:rPr lang="en-US" altLang="zh-CN" sz="1400" b="1">
                  <a:solidFill>
                    <a:schemeClr val="bg1"/>
                  </a:solidFill>
                  <a:latin typeface="Arial" panose="020B0704020202020204" pitchFamily="34" charset="0"/>
                  <a:ea typeface="Microsoft YaHei" charset="-122"/>
                  <a:sym typeface="Arial" panose="020B0704020202020204" pitchFamily="34" charset="0"/>
                </a:rPr>
                <a:t>Comparitive Data Analysis</a:t>
              </a:r>
            </a:p>
          </p:txBody>
        </p:sp>
        <p:sp>
          <p:nvSpPr>
            <p:cNvPr id="54" name="TextBox 13"/>
            <p:cNvSpPr txBox="1"/>
            <p:nvPr/>
          </p:nvSpPr>
          <p:spPr>
            <a:xfrm>
              <a:off x="7420" y="6052"/>
              <a:ext cx="2343" cy="479"/>
            </a:xfrm>
            <a:prstGeom prst="rect">
              <a:avLst/>
            </a:prstGeom>
            <a:noFill/>
          </p:spPr>
          <p:txBody>
            <a:bodyPr wrap="square" lIns="0" tIns="0" rIns="0" bIns="0" rtlCol="0" anchor="t" anchorCtr="0">
              <a:spAutoFit/>
            </a:bodyPr>
            <a:lstStyle>
              <a:defPPr>
                <a:defRPr lang="zh-CN"/>
              </a:defPPr>
              <a:lvl1pPr defTabSz="1216660">
                <a:spcBef>
                  <a:spcPct val="20000"/>
                </a:spcBef>
                <a:defRPr sz="1200">
                  <a:solidFill>
                    <a:srgbClr val="000000"/>
                  </a:solidFill>
                  <a:latin typeface="Arial" panose="020B0704020202020204" pitchFamily="34" charset="0"/>
                  <a:ea typeface="Microsoft YaHei" charset="-122"/>
                </a:defRPr>
              </a:lvl1pPr>
            </a:lstStyle>
            <a:p>
              <a:pPr marL="0" marR="0" lvl="0" indent="0" algn="just" defTabSz="1216660" rtl="0" eaLnBrk="1" fontAlgn="auto" latinLnBrk="0" hangingPunct="1">
                <a:lnSpc>
                  <a:spcPct val="100000"/>
                </a:lnSpc>
                <a:spcBef>
                  <a:spcPct val="20000"/>
                </a:spcBef>
                <a:spcAft>
                  <a:spcPts val="0"/>
                </a:spcAft>
                <a:buClrTx/>
                <a:buSzTx/>
                <a:buFontTx/>
                <a:buNone/>
                <a:defRPr/>
              </a:pPr>
              <a:r>
                <a:rPr kumimoji="0" lang="en-US" altLang="en-US" sz="980" b="0" i="0" u="none" strike="noStrike" kern="1200" cap="none" spc="0" normalizeH="0" baseline="0" noProof="0">
                  <a:ln>
                    <a:noFill/>
                  </a:ln>
                  <a:solidFill>
                    <a:schemeClr val="bg1"/>
                  </a:solidFill>
                  <a:effectLst/>
                  <a:uLnTx/>
                  <a:uFillTx/>
                  <a:latin typeface="Arial" panose="020B0704020202020204" pitchFamily="34" charset="0"/>
                  <a:ea typeface="Microsoft YaHei" charset="-122"/>
                  <a:cs typeface="+mn-ea"/>
                  <a:sym typeface="Arial" panose="020B0704020202020204" pitchFamily="34" charset="0"/>
                </a:rPr>
                <a:t>Analyzed patterns in tracks, genres, and artists to understand Spotify’s market behavior.</a:t>
              </a:r>
            </a:p>
          </p:txBody>
        </p:sp>
      </p:grpSp>
      <p:grpSp>
        <p:nvGrpSpPr>
          <p:cNvPr id="23" name="Group 22"/>
          <p:cNvGrpSpPr/>
          <p:nvPr/>
        </p:nvGrpSpPr>
        <p:grpSpPr>
          <a:xfrm>
            <a:off x="6537960" y="3256448"/>
            <a:ext cx="1506220" cy="1165473"/>
            <a:chOff x="10244" y="5604"/>
            <a:chExt cx="2372" cy="927"/>
          </a:xfrm>
        </p:grpSpPr>
        <p:sp>
          <p:nvSpPr>
            <p:cNvPr id="12313" name="TextBox 13"/>
            <p:cNvSpPr txBox="1"/>
            <p:nvPr/>
          </p:nvSpPr>
          <p:spPr>
            <a:xfrm>
              <a:off x="10244" y="5604"/>
              <a:ext cx="2372" cy="342"/>
            </a:xfrm>
            <a:prstGeom prst="rect">
              <a:avLst/>
            </a:prstGeom>
            <a:noFill/>
            <a:ln w="9525">
              <a:noFill/>
            </a:ln>
          </p:spPr>
          <p:txBody>
            <a:bodyPr wrap="square" lIns="0" tIns="0" rIns="0" bIns="0" anchor="ctr" anchorCtr="0">
              <a:spAutoFit/>
            </a:bodyPr>
            <a:lstStyle/>
            <a:p>
              <a:pPr algn="ctr" defTabSz="913130">
                <a:spcBef>
                  <a:spcPct val="20000"/>
                </a:spcBef>
              </a:pPr>
              <a:r>
                <a:rPr lang="en-US" altLang="zh-CN" sz="1400" b="1">
                  <a:solidFill>
                    <a:schemeClr val="bg1"/>
                  </a:solidFill>
                  <a:latin typeface="Arial" panose="020B0704020202020204" pitchFamily="34" charset="0"/>
                  <a:ea typeface="Microsoft YaHei" charset="-122"/>
                  <a:sym typeface="Arial" panose="020B0704020202020204" pitchFamily="34" charset="0"/>
                </a:rPr>
                <a:t>Suggestions for Competitors</a:t>
              </a:r>
            </a:p>
          </p:txBody>
        </p:sp>
        <p:sp>
          <p:nvSpPr>
            <p:cNvPr id="56" name="TextBox 13"/>
            <p:cNvSpPr txBox="1"/>
            <p:nvPr/>
          </p:nvSpPr>
          <p:spPr>
            <a:xfrm>
              <a:off x="10407" y="6052"/>
              <a:ext cx="2037" cy="479"/>
            </a:xfrm>
            <a:prstGeom prst="rect">
              <a:avLst/>
            </a:prstGeom>
            <a:noFill/>
          </p:spPr>
          <p:txBody>
            <a:bodyPr wrap="square" lIns="0" tIns="0" rIns="0" bIns="0" rtlCol="0" anchor="t" anchorCtr="0">
              <a:spAutoFit/>
            </a:bodyPr>
            <a:lstStyle>
              <a:defPPr>
                <a:defRPr lang="zh-CN"/>
              </a:defPPr>
              <a:lvl1pPr defTabSz="1216660">
                <a:spcBef>
                  <a:spcPct val="20000"/>
                </a:spcBef>
                <a:defRPr sz="1200">
                  <a:solidFill>
                    <a:srgbClr val="000000"/>
                  </a:solidFill>
                  <a:latin typeface="Arial" panose="020B0704020202020204" pitchFamily="34" charset="0"/>
                  <a:ea typeface="Microsoft YaHei" charset="-122"/>
                </a:defRPr>
              </a:lvl1pPr>
            </a:lstStyle>
            <a:p>
              <a:pPr marL="0" marR="0" lvl="0" indent="0" algn="just" defTabSz="1216660" rtl="0" eaLnBrk="1" fontAlgn="auto" latinLnBrk="0" hangingPunct="1">
                <a:lnSpc>
                  <a:spcPct val="100000"/>
                </a:lnSpc>
                <a:spcBef>
                  <a:spcPct val="20000"/>
                </a:spcBef>
                <a:spcAft>
                  <a:spcPts val="0"/>
                </a:spcAft>
                <a:buClrTx/>
                <a:buSzTx/>
                <a:buFontTx/>
                <a:buNone/>
                <a:defRPr/>
              </a:pPr>
              <a:r>
                <a:rPr kumimoji="0" lang="en-US" altLang="en-US" sz="980" b="0" i="0" u="none" strike="noStrike" kern="1200" cap="none" spc="0" normalizeH="0" baseline="0" noProof="0">
                  <a:ln>
                    <a:noFill/>
                  </a:ln>
                  <a:solidFill>
                    <a:schemeClr val="bg1"/>
                  </a:solidFill>
                  <a:effectLst/>
                  <a:uLnTx/>
                  <a:uFillTx/>
                  <a:latin typeface="Arial" panose="020B0704020202020204" pitchFamily="34" charset="0"/>
                  <a:ea typeface="Microsoft YaHei" charset="-122"/>
                  <a:cs typeface="+mn-ea"/>
                  <a:sym typeface="Arial" panose="020B0704020202020204" pitchFamily="34" charset="0"/>
                </a:rPr>
                <a:t>Framed insights to help rivals optimize content and improve audience engagement.</a:t>
              </a:r>
            </a:p>
          </p:txBody>
        </p:sp>
      </p:grpSp>
      <p:cxnSp>
        <p:nvCxnSpPr>
          <p:cNvPr id="2" name="Straight Connector 1"/>
          <p:cNvCxnSpPr/>
          <p:nvPr/>
        </p:nvCxnSpPr>
        <p:spPr>
          <a:xfrm>
            <a:off x="871220" y="2915920"/>
            <a:ext cx="742950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grpSp>
        <p:nvGrpSpPr>
          <p:cNvPr id="7" name="Group 6"/>
          <p:cNvGrpSpPr/>
          <p:nvPr/>
        </p:nvGrpSpPr>
        <p:grpSpPr>
          <a:xfrm>
            <a:off x="1842770" y="2811780"/>
            <a:ext cx="210820" cy="204470"/>
            <a:chOff x="3778" y="4353"/>
            <a:chExt cx="260" cy="252"/>
          </a:xfrm>
        </p:grpSpPr>
        <p:sp>
          <p:nvSpPr>
            <p:cNvPr id="3" name="Oval 2"/>
            <p:cNvSpPr>
              <a:spLocks noChangeAspect="1"/>
            </p:cNvSpPr>
            <p:nvPr/>
          </p:nvSpPr>
          <p:spPr>
            <a:xfrm>
              <a:off x="3778" y="4353"/>
              <a:ext cx="261" cy="253"/>
            </a:xfrm>
            <a:prstGeom prst="ellipse">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6" name="Oval 5"/>
            <p:cNvSpPr>
              <a:spLocks noChangeAspect="1"/>
            </p:cNvSpPr>
            <p:nvPr/>
          </p:nvSpPr>
          <p:spPr>
            <a:xfrm>
              <a:off x="3823" y="4394"/>
              <a:ext cx="168" cy="163"/>
            </a:xfrm>
            <a:prstGeom prst="ellipse">
              <a:avLst/>
            </a:prstGeom>
            <a:solidFill>
              <a:srgbClr val="1ED760"/>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grpSp>
      <p:grpSp>
        <p:nvGrpSpPr>
          <p:cNvPr id="8" name="Group 7"/>
          <p:cNvGrpSpPr/>
          <p:nvPr/>
        </p:nvGrpSpPr>
        <p:grpSpPr>
          <a:xfrm>
            <a:off x="3615055" y="2812415"/>
            <a:ext cx="210820" cy="204470"/>
            <a:chOff x="3778" y="4353"/>
            <a:chExt cx="260" cy="252"/>
          </a:xfrm>
        </p:grpSpPr>
        <p:sp>
          <p:nvSpPr>
            <p:cNvPr id="9" name="Oval 8"/>
            <p:cNvSpPr>
              <a:spLocks noChangeAspect="1"/>
            </p:cNvSpPr>
            <p:nvPr/>
          </p:nvSpPr>
          <p:spPr>
            <a:xfrm>
              <a:off x="3778" y="4353"/>
              <a:ext cx="261" cy="253"/>
            </a:xfrm>
            <a:prstGeom prst="ellipse">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Oval 9"/>
            <p:cNvSpPr>
              <a:spLocks noChangeAspect="1"/>
            </p:cNvSpPr>
            <p:nvPr/>
          </p:nvSpPr>
          <p:spPr>
            <a:xfrm>
              <a:off x="3823" y="4394"/>
              <a:ext cx="168" cy="163"/>
            </a:xfrm>
            <a:prstGeom prst="ellipse">
              <a:avLst/>
            </a:prstGeom>
            <a:solidFill>
              <a:srgbClr val="1ED760"/>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grpSp>
      <p:grpSp>
        <p:nvGrpSpPr>
          <p:cNvPr id="11" name="Group 10"/>
          <p:cNvGrpSpPr/>
          <p:nvPr/>
        </p:nvGrpSpPr>
        <p:grpSpPr>
          <a:xfrm>
            <a:off x="5386705" y="2813685"/>
            <a:ext cx="210820" cy="204470"/>
            <a:chOff x="3778" y="4353"/>
            <a:chExt cx="260" cy="252"/>
          </a:xfrm>
        </p:grpSpPr>
        <p:sp>
          <p:nvSpPr>
            <p:cNvPr id="12" name="Oval 11"/>
            <p:cNvSpPr>
              <a:spLocks noChangeAspect="1"/>
            </p:cNvSpPr>
            <p:nvPr/>
          </p:nvSpPr>
          <p:spPr>
            <a:xfrm>
              <a:off x="3778" y="4353"/>
              <a:ext cx="261" cy="253"/>
            </a:xfrm>
            <a:prstGeom prst="ellipse">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Oval 12"/>
            <p:cNvSpPr>
              <a:spLocks noChangeAspect="1"/>
            </p:cNvSpPr>
            <p:nvPr/>
          </p:nvSpPr>
          <p:spPr>
            <a:xfrm>
              <a:off x="3823" y="4394"/>
              <a:ext cx="168" cy="163"/>
            </a:xfrm>
            <a:prstGeom prst="ellipse">
              <a:avLst/>
            </a:prstGeom>
            <a:solidFill>
              <a:srgbClr val="1ED760"/>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grpSp>
      <p:grpSp>
        <p:nvGrpSpPr>
          <p:cNvPr id="14" name="Group 13"/>
          <p:cNvGrpSpPr/>
          <p:nvPr/>
        </p:nvGrpSpPr>
        <p:grpSpPr>
          <a:xfrm>
            <a:off x="7158990" y="2814320"/>
            <a:ext cx="210820" cy="204470"/>
            <a:chOff x="3778" y="4353"/>
            <a:chExt cx="260" cy="252"/>
          </a:xfrm>
        </p:grpSpPr>
        <p:sp>
          <p:nvSpPr>
            <p:cNvPr id="15" name="Oval 14"/>
            <p:cNvSpPr>
              <a:spLocks noChangeAspect="1"/>
            </p:cNvSpPr>
            <p:nvPr/>
          </p:nvSpPr>
          <p:spPr>
            <a:xfrm>
              <a:off x="3778" y="4353"/>
              <a:ext cx="261" cy="253"/>
            </a:xfrm>
            <a:prstGeom prst="ellipse">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Oval 15"/>
            <p:cNvSpPr>
              <a:spLocks noChangeAspect="1"/>
            </p:cNvSpPr>
            <p:nvPr/>
          </p:nvSpPr>
          <p:spPr>
            <a:xfrm>
              <a:off x="3823" y="4394"/>
              <a:ext cx="168" cy="163"/>
            </a:xfrm>
            <a:prstGeom prst="ellipse">
              <a:avLst/>
            </a:prstGeom>
            <a:solidFill>
              <a:srgbClr val="1ED760"/>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grpSp>
      <p:pic>
        <p:nvPicPr>
          <p:cNvPr id="19" name="Graphic 18" descr="Database with solid fill">
            <a:extLst>
              <a:ext uri="{FF2B5EF4-FFF2-40B4-BE49-F238E27FC236}">
                <a16:creationId xmlns:a16="http://schemas.microsoft.com/office/drawing/2014/main" id="{8026989E-E234-A95A-B884-3C4F0C1E48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70866" y="1674794"/>
            <a:ext cx="697292" cy="6972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8610" y="207645"/>
            <a:ext cx="6771640" cy="621665"/>
          </a:xfrm>
          <a:prstGeom prst="rect">
            <a:avLst/>
          </a:prstGeom>
          <a:noFill/>
        </p:spPr>
        <p:txBody>
          <a:bodyPr wrap="square" rtlCol="0" anchor="ctr" anchorCtr="0">
            <a:noAutofit/>
          </a:bodyPr>
          <a:lstStyle/>
          <a:p>
            <a:pPr algn="l"/>
            <a:r>
              <a:rPr lang="en-US" sz="3600">
                <a:solidFill>
                  <a:schemeClr val="bg1"/>
                </a:solidFill>
                <a:latin typeface="Arial Black" panose="020B0A04020102020204" charset="0"/>
                <a:cs typeface="Arial Black" panose="020B0A04020102020204" charset="0"/>
              </a:rPr>
              <a:t>CODE </a:t>
            </a:r>
            <a:r>
              <a:rPr lang="en-US" sz="2800">
                <a:solidFill>
                  <a:schemeClr val="bg1"/>
                </a:solidFill>
                <a:latin typeface="Arial Black" panose="020B0A04020102020204" charset="0"/>
                <a:cs typeface="Arial Black" panose="020B0A04020102020204" charset="0"/>
              </a:rPr>
              <a:t>(PYTHON)</a:t>
            </a:r>
          </a:p>
        </p:txBody>
      </p:sp>
      <p:cxnSp>
        <p:nvCxnSpPr>
          <p:cNvPr id="5" name="Straight Connector 4"/>
          <p:cNvCxnSpPr/>
          <p:nvPr/>
        </p:nvCxnSpPr>
        <p:spPr>
          <a:xfrm>
            <a:off x="417830" y="1011555"/>
            <a:ext cx="8321040" cy="0"/>
          </a:xfrm>
          <a:prstGeom prst="line">
            <a:avLst/>
          </a:prstGeom>
          <a:ln w="76200">
            <a:solidFill>
              <a:srgbClr val="1ED760"/>
            </a:solidFill>
            <a:prstDash val="solid"/>
          </a:ln>
        </p:spPr>
        <p:style>
          <a:lnRef idx="2">
            <a:schemeClr val="accent1"/>
          </a:lnRef>
          <a:fillRef idx="0">
            <a:srgbClr val="FFFFFF"/>
          </a:fillRef>
          <a:effectRef idx="0">
            <a:srgbClr val="FFFFFF"/>
          </a:effectRef>
          <a:fontRef idx="minor">
            <a:schemeClr val="tx1"/>
          </a:fontRef>
        </p:style>
      </p:cxnSp>
      <p:sp>
        <p:nvSpPr>
          <p:cNvPr id="12" name="Text Box 11"/>
          <p:cNvSpPr txBox="1"/>
          <p:nvPr/>
        </p:nvSpPr>
        <p:spPr>
          <a:xfrm>
            <a:off x="3491230" y="1511300"/>
            <a:ext cx="5003165" cy="3080385"/>
          </a:xfrm>
          <a:prstGeom prst="rect">
            <a:avLst/>
          </a:prstGeom>
          <a:noFill/>
        </p:spPr>
        <p:txBody>
          <a:bodyPr wrap="square" rtlCol="0">
            <a:spAutoFit/>
          </a:bodyPr>
          <a:lstStyle/>
          <a:p>
            <a:pPr>
              <a:lnSpc>
                <a:spcPct val="120000"/>
              </a:lnSpc>
            </a:pPr>
            <a:r>
              <a:rPr lang="en-US" altLang="en-US">
                <a:solidFill>
                  <a:schemeClr val="bg1"/>
                </a:solidFill>
              </a:rPr>
              <a:t>The language of python was used to complete one of the most crucial steps of this process - Data Wrangling. Significant libraries such as Pandas, MySQL Connector and so were used.</a:t>
            </a:r>
          </a:p>
          <a:p>
            <a:pPr>
              <a:lnSpc>
                <a:spcPct val="120000"/>
              </a:lnSpc>
            </a:pPr>
            <a:r>
              <a:rPr lang="en-US" altLang="en-US">
                <a:solidFill>
                  <a:schemeClr val="bg1"/>
                </a:solidFill>
              </a:rPr>
              <a:t>The QR Code attached here is of a jupyter notebook which has detailed steps to solve major problems such as handling missing data, duplicate values, pre-processing &amp; exporting the processed data to MySQL. </a:t>
            </a:r>
          </a:p>
        </p:txBody>
      </p:sp>
      <p:pic>
        <p:nvPicPr>
          <p:cNvPr id="20" name="Picture 19" descr="QR for Jupyter Notebook"/>
          <p:cNvPicPr>
            <a:picLocks noChangeAspect="1"/>
          </p:cNvPicPr>
          <p:nvPr/>
        </p:nvPicPr>
        <p:blipFill>
          <a:blip r:embed="rId3"/>
          <a:stretch>
            <a:fillRect/>
          </a:stretch>
        </p:blipFill>
        <p:spPr>
          <a:xfrm>
            <a:off x="749935" y="1574800"/>
            <a:ext cx="2289810" cy="29794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39"/>
          <p:cNvSpPr>
            <a:spLocks noChangeAspect="1" noTextEdit="1"/>
          </p:cNvSpPr>
          <p:nvPr/>
        </p:nvSpPr>
        <p:spPr>
          <a:xfrm rot="10800000">
            <a:off x="1143000" y="-117475"/>
            <a:ext cx="4122738" cy="5262563"/>
          </a:xfrm>
          <a:prstGeom prst="rect">
            <a:avLst/>
          </a:prstGeom>
          <a:noFill/>
          <a:ln w="9525">
            <a:noFill/>
          </a:ln>
        </p:spPr>
        <p:txBody>
          <a:bodyPr anchor="t" anchorCtr="0"/>
          <a:lstStyle/>
          <a:p>
            <a:pPr eaLnBrk="0" hangingPunct="0"/>
            <a:endParaRPr lang="zh-CN" altLang="en-US" sz="100">
              <a:latin typeface="Calibri" pitchFamily="34" charset="0"/>
              <a:ea typeface="SimSun" pitchFamily="2" charset="-122"/>
            </a:endParaRPr>
          </a:p>
        </p:txBody>
      </p:sp>
      <p:sp>
        <p:nvSpPr>
          <p:cNvPr id="2" name="Text Box 1"/>
          <p:cNvSpPr txBox="1"/>
          <p:nvPr/>
        </p:nvSpPr>
        <p:spPr>
          <a:xfrm>
            <a:off x="1718310" y="1439545"/>
            <a:ext cx="2297430" cy="1861185"/>
          </a:xfrm>
          <a:prstGeom prst="rect">
            <a:avLst/>
          </a:prstGeom>
          <a:noFill/>
        </p:spPr>
        <p:txBody>
          <a:bodyPr wrap="square" rtlCol="0">
            <a:spAutoFit/>
          </a:bodyPr>
          <a:lstStyle/>
          <a:p>
            <a:pPr algn="ctr"/>
            <a:r>
              <a:rPr lang="en-US" sz="11500">
                <a:solidFill>
                  <a:schemeClr val="bg1"/>
                </a:solidFill>
                <a:latin typeface="Arial Black" panose="020B0A04020102020204" charset="0"/>
                <a:cs typeface="Arial Black" panose="020B0A04020102020204" charset="0"/>
              </a:rPr>
              <a:t>04</a:t>
            </a:r>
          </a:p>
        </p:txBody>
      </p:sp>
      <p:sp>
        <p:nvSpPr>
          <p:cNvPr id="3" name="Text Box 2"/>
          <p:cNvSpPr txBox="1"/>
          <p:nvPr/>
        </p:nvSpPr>
        <p:spPr>
          <a:xfrm>
            <a:off x="4338320" y="2090420"/>
            <a:ext cx="3293110" cy="746760"/>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ANALYSIS</a:t>
            </a:r>
          </a:p>
        </p:txBody>
      </p:sp>
      <p:cxnSp>
        <p:nvCxnSpPr>
          <p:cNvPr id="4" name="Straight Connector 3"/>
          <p:cNvCxnSpPr/>
          <p:nvPr/>
        </p:nvCxnSpPr>
        <p:spPr>
          <a:xfrm>
            <a:off x="1544955" y="3392170"/>
            <a:ext cx="6059805"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22910" y="241935"/>
            <a:ext cx="7785735" cy="621665"/>
          </a:xfrm>
          <a:prstGeom prst="rect">
            <a:avLst/>
          </a:prstGeom>
          <a:noFill/>
        </p:spPr>
        <p:txBody>
          <a:bodyPr wrap="square" rtlCol="0" anchor="ctr" anchorCtr="0">
            <a:noAutofit/>
          </a:bodyPr>
          <a:lstStyle/>
          <a:p>
            <a:pPr algn="l"/>
            <a:r>
              <a:rPr lang="en-US" sz="3200">
                <a:solidFill>
                  <a:schemeClr val="bg1"/>
                </a:solidFill>
                <a:latin typeface="Arial Black" panose="020B0A04020102020204" charset="0"/>
                <a:cs typeface="Arial Black" panose="020B0A04020102020204" charset="0"/>
              </a:rPr>
              <a:t>ENTITY RELATIONSHIP DIAGRAM</a:t>
            </a:r>
          </a:p>
        </p:txBody>
      </p:sp>
      <p:cxnSp>
        <p:nvCxnSpPr>
          <p:cNvPr id="5" name="Straight Connector 4"/>
          <p:cNvCxnSpPr/>
          <p:nvPr/>
        </p:nvCxnSpPr>
        <p:spPr>
          <a:xfrm>
            <a:off x="5194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pic>
        <p:nvPicPr>
          <p:cNvPr id="9" name="Picture 8"/>
          <p:cNvPicPr>
            <a:picLocks noChangeAspect="1"/>
          </p:cNvPicPr>
          <p:nvPr/>
        </p:nvPicPr>
        <p:blipFill>
          <a:blip r:embed="rId2"/>
          <a:srcRect b="1689"/>
          <a:stretch>
            <a:fillRect/>
          </a:stretch>
        </p:blipFill>
        <p:spPr>
          <a:xfrm>
            <a:off x="519430" y="1458595"/>
            <a:ext cx="3964305" cy="3298825"/>
          </a:xfrm>
          <a:prstGeom prst="rect">
            <a:avLst/>
          </a:prstGeom>
        </p:spPr>
      </p:pic>
      <p:sp>
        <p:nvSpPr>
          <p:cNvPr id="10" name="Text Box 9"/>
          <p:cNvSpPr txBox="1"/>
          <p:nvPr/>
        </p:nvSpPr>
        <p:spPr>
          <a:xfrm>
            <a:off x="4798695" y="1485900"/>
            <a:ext cx="3878580" cy="3192145"/>
          </a:xfrm>
          <a:prstGeom prst="rect">
            <a:avLst/>
          </a:prstGeom>
          <a:noFill/>
        </p:spPr>
        <p:txBody>
          <a:bodyPr wrap="square" rtlCol="0">
            <a:spAutoFit/>
          </a:bodyPr>
          <a:lstStyle/>
          <a:p>
            <a:pPr>
              <a:lnSpc>
                <a:spcPct val="120000"/>
              </a:lnSpc>
            </a:pPr>
            <a:r>
              <a:rPr lang="en-US" altLang="en-US" sz="1400">
                <a:solidFill>
                  <a:schemeClr val="bg1"/>
                </a:solidFill>
              </a:rPr>
              <a:t>This ER diagram visually represents the normalized database schema for our Spotify competitor analysis. It showcases four key tables: Artists_DET, Genre_DET, Attributes_DET, and Tracks_DET. These tables are interconnected through foreign keys, enabling comprehensive analysis of artist performance, genre trends, and track attributes. This structured design is crucial for executing the advanced SQL queries that form the core of our competitive intelligence project.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1410335"/>
            <a:ext cx="3329305" cy="1548765"/>
          </a:xfrm>
        </p:spPr>
        <p:txBody>
          <a:bodyPr/>
          <a:lstStyle/>
          <a:p>
            <a:r>
              <a:rPr lang="en-US">
                <a:solidFill>
                  <a:schemeClr val="bg1"/>
                </a:solidFill>
              </a:rPr>
              <a:t>Q1. </a:t>
            </a:r>
            <a:r>
              <a:rPr lang="en-US" altLang="en-US">
                <a:solidFill>
                  <a:schemeClr val="bg1"/>
                </a:solidFill>
              </a:rPr>
              <a:t>Which genre has the highest average popularity across all tracks?</a:t>
            </a:r>
          </a:p>
        </p:txBody>
      </p:sp>
      <p:sp>
        <p:nvSpPr>
          <p:cNvPr id="3" name="Picture Placeholder 2"/>
          <p:cNvSpPr>
            <a:spLocks noGrp="1" noChangeAspect="1"/>
          </p:cNvSpPr>
          <p:nvPr>
            <p:ph type="pic" idx="1"/>
          </p:nvPr>
        </p:nvSpPr>
        <p:spPr>
          <a:xfrm>
            <a:off x="4130040" y="1430020"/>
            <a:ext cx="4364355" cy="3340100"/>
          </a:xfrm>
        </p:spPr>
      </p:sp>
      <p:sp>
        <p:nvSpPr>
          <p:cNvPr id="6" name="Text Placeholder 5"/>
          <p:cNvSpPr>
            <a:spLocks noGrp="1"/>
          </p:cNvSpPr>
          <p:nvPr>
            <p:ph type="body" sz="half" idx="2"/>
          </p:nvPr>
        </p:nvSpPr>
        <p:spPr>
          <a:xfrm>
            <a:off x="479425" y="3027680"/>
            <a:ext cx="3202940" cy="1742440"/>
          </a:xfrm>
        </p:spPr>
        <p:txBody>
          <a:bodyPr/>
          <a:lstStyle/>
          <a:p>
            <a:pPr>
              <a:lnSpc>
                <a:spcPct val="130000"/>
              </a:lnSpc>
            </a:pPr>
            <a:r>
              <a:rPr lang="en-US" altLang="en-US">
                <a:solidFill>
                  <a:schemeClr val="bg1"/>
                </a:solidFill>
              </a:rPr>
              <a:t>SELECT G.Genre, AVG(AD.Popularity) AS Average_Popularity FROM Genre_DET G JOIN Tracks_DET T ON G.Genre_id = T.Genre_id JOIN Attributes_DET AD ON T.Attribute_id = AD.Attribute_id GROUP BY G.Genre ORDER BY Average_Popularity DESC LIMIT 1;</a:t>
            </a:r>
          </a:p>
        </p:txBody>
      </p:sp>
      <p:sp>
        <p:nvSpPr>
          <p:cNvPr id="4" name="Text Box 3"/>
          <p:cNvSpPr txBox="1"/>
          <p:nvPr/>
        </p:nvSpPr>
        <p:spPr>
          <a:xfrm>
            <a:off x="308610" y="230505"/>
            <a:ext cx="8672195" cy="621665"/>
          </a:xfrm>
          <a:prstGeom prst="rect">
            <a:avLst/>
          </a:prstGeom>
          <a:noFill/>
        </p:spPr>
        <p:txBody>
          <a:bodyPr wrap="square" rtlCol="0" anchor="ctr" anchorCtr="0">
            <a:noAutofit/>
          </a:bodyPr>
          <a:lstStyle/>
          <a:p>
            <a:pPr algn="l"/>
            <a:r>
              <a:rPr lang="en-US" sz="2500">
                <a:solidFill>
                  <a:schemeClr val="bg1"/>
                </a:solidFill>
                <a:latin typeface="Arial Black" panose="020B0A04020102020204" charset="0"/>
                <a:cs typeface="Arial Black" panose="020B0A04020102020204" charset="0"/>
              </a:rPr>
              <a:t>ANALYSIS - GENRE PERFORMANCE &amp; TRENDS</a:t>
            </a:r>
          </a:p>
        </p:txBody>
      </p:sp>
      <p:cxnSp>
        <p:nvCxnSpPr>
          <p:cNvPr id="5" name="Straight Connector 4"/>
          <p:cNvCxnSpPr/>
          <p:nvPr/>
        </p:nvCxnSpPr>
        <p:spPr>
          <a:xfrm>
            <a:off x="405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3490" y="1438275"/>
            <a:ext cx="3479165" cy="1329690"/>
          </a:xfrm>
        </p:spPr>
        <p:txBody>
          <a:bodyPr anchor="ctr" anchorCtr="0"/>
          <a:lstStyle/>
          <a:p>
            <a:pPr>
              <a:lnSpc>
                <a:spcPct val="110000"/>
              </a:lnSpc>
            </a:pPr>
            <a:r>
              <a:rPr lang="en-US" altLang="en-US">
                <a:solidFill>
                  <a:schemeClr val="bg1"/>
                </a:solidFill>
              </a:rPr>
              <a:t>Q2. Which genre has the longest average track duration?</a:t>
            </a:r>
          </a:p>
        </p:txBody>
      </p:sp>
      <p:sp>
        <p:nvSpPr>
          <p:cNvPr id="3" name="Picture Placeholder 2"/>
          <p:cNvSpPr>
            <a:spLocks noGrp="1" noChangeAspect="1"/>
          </p:cNvSpPr>
          <p:nvPr>
            <p:ph type="pic" idx="1"/>
          </p:nvPr>
        </p:nvSpPr>
        <p:spPr>
          <a:xfrm>
            <a:off x="405130" y="1409700"/>
            <a:ext cx="4364355" cy="3340100"/>
          </a:xfrm>
        </p:spPr>
      </p:sp>
      <p:sp>
        <p:nvSpPr>
          <p:cNvPr id="6" name="Text Placeholder 5"/>
          <p:cNvSpPr>
            <a:spLocks noGrp="1"/>
          </p:cNvSpPr>
          <p:nvPr>
            <p:ph type="body" sz="half" idx="2"/>
          </p:nvPr>
        </p:nvSpPr>
        <p:spPr>
          <a:xfrm>
            <a:off x="5086350" y="2919095"/>
            <a:ext cx="3399155" cy="1830705"/>
          </a:xfrm>
        </p:spPr>
        <p:txBody>
          <a:bodyPr/>
          <a:lstStyle/>
          <a:p>
            <a:pPr>
              <a:lnSpc>
                <a:spcPct val="160000"/>
              </a:lnSpc>
            </a:pPr>
            <a:r>
              <a:rPr lang="en-US" altLang="en-US">
                <a:solidFill>
                  <a:schemeClr val="bg1"/>
                </a:solidFill>
              </a:rPr>
              <a:t>SELECT G.Genre, AVG(AD.Duration_ms) AS Average_Duration FROM Genre_DET G JOIN Tracks_DET T ON G.Genre_id = T.Genre_id JOIN Attributes_DET AD ON T.Attribute_id = AD.Attribute_id GROUP BY G.Genre ORDER BY Average_Duration DESC LIMIT 1;</a:t>
            </a:r>
          </a:p>
        </p:txBody>
      </p:sp>
      <p:cxnSp>
        <p:nvCxnSpPr>
          <p:cNvPr id="5" name="Straight Connector 4"/>
          <p:cNvCxnSpPr/>
          <p:nvPr/>
        </p:nvCxnSpPr>
        <p:spPr>
          <a:xfrm>
            <a:off x="405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308610" y="230505"/>
            <a:ext cx="8672195" cy="621665"/>
          </a:xfrm>
          <a:prstGeom prst="rect">
            <a:avLst/>
          </a:prstGeom>
          <a:noFill/>
        </p:spPr>
        <p:txBody>
          <a:bodyPr wrap="square" rtlCol="0" anchor="ctr" anchorCtr="0">
            <a:noAutofit/>
          </a:bodyPr>
          <a:lstStyle/>
          <a:p>
            <a:pPr algn="l"/>
            <a:r>
              <a:rPr lang="en-US" sz="2500">
                <a:solidFill>
                  <a:schemeClr val="bg1"/>
                </a:solidFill>
                <a:latin typeface="Arial Black" panose="020B0A04020102020204" charset="0"/>
                <a:cs typeface="Arial Black" panose="020B0A04020102020204" charset="0"/>
              </a:rPr>
              <a:t>ANALYSIS - GENRE PERFORMANCE &amp; TRENDS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130" y="1358265"/>
            <a:ext cx="3273425" cy="1452245"/>
          </a:xfrm>
        </p:spPr>
        <p:txBody>
          <a:bodyPr/>
          <a:lstStyle/>
          <a:p>
            <a:r>
              <a:rPr lang="en-US">
                <a:solidFill>
                  <a:schemeClr val="bg1"/>
                </a:solidFill>
              </a:rPr>
              <a:t>Q3.</a:t>
            </a:r>
            <a:r>
              <a:rPr lang="en-US" altLang="en-US">
                <a:solidFill>
                  <a:schemeClr val="bg1"/>
                </a:solidFill>
              </a:rPr>
              <a:t>Detect genre fatigue: genres with declining average popularity over time</a:t>
            </a:r>
          </a:p>
        </p:txBody>
      </p:sp>
      <p:sp>
        <p:nvSpPr>
          <p:cNvPr id="3" name="Picture Placeholder 2"/>
          <p:cNvSpPr>
            <a:spLocks noGrp="1" noChangeAspect="1"/>
          </p:cNvSpPr>
          <p:nvPr>
            <p:ph type="pic" idx="1"/>
          </p:nvPr>
        </p:nvSpPr>
        <p:spPr>
          <a:xfrm>
            <a:off x="4130040" y="1430020"/>
            <a:ext cx="4364355" cy="3340100"/>
          </a:xfrm>
        </p:spPr>
      </p:sp>
      <p:sp>
        <p:nvSpPr>
          <p:cNvPr id="6" name="Text Placeholder 5"/>
          <p:cNvSpPr>
            <a:spLocks noGrp="1"/>
          </p:cNvSpPr>
          <p:nvPr>
            <p:ph type="body" sz="half" idx="2"/>
          </p:nvPr>
        </p:nvSpPr>
        <p:spPr>
          <a:xfrm>
            <a:off x="405130" y="2915285"/>
            <a:ext cx="3504565" cy="1881505"/>
          </a:xfrm>
        </p:spPr>
        <p:txBody>
          <a:bodyPr/>
          <a:lstStyle/>
          <a:p>
            <a:pPr>
              <a:lnSpc>
                <a:spcPct val="140000"/>
              </a:lnSpc>
            </a:pPr>
            <a:r>
              <a:rPr lang="en-US" altLang="en-US">
                <a:solidFill>
                  <a:schemeClr val="bg1"/>
                </a:solidFill>
              </a:rPr>
              <a:t>SELECT G.Genre, STDDEV(AD.Energy) AS Energy_STD, STDDEV(AD.Tempo) AS Tempo_STD FROM Genre_DET G JOIN Tracks_DET T ON G.Genre_id = T.Genre_id JOIN Attributes_DET AD ON T.Attribute_id = AD.Attribute_id GROUP BY G.Genre ORDER BY Energy_STD DESC, Tempo_STD DESC;</a:t>
            </a:r>
          </a:p>
        </p:txBody>
      </p:sp>
      <p:cxnSp>
        <p:nvCxnSpPr>
          <p:cNvPr id="5" name="Straight Connector 4"/>
          <p:cNvCxnSpPr/>
          <p:nvPr/>
        </p:nvCxnSpPr>
        <p:spPr>
          <a:xfrm>
            <a:off x="405130" y="10115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308610" y="230505"/>
            <a:ext cx="8672195" cy="621665"/>
          </a:xfrm>
          <a:prstGeom prst="rect">
            <a:avLst/>
          </a:prstGeom>
          <a:noFill/>
        </p:spPr>
        <p:txBody>
          <a:bodyPr wrap="square" rtlCol="0" anchor="ctr" anchorCtr="0">
            <a:noAutofit/>
          </a:bodyPr>
          <a:lstStyle/>
          <a:p>
            <a:pPr algn="l"/>
            <a:r>
              <a:rPr lang="en-US" sz="2500">
                <a:solidFill>
                  <a:schemeClr val="bg1"/>
                </a:solidFill>
                <a:latin typeface="Arial Black" panose="020B0A04020102020204" charset="0"/>
                <a:cs typeface="Arial Black" panose="020B0A04020102020204" charset="0"/>
              </a:rPr>
              <a:t>ANALYSIS - GENRE PERFORMANCE &amp; TRENDS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8380" y="1198245"/>
            <a:ext cx="3959225" cy="1440815"/>
          </a:xfrm>
        </p:spPr>
        <p:txBody>
          <a:bodyPr anchor="ctr" anchorCtr="0"/>
          <a:lstStyle/>
          <a:p>
            <a:r>
              <a:rPr lang="en-US" altLang="en-US">
                <a:solidFill>
                  <a:schemeClr val="bg1"/>
                </a:solidFill>
              </a:rPr>
              <a:t>Q4.Which artists consistently appear in the top 5 most popular tracks across genres?</a:t>
            </a:r>
          </a:p>
        </p:txBody>
      </p:sp>
      <p:sp>
        <p:nvSpPr>
          <p:cNvPr id="3" name="Picture Placeholder 2"/>
          <p:cNvSpPr>
            <a:spLocks noGrp="1" noChangeAspect="1"/>
          </p:cNvSpPr>
          <p:nvPr>
            <p:ph type="pic" idx="1"/>
          </p:nvPr>
        </p:nvSpPr>
        <p:spPr>
          <a:xfrm>
            <a:off x="593725" y="1295400"/>
            <a:ext cx="3978275" cy="3340100"/>
          </a:xfrm>
        </p:spPr>
      </p:sp>
      <p:sp>
        <p:nvSpPr>
          <p:cNvPr id="6" name="Text Placeholder 5"/>
          <p:cNvSpPr>
            <a:spLocks noGrp="1"/>
          </p:cNvSpPr>
          <p:nvPr>
            <p:ph type="body" sz="half" idx="2"/>
          </p:nvPr>
        </p:nvSpPr>
        <p:spPr>
          <a:xfrm>
            <a:off x="4852035" y="2639695"/>
            <a:ext cx="3978275" cy="2103755"/>
          </a:xfrm>
        </p:spPr>
        <p:txBody>
          <a:bodyPr anchor="ctr" anchorCtr="0"/>
          <a:lstStyle/>
          <a:p>
            <a:pPr>
              <a:lnSpc>
                <a:spcPct val="140000"/>
              </a:lnSpc>
            </a:pPr>
            <a:r>
              <a:rPr lang="en-US" altLang="en-US">
                <a:solidFill>
                  <a:schemeClr val="bg1"/>
                </a:solidFill>
              </a:rPr>
              <a:t>SELECT A.Artist, AVG(AD.Popularity) AS Average_Popularity FROM Artists_DET A JOIN Tracks_DET T ON A.Artist_id = T.Artist_id JOIN Attributes_DET AD ON T.Attribute_id = AD.Attribute_id GROUP BY A.Artist HAVING COUNT(T.Track_id) &gt;= 5 ORDER BY Average_Popularity DESC;</a:t>
            </a:r>
          </a:p>
        </p:txBody>
      </p:sp>
      <p:sp>
        <p:nvSpPr>
          <p:cNvPr id="4" name="Text Box 3"/>
          <p:cNvSpPr txBox="1"/>
          <p:nvPr/>
        </p:nvSpPr>
        <p:spPr>
          <a:xfrm>
            <a:off x="468630" y="184785"/>
            <a:ext cx="8434070" cy="621665"/>
          </a:xfrm>
          <a:prstGeom prst="rect">
            <a:avLst/>
          </a:prstGeom>
          <a:noFill/>
        </p:spPr>
        <p:txBody>
          <a:bodyPr wrap="square" rtlCol="0" anchor="ctr" anchorCtr="0">
            <a:noAutofit/>
          </a:bodyPr>
          <a:lstStyle/>
          <a:p>
            <a:pPr algn="l"/>
            <a:r>
              <a:rPr lang="en-US" sz="2500">
                <a:solidFill>
                  <a:schemeClr val="bg1"/>
                </a:solidFill>
                <a:latin typeface="Arial Black" panose="020B0A04020102020204" charset="0"/>
                <a:cs typeface="Arial Black" panose="020B0A04020102020204" charset="0"/>
              </a:rPr>
              <a:t>ANALYSIS - ARTIST INFLUENCE &amp; VISIBILITY</a:t>
            </a:r>
          </a:p>
        </p:txBody>
      </p:sp>
      <p:cxnSp>
        <p:nvCxnSpPr>
          <p:cNvPr id="5" name="Straight Connector 4"/>
          <p:cNvCxnSpPr/>
          <p:nvPr/>
        </p:nvCxnSpPr>
        <p:spPr>
          <a:xfrm>
            <a:off x="530860" y="89725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770" y="1293495"/>
            <a:ext cx="3375660" cy="1455420"/>
          </a:xfrm>
        </p:spPr>
        <p:txBody>
          <a:bodyPr/>
          <a:lstStyle/>
          <a:p>
            <a:r>
              <a:rPr lang="en-US">
                <a:solidFill>
                  <a:schemeClr val="bg1"/>
                </a:solidFill>
              </a:rPr>
              <a:t>Q5. </a:t>
            </a:r>
            <a:r>
              <a:rPr lang="en-US" altLang="en-US">
                <a:solidFill>
                  <a:schemeClr val="bg1"/>
                </a:solidFill>
              </a:rPr>
              <a:t>List the artists who have contributed to the highest number of unique genres.</a:t>
            </a:r>
          </a:p>
        </p:txBody>
      </p:sp>
      <p:sp>
        <p:nvSpPr>
          <p:cNvPr id="3" name="Picture Placeholder 2"/>
          <p:cNvSpPr>
            <a:spLocks noGrp="1" noChangeAspect="1"/>
          </p:cNvSpPr>
          <p:nvPr>
            <p:ph type="pic" idx="1"/>
          </p:nvPr>
        </p:nvSpPr>
        <p:spPr>
          <a:xfrm>
            <a:off x="4244340" y="1353820"/>
            <a:ext cx="4364355" cy="3340100"/>
          </a:xfrm>
        </p:spPr>
      </p:sp>
      <p:sp>
        <p:nvSpPr>
          <p:cNvPr id="6" name="Text Placeholder 5"/>
          <p:cNvSpPr>
            <a:spLocks noGrp="1"/>
          </p:cNvSpPr>
          <p:nvPr>
            <p:ph type="body" sz="half" idx="2"/>
          </p:nvPr>
        </p:nvSpPr>
        <p:spPr>
          <a:xfrm>
            <a:off x="572770" y="2870200"/>
            <a:ext cx="3376295" cy="1803400"/>
          </a:xfrm>
        </p:spPr>
        <p:txBody>
          <a:bodyPr/>
          <a:lstStyle/>
          <a:p>
            <a:pPr>
              <a:lnSpc>
                <a:spcPct val="160000"/>
              </a:lnSpc>
            </a:pPr>
            <a:r>
              <a:rPr lang="en-US" altLang="en-US">
                <a:solidFill>
                  <a:schemeClr val="bg1"/>
                </a:solidFill>
              </a:rPr>
              <a:t>SELECT A.Artist, COUNT(DISTINCT T.Genre_id) AS Number_of_Unique_Genres FROM Artists_DET A JOIN Tracks_DET T ON A.Artist_id = T.Artist_id GROUP BY A.Artist ORDER BY Number_of_Unique_Genres DESC;</a:t>
            </a:r>
          </a:p>
        </p:txBody>
      </p:sp>
      <p:cxnSp>
        <p:nvCxnSpPr>
          <p:cNvPr id="5" name="Straight Connector 4"/>
          <p:cNvCxnSpPr/>
          <p:nvPr/>
        </p:nvCxnSpPr>
        <p:spPr>
          <a:xfrm>
            <a:off x="508000" y="86296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468630" y="184785"/>
            <a:ext cx="8434070" cy="621665"/>
          </a:xfrm>
          <a:prstGeom prst="rect">
            <a:avLst/>
          </a:prstGeom>
          <a:noFill/>
        </p:spPr>
        <p:txBody>
          <a:bodyPr wrap="square" rtlCol="0" anchor="ctr" anchorCtr="0">
            <a:noAutofit/>
          </a:bodyPr>
          <a:lstStyle/>
          <a:p>
            <a:pPr algn="l"/>
            <a:r>
              <a:rPr lang="en-US" sz="2500">
                <a:solidFill>
                  <a:schemeClr val="bg1"/>
                </a:solidFill>
                <a:latin typeface="Arial Black" panose="020B0A04020102020204" charset="0"/>
                <a:cs typeface="Arial Black" panose="020B0A04020102020204" charset="0"/>
              </a:rPr>
              <a:t>ANALYSIS - ARTIST INFLUENCE &amp; VISIBILITY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2245" y="1349375"/>
            <a:ext cx="3639820" cy="1376045"/>
          </a:xfrm>
        </p:spPr>
        <p:txBody>
          <a:bodyPr/>
          <a:lstStyle/>
          <a:p>
            <a:r>
              <a:rPr lang="en-US" altLang="en-US">
                <a:solidFill>
                  <a:schemeClr val="bg1"/>
                </a:solidFill>
              </a:rPr>
              <a:t>Q5. Which artists have the highest average energy and danceability across their tracks?</a:t>
            </a:r>
          </a:p>
        </p:txBody>
      </p:sp>
      <p:sp>
        <p:nvSpPr>
          <p:cNvPr id="3" name="Picture Placeholder 2"/>
          <p:cNvSpPr>
            <a:spLocks noGrp="1" noChangeAspect="1"/>
          </p:cNvSpPr>
          <p:nvPr>
            <p:ph type="pic" idx="1"/>
          </p:nvPr>
        </p:nvSpPr>
        <p:spPr>
          <a:xfrm>
            <a:off x="563245" y="1320800"/>
            <a:ext cx="4364355" cy="3340100"/>
          </a:xfrm>
        </p:spPr>
      </p:sp>
      <p:sp>
        <p:nvSpPr>
          <p:cNvPr id="6" name="Text Placeholder 5"/>
          <p:cNvSpPr>
            <a:spLocks noGrp="1"/>
          </p:cNvSpPr>
          <p:nvPr>
            <p:ph type="body" sz="half" idx="2"/>
          </p:nvPr>
        </p:nvSpPr>
        <p:spPr>
          <a:xfrm>
            <a:off x="5290820" y="2862580"/>
            <a:ext cx="3355340" cy="1595755"/>
          </a:xfrm>
        </p:spPr>
        <p:txBody>
          <a:bodyPr anchor="t" anchorCtr="0"/>
          <a:lstStyle/>
          <a:p>
            <a:pPr>
              <a:lnSpc>
                <a:spcPct val="130000"/>
              </a:lnSpc>
            </a:pPr>
            <a:r>
              <a:rPr lang="en-US" altLang="en-US">
                <a:solidFill>
                  <a:schemeClr val="bg1"/>
                </a:solidFill>
              </a:rPr>
              <a:t>SELECT A.Artist, AVG(AD.Energy) AS Average_Energy, AVG(AD.Danceability) AS Average_Danceability FROM Artists_DET A JOIN Tracks_DET T ON A.Artist_id = T.Artist_id JOIN Attributes_DET AD ON T.Attribute_id = AD.Attribute_id GROUP BY A.Artist ORDER BY Average_Energy DESC, Average_Danceability DESC;</a:t>
            </a:r>
          </a:p>
        </p:txBody>
      </p:sp>
      <p:cxnSp>
        <p:nvCxnSpPr>
          <p:cNvPr id="7" name="Straight Connector 6"/>
          <p:cNvCxnSpPr/>
          <p:nvPr/>
        </p:nvCxnSpPr>
        <p:spPr>
          <a:xfrm>
            <a:off x="508000" y="86296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8" name="Text Box 7"/>
          <p:cNvSpPr txBox="1"/>
          <p:nvPr/>
        </p:nvSpPr>
        <p:spPr>
          <a:xfrm>
            <a:off x="468630" y="184785"/>
            <a:ext cx="8434070" cy="621665"/>
          </a:xfrm>
          <a:prstGeom prst="rect">
            <a:avLst/>
          </a:prstGeom>
          <a:noFill/>
        </p:spPr>
        <p:txBody>
          <a:bodyPr wrap="square" rtlCol="0" anchor="ctr" anchorCtr="0">
            <a:noAutofit/>
          </a:bodyPr>
          <a:lstStyle/>
          <a:p>
            <a:pPr algn="l"/>
            <a:r>
              <a:rPr lang="en-US" sz="2500">
                <a:solidFill>
                  <a:schemeClr val="bg1"/>
                </a:solidFill>
                <a:latin typeface="Arial Black" panose="020B0A04020102020204" charset="0"/>
                <a:cs typeface="Arial Black" panose="020B0A04020102020204" charset="0"/>
              </a:rPr>
              <a:t>ANALYSIS - ARTIST INFLUENCE &amp; VISIBILITY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470" y="1322705"/>
            <a:ext cx="3375660" cy="1311910"/>
          </a:xfrm>
        </p:spPr>
        <p:txBody>
          <a:bodyPr/>
          <a:lstStyle/>
          <a:p>
            <a:r>
              <a:rPr lang="en-US">
                <a:solidFill>
                  <a:schemeClr val="bg1"/>
                </a:solidFill>
              </a:rPr>
              <a:t>Q7. </a:t>
            </a:r>
            <a:r>
              <a:rPr lang="en-US" altLang="en-US">
                <a:solidFill>
                  <a:schemeClr val="bg1"/>
                </a:solidFill>
              </a:rPr>
              <a:t>Which genre has the highest average valence and energy combined?</a:t>
            </a:r>
          </a:p>
        </p:txBody>
      </p:sp>
      <p:sp>
        <p:nvSpPr>
          <p:cNvPr id="3" name="Picture Placeholder 2"/>
          <p:cNvSpPr>
            <a:spLocks noGrp="1" noChangeAspect="1"/>
          </p:cNvSpPr>
          <p:nvPr>
            <p:ph type="pic" idx="1"/>
          </p:nvPr>
        </p:nvSpPr>
        <p:spPr>
          <a:xfrm>
            <a:off x="4130040" y="1290320"/>
            <a:ext cx="4364355" cy="3340100"/>
          </a:xfrm>
        </p:spPr>
      </p:sp>
      <p:sp>
        <p:nvSpPr>
          <p:cNvPr id="6" name="Text Placeholder 5"/>
          <p:cNvSpPr>
            <a:spLocks noGrp="1"/>
          </p:cNvSpPr>
          <p:nvPr>
            <p:ph type="body" sz="half" idx="2"/>
          </p:nvPr>
        </p:nvSpPr>
        <p:spPr>
          <a:xfrm>
            <a:off x="458470" y="2761615"/>
            <a:ext cx="3481070" cy="2115185"/>
          </a:xfrm>
        </p:spPr>
        <p:txBody>
          <a:bodyPr/>
          <a:lstStyle/>
          <a:p>
            <a:pPr>
              <a:lnSpc>
                <a:spcPct val="130000"/>
              </a:lnSpc>
            </a:pPr>
            <a:r>
              <a:rPr lang="en-US" altLang="en-US">
                <a:solidFill>
                  <a:schemeClr val="bg1"/>
                </a:solidFill>
              </a:rPr>
              <a:t>SELECT G.Genre, (AVG(AD.Valence) + AVG(AD.Energy)) AS Combined_Valence_Energy FROM Genre_DET G JOIN Tracks_DET T ON G.Genre_id = T.Genre_id JOIN Attributes_DET AD ON T.Attribute_id = AD.Attribute_id GROUP BY G.Genre ORDER BY Combined_Valence_Energy DESC LIMIT 1;</a:t>
            </a:r>
          </a:p>
        </p:txBody>
      </p:sp>
      <p:cxnSp>
        <p:nvCxnSpPr>
          <p:cNvPr id="5" name="Straight Connector 4"/>
          <p:cNvCxnSpPr/>
          <p:nvPr/>
        </p:nvCxnSpPr>
        <p:spPr>
          <a:xfrm>
            <a:off x="508000" y="86296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417830" y="184785"/>
            <a:ext cx="8434070" cy="621665"/>
          </a:xfrm>
          <a:prstGeom prst="rect">
            <a:avLst/>
          </a:prstGeom>
          <a:noFill/>
        </p:spPr>
        <p:txBody>
          <a:bodyPr wrap="square" rtlCol="0" anchor="ctr" anchorCtr="0">
            <a:noAutofit/>
          </a:bodyPr>
          <a:lstStyle/>
          <a:p>
            <a:pPr algn="l"/>
            <a:r>
              <a:rPr lang="en-US" sz="2200">
                <a:solidFill>
                  <a:schemeClr val="bg1"/>
                </a:solidFill>
                <a:latin typeface="Arial Black" panose="020B0A04020102020204" charset="0"/>
                <a:cs typeface="Arial Black" panose="020B0A04020102020204" charset="0"/>
              </a:rPr>
              <a:t>ANALYSIS - LISTNER ENGAGEMENT &amp; INTERACTION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4320" y="1565275"/>
            <a:ext cx="3202305" cy="1376045"/>
          </a:xfrm>
        </p:spPr>
        <p:txBody>
          <a:bodyPr/>
          <a:lstStyle/>
          <a:p>
            <a:r>
              <a:rPr lang="en-US" sz="2200">
                <a:solidFill>
                  <a:schemeClr val="bg1"/>
                </a:solidFill>
              </a:rPr>
              <a:t>Q8. </a:t>
            </a:r>
            <a:r>
              <a:rPr lang="en-US" altLang="en-US" sz="2200">
                <a:solidFill>
                  <a:schemeClr val="bg1"/>
                </a:solidFill>
              </a:rPr>
              <a:t>What is the average danceability score per genre, ranked from highest to lowest?</a:t>
            </a:r>
          </a:p>
        </p:txBody>
      </p:sp>
      <p:sp>
        <p:nvSpPr>
          <p:cNvPr id="3" name="Picture Placeholder 2"/>
          <p:cNvSpPr>
            <a:spLocks noGrp="1" noChangeAspect="1"/>
          </p:cNvSpPr>
          <p:nvPr>
            <p:ph type="pic" idx="1"/>
          </p:nvPr>
        </p:nvSpPr>
        <p:spPr>
          <a:xfrm>
            <a:off x="563245" y="1320800"/>
            <a:ext cx="4364355" cy="3340100"/>
          </a:xfrm>
        </p:spPr>
      </p:sp>
      <p:sp>
        <p:nvSpPr>
          <p:cNvPr id="6" name="Text Placeholder 5"/>
          <p:cNvSpPr>
            <a:spLocks noGrp="1"/>
          </p:cNvSpPr>
          <p:nvPr>
            <p:ph type="body" sz="half" idx="2"/>
          </p:nvPr>
        </p:nvSpPr>
        <p:spPr>
          <a:xfrm>
            <a:off x="5354320" y="3091180"/>
            <a:ext cx="3202305" cy="1595755"/>
          </a:xfrm>
        </p:spPr>
        <p:txBody>
          <a:bodyPr/>
          <a:lstStyle/>
          <a:p>
            <a:pPr>
              <a:lnSpc>
                <a:spcPct val="120000"/>
              </a:lnSpc>
            </a:pPr>
            <a:r>
              <a:rPr lang="en-US" altLang="en-US">
                <a:solidFill>
                  <a:schemeClr val="bg1"/>
                </a:solidFill>
              </a:rPr>
              <a:t>SELECT G.Genre, AVG(AD.Danceability) AS Average_Danceability FROM Genre_DET G JOIN Tracks_DET T ON G.Genre_id = T.Genre_id JOIN Attributes_DET AD ON T.Attribute_id = AD.Attribute_id GROUP BY G.Genre ORDER BY Average_Danceability DESC;</a:t>
            </a:r>
          </a:p>
        </p:txBody>
      </p:sp>
      <p:cxnSp>
        <p:nvCxnSpPr>
          <p:cNvPr id="9" name="Straight Connector 8"/>
          <p:cNvCxnSpPr/>
          <p:nvPr/>
        </p:nvCxnSpPr>
        <p:spPr>
          <a:xfrm>
            <a:off x="508000" y="86296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10" name="Text Box 9"/>
          <p:cNvSpPr txBox="1"/>
          <p:nvPr/>
        </p:nvSpPr>
        <p:spPr>
          <a:xfrm>
            <a:off x="417830" y="184785"/>
            <a:ext cx="8434070" cy="621665"/>
          </a:xfrm>
          <a:prstGeom prst="rect">
            <a:avLst/>
          </a:prstGeom>
          <a:noFill/>
        </p:spPr>
        <p:txBody>
          <a:bodyPr wrap="square" rtlCol="0" anchor="ctr" anchorCtr="0">
            <a:noAutofit/>
          </a:bodyPr>
          <a:lstStyle/>
          <a:p>
            <a:pPr algn="l"/>
            <a:r>
              <a:rPr lang="en-US" sz="2200">
                <a:solidFill>
                  <a:schemeClr val="bg1"/>
                </a:solidFill>
                <a:latin typeface="Arial Black" panose="020B0A04020102020204" charset="0"/>
                <a:cs typeface="Arial Black" panose="020B0A04020102020204" charset="0"/>
              </a:rPr>
              <a:t>ANALYSIS - LISTNER ENGAGEMENT &amp; INTERACTION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70" y="1500505"/>
            <a:ext cx="3480435" cy="1311910"/>
          </a:xfrm>
        </p:spPr>
        <p:txBody>
          <a:bodyPr/>
          <a:lstStyle/>
          <a:p>
            <a:r>
              <a:rPr lang="en-US" altLang="en-US">
                <a:solidFill>
                  <a:schemeClr val="bg1"/>
                </a:solidFill>
              </a:rPr>
              <a:t>Q9.List the top 3 most popular tracks per genre (using DENSE_RANK).</a:t>
            </a:r>
          </a:p>
        </p:txBody>
      </p:sp>
      <p:sp>
        <p:nvSpPr>
          <p:cNvPr id="3" name="Picture Placeholder 2"/>
          <p:cNvSpPr>
            <a:spLocks noGrp="1" noChangeAspect="1"/>
          </p:cNvSpPr>
          <p:nvPr>
            <p:ph type="pic" idx="1"/>
          </p:nvPr>
        </p:nvSpPr>
        <p:spPr>
          <a:xfrm>
            <a:off x="4282440" y="1430020"/>
            <a:ext cx="4364355" cy="3340100"/>
          </a:xfrm>
        </p:spPr>
      </p:sp>
      <p:sp>
        <p:nvSpPr>
          <p:cNvPr id="6" name="Text Placeholder 5"/>
          <p:cNvSpPr>
            <a:spLocks noGrp="1"/>
          </p:cNvSpPr>
          <p:nvPr>
            <p:ph type="body" sz="half" idx="2"/>
          </p:nvPr>
        </p:nvSpPr>
        <p:spPr>
          <a:xfrm>
            <a:off x="534670" y="2895600"/>
            <a:ext cx="3376295" cy="1803400"/>
          </a:xfrm>
        </p:spPr>
        <p:txBody>
          <a:bodyPr/>
          <a:lstStyle/>
          <a:p>
            <a:pPr>
              <a:lnSpc>
                <a:spcPct val="100000"/>
              </a:lnSpc>
            </a:pPr>
            <a:r>
              <a:rPr lang="en-US" altLang="en-US">
                <a:solidFill>
                  <a:schemeClr val="bg1"/>
                </a:solidFill>
              </a:rPr>
              <a:t>SELECT Genre, Track_Name, Popularity FROM (SELECT G.Genre, T.Track_Name, AD.Popularity, DENSE_RANK() OVER (PARTITION BY G.Genre ORDER BY AD.Popularity DESC) as drnk FROM Genre_DET G JOIN Tracks_DET T ON G.Genre_id = T.Genre_id JOIN Attributes_DET AD ON T.Attribute_id = AD.Attribute_id) AS RankedTracks WHERE drnk &lt;= 3;</a:t>
            </a:r>
          </a:p>
        </p:txBody>
      </p:sp>
      <p:cxnSp>
        <p:nvCxnSpPr>
          <p:cNvPr id="5" name="Straight Connector 4"/>
          <p:cNvCxnSpPr/>
          <p:nvPr/>
        </p:nvCxnSpPr>
        <p:spPr>
          <a:xfrm>
            <a:off x="508000" y="86296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19430" y="184785"/>
            <a:ext cx="8253095" cy="621665"/>
          </a:xfrm>
          <a:prstGeom prst="rect">
            <a:avLst/>
          </a:prstGeom>
          <a:noFill/>
        </p:spPr>
        <p:txBody>
          <a:bodyPr wrap="square" rtlCol="0" anchor="ctr" anchorCtr="0">
            <a:noAutofit/>
          </a:bodyPr>
          <a:lstStyle/>
          <a:p>
            <a:pPr algn="l"/>
            <a:r>
              <a:rPr lang="en-US" sz="3100">
                <a:solidFill>
                  <a:schemeClr val="bg1"/>
                </a:solidFill>
                <a:latin typeface="Arial Black" panose="020B0A04020102020204" charset="0"/>
                <a:cs typeface="Arial Black" panose="020B0A04020102020204" charset="0"/>
              </a:rPr>
              <a:t>ANALYSIS - TRACK LEVEL INSIGHTS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9340" y="1294765"/>
            <a:ext cx="3921760" cy="1506855"/>
          </a:xfrm>
        </p:spPr>
        <p:txBody>
          <a:bodyPr/>
          <a:lstStyle/>
          <a:p>
            <a:r>
              <a:rPr lang="en-US">
                <a:solidFill>
                  <a:schemeClr val="bg1"/>
                </a:solidFill>
              </a:rPr>
              <a:t>Q10. </a:t>
            </a:r>
            <a:r>
              <a:rPr lang="en-US" altLang="en-US">
                <a:solidFill>
                  <a:schemeClr val="bg1"/>
                </a:solidFill>
              </a:rPr>
              <a:t>Which tracks are outliers in both tempo and energy (2 standard deviations from mean)?</a:t>
            </a:r>
          </a:p>
        </p:txBody>
      </p:sp>
      <p:sp>
        <p:nvSpPr>
          <p:cNvPr id="3" name="Picture Placeholder 2"/>
          <p:cNvSpPr>
            <a:spLocks noGrp="1" noChangeAspect="1"/>
          </p:cNvSpPr>
          <p:nvPr>
            <p:ph type="pic" idx="1"/>
          </p:nvPr>
        </p:nvSpPr>
        <p:spPr>
          <a:xfrm>
            <a:off x="563245" y="1320800"/>
            <a:ext cx="4008120" cy="3340100"/>
          </a:xfrm>
        </p:spPr>
      </p:sp>
      <p:sp>
        <p:nvSpPr>
          <p:cNvPr id="6" name="Text Placeholder 5"/>
          <p:cNvSpPr>
            <a:spLocks noGrp="1"/>
          </p:cNvSpPr>
          <p:nvPr>
            <p:ph type="body" sz="half" idx="2"/>
          </p:nvPr>
        </p:nvSpPr>
        <p:spPr>
          <a:xfrm>
            <a:off x="4879340" y="2930525"/>
            <a:ext cx="3922395" cy="1730375"/>
          </a:xfrm>
        </p:spPr>
        <p:txBody>
          <a:bodyPr/>
          <a:lstStyle/>
          <a:p>
            <a:r>
              <a:rPr lang="en-US" altLang="en-US">
                <a:solidFill>
                  <a:schemeClr val="bg1"/>
                </a:solidFill>
              </a:rPr>
              <a:t>SELECT T.Track_Name, AD.Tempo, AD.Energy FROM Tracks_DET T JOIN Attributes_DET AD ON T.Attribute_id = AD.Attribute_id WHERE (AD.Tempo &lt; (SELECT AVG(Tempo) - 2 * STDDEV(Tempo) FROM Attributes_DET) OR AD.Tempo &gt; (SELECT AVG(Tempo) + 2 * STDDEV(Tempo) FROM Attributes_DET)) AND (AD.Energy &lt; (SELECT AVG(Energy) - 2 * STDDEV(Energy) FROM Attributes_DET) OR AD.Energy &gt; (SELECT AVG(Energy) + 2 * STDDEV(Energy) FROM Attributes_DET));</a:t>
            </a:r>
          </a:p>
        </p:txBody>
      </p:sp>
      <p:cxnSp>
        <p:nvCxnSpPr>
          <p:cNvPr id="5" name="Straight Connector 4"/>
          <p:cNvCxnSpPr/>
          <p:nvPr/>
        </p:nvCxnSpPr>
        <p:spPr>
          <a:xfrm>
            <a:off x="508000" y="862965"/>
            <a:ext cx="8138160" cy="0"/>
          </a:xfrm>
          <a:prstGeom prst="line">
            <a:avLst/>
          </a:prstGeom>
          <a:ln w="76200">
            <a:solidFill>
              <a:srgbClr val="1ED760"/>
            </a:solidFill>
          </a:ln>
        </p:spPr>
        <p:style>
          <a:lnRef idx="2">
            <a:schemeClr val="accent1"/>
          </a:lnRef>
          <a:fillRef idx="0">
            <a:srgbClr val="FFFFFF"/>
          </a:fillRef>
          <a:effectRef idx="0">
            <a:srgbClr val="FFFFFF"/>
          </a:effectRef>
          <a:fontRef idx="minor">
            <a:schemeClr val="tx1"/>
          </a:fontRef>
        </p:style>
      </p:cxnSp>
      <p:sp>
        <p:nvSpPr>
          <p:cNvPr id="4" name="Text Box 3"/>
          <p:cNvSpPr txBox="1"/>
          <p:nvPr/>
        </p:nvSpPr>
        <p:spPr>
          <a:xfrm>
            <a:off x="519430" y="184785"/>
            <a:ext cx="8253095" cy="621665"/>
          </a:xfrm>
          <a:prstGeom prst="rect">
            <a:avLst/>
          </a:prstGeom>
          <a:noFill/>
        </p:spPr>
        <p:txBody>
          <a:bodyPr wrap="square" rtlCol="0" anchor="ctr" anchorCtr="0">
            <a:noAutofit/>
          </a:bodyPr>
          <a:lstStyle/>
          <a:p>
            <a:pPr algn="l"/>
            <a:r>
              <a:rPr lang="en-US" sz="3100">
                <a:solidFill>
                  <a:schemeClr val="bg1"/>
                </a:solidFill>
                <a:latin typeface="Arial Black" panose="020B0A04020102020204" charset="0"/>
                <a:cs typeface="Arial Black" panose="020B0A04020102020204" charset="0"/>
              </a:rPr>
              <a:t>ANALYSIS - TRACK LEVEL INSIGHTS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29690" y="1461135"/>
            <a:ext cx="2297430" cy="1861185"/>
          </a:xfrm>
          <a:prstGeom prst="rect">
            <a:avLst/>
          </a:prstGeom>
          <a:noFill/>
        </p:spPr>
        <p:txBody>
          <a:bodyPr wrap="square" rtlCol="0">
            <a:spAutoFit/>
          </a:bodyPr>
          <a:lstStyle/>
          <a:p>
            <a:pPr algn="ctr"/>
            <a:r>
              <a:rPr lang="en-US" sz="11500">
                <a:solidFill>
                  <a:schemeClr val="bg1"/>
                </a:solidFill>
                <a:latin typeface="Arial Black" panose="020B0A04020102020204" charset="0"/>
                <a:cs typeface="Arial Black" panose="020B0A04020102020204" charset="0"/>
              </a:rPr>
              <a:t>05</a:t>
            </a:r>
          </a:p>
        </p:txBody>
      </p:sp>
      <p:sp>
        <p:nvSpPr>
          <p:cNvPr id="3" name="Text Box 2"/>
          <p:cNvSpPr txBox="1"/>
          <p:nvPr/>
        </p:nvSpPr>
        <p:spPr>
          <a:xfrm>
            <a:off x="3949700" y="2112010"/>
            <a:ext cx="4123055" cy="746760"/>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SUGGESTIONS</a:t>
            </a:r>
          </a:p>
        </p:txBody>
      </p:sp>
      <p:cxnSp>
        <p:nvCxnSpPr>
          <p:cNvPr id="4" name="Straight Connector 3"/>
          <p:cNvCxnSpPr/>
          <p:nvPr/>
        </p:nvCxnSpPr>
        <p:spPr>
          <a:xfrm>
            <a:off x="1350645" y="3413760"/>
            <a:ext cx="6675120" cy="0"/>
          </a:xfrm>
          <a:prstGeom prst="line">
            <a:avLst/>
          </a:prstGeom>
          <a:ln w="76200">
            <a:solidFill>
              <a:srgbClr val="1ED7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8610" y="161925"/>
            <a:ext cx="4105275" cy="621665"/>
          </a:xfrm>
          <a:prstGeom prst="rect">
            <a:avLst/>
          </a:prstGeom>
          <a:noFill/>
        </p:spPr>
        <p:txBody>
          <a:bodyPr wrap="square" rtlCol="0">
            <a:noAutofit/>
          </a:bodyPr>
          <a:lstStyle/>
          <a:p>
            <a:pPr algn="l"/>
            <a:r>
              <a:rPr lang="en-US" sz="3200">
                <a:solidFill>
                  <a:schemeClr val="bg1"/>
                </a:solidFill>
                <a:latin typeface="Arial Black" panose="020B0A04020102020204" charset="0"/>
                <a:cs typeface="Arial Black" panose="020B0A04020102020204" charset="0"/>
              </a:rPr>
              <a:t>SUGGESTIONS</a:t>
            </a:r>
          </a:p>
        </p:txBody>
      </p:sp>
      <p:cxnSp>
        <p:nvCxnSpPr>
          <p:cNvPr id="5" name="Straight Connector 4"/>
          <p:cNvCxnSpPr/>
          <p:nvPr/>
        </p:nvCxnSpPr>
        <p:spPr>
          <a:xfrm>
            <a:off x="405130" y="795655"/>
            <a:ext cx="8138160" cy="0"/>
          </a:xfrm>
          <a:prstGeom prst="line">
            <a:avLst/>
          </a:prstGeom>
          <a:ln w="76200">
            <a:solidFill>
              <a:srgbClr val="1ED760"/>
            </a:solidFill>
          </a:ln>
        </p:spPr>
        <p:style>
          <a:lnRef idx="2">
            <a:schemeClr val="accent6"/>
          </a:lnRef>
          <a:fillRef idx="0">
            <a:schemeClr val="accent6"/>
          </a:fillRef>
          <a:effectRef idx="1">
            <a:schemeClr val="accent6"/>
          </a:effectRef>
          <a:fontRef idx="minor">
            <a:schemeClr val="tx1"/>
          </a:fontRef>
        </p:style>
      </p:cxnSp>
      <p:grpSp>
        <p:nvGrpSpPr>
          <p:cNvPr id="22" name="Group 21"/>
          <p:cNvGrpSpPr>
            <a:grpSpLocks noChangeAspect="1"/>
          </p:cNvGrpSpPr>
          <p:nvPr/>
        </p:nvGrpSpPr>
        <p:grpSpPr>
          <a:xfrm>
            <a:off x="539750" y="1319530"/>
            <a:ext cx="2367280" cy="3249930"/>
            <a:chOff x="4770" y="311"/>
            <a:chExt cx="5448" cy="7478"/>
          </a:xfrm>
        </p:grpSpPr>
        <p:grpSp>
          <p:nvGrpSpPr>
            <p:cNvPr id="12" name="Group 11"/>
            <p:cNvGrpSpPr>
              <a:grpSpLocks noChangeAspect="1"/>
            </p:cNvGrpSpPr>
            <p:nvPr/>
          </p:nvGrpSpPr>
          <p:grpSpPr>
            <a:xfrm>
              <a:off x="4770" y="311"/>
              <a:ext cx="5448" cy="7479"/>
              <a:chOff x="5390" y="1030"/>
              <a:chExt cx="4400" cy="6040"/>
            </a:xfrm>
          </p:grpSpPr>
          <p:sp>
            <p:nvSpPr>
              <p:cNvPr id="11" name="Rectangles 10"/>
              <p:cNvSpPr/>
              <p:nvPr/>
            </p:nvSpPr>
            <p:spPr>
              <a:xfrm>
                <a:off x="6380" y="2020"/>
                <a:ext cx="2420" cy="406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Rectangles 12"/>
              <p:cNvSpPr/>
              <p:nvPr/>
            </p:nvSpPr>
            <p:spPr>
              <a:xfrm>
                <a:off x="8350" y="1030"/>
                <a:ext cx="1440" cy="1440"/>
              </a:xfrm>
              <a:prstGeom prst="rect">
                <a:avLst/>
              </a:prstGeom>
              <a:solidFill>
                <a:srgbClr val="23232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4" name="Rectangles 13"/>
              <p:cNvSpPr/>
              <p:nvPr/>
            </p:nvSpPr>
            <p:spPr>
              <a:xfrm>
                <a:off x="5390" y="1030"/>
                <a:ext cx="1440" cy="1440"/>
              </a:xfrm>
              <a:prstGeom prst="rect">
                <a:avLst/>
              </a:prstGeom>
              <a:solidFill>
                <a:srgbClr val="23232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5" name="Rectangles 14"/>
              <p:cNvSpPr/>
              <p:nvPr/>
            </p:nvSpPr>
            <p:spPr>
              <a:xfrm>
                <a:off x="5390" y="3310"/>
                <a:ext cx="1440" cy="1440"/>
              </a:xfrm>
              <a:prstGeom prst="rect">
                <a:avLst/>
              </a:prstGeom>
              <a:solidFill>
                <a:srgbClr val="23232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Rectangles 15"/>
              <p:cNvSpPr/>
              <p:nvPr/>
            </p:nvSpPr>
            <p:spPr>
              <a:xfrm>
                <a:off x="5390" y="5590"/>
                <a:ext cx="1440" cy="1440"/>
              </a:xfrm>
              <a:prstGeom prst="rect">
                <a:avLst/>
              </a:prstGeom>
              <a:solidFill>
                <a:srgbClr val="23232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7" name="Rectangles 16"/>
              <p:cNvSpPr/>
              <p:nvPr/>
            </p:nvSpPr>
            <p:spPr>
              <a:xfrm>
                <a:off x="8350" y="3330"/>
                <a:ext cx="1440" cy="1440"/>
              </a:xfrm>
              <a:prstGeom prst="rect">
                <a:avLst/>
              </a:prstGeom>
              <a:solidFill>
                <a:srgbClr val="23232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8" name="Rectangles 17"/>
              <p:cNvSpPr/>
              <p:nvPr/>
            </p:nvSpPr>
            <p:spPr>
              <a:xfrm>
                <a:off x="8350" y="5630"/>
                <a:ext cx="1440" cy="1440"/>
              </a:xfrm>
              <a:prstGeom prst="rect">
                <a:avLst/>
              </a:prstGeom>
              <a:solidFill>
                <a:srgbClr val="23232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Rectangles 18"/>
              <p:cNvSpPr/>
              <p:nvPr/>
            </p:nvSpPr>
            <p:spPr>
              <a:xfrm>
                <a:off x="5390" y="1030"/>
                <a:ext cx="465" cy="465"/>
              </a:xfrm>
              <a:prstGeom prst="rect">
                <a:avLst/>
              </a:prstGeom>
              <a:solidFill>
                <a:srgbClr val="1ED76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a:latin typeface="Arial Regular" panose="020B0704020202020204" charset="0"/>
                    <a:cs typeface="Arial Regular" panose="020B0704020202020204" charset="0"/>
                  </a:rPr>
                  <a:t>1</a:t>
                </a:r>
              </a:p>
            </p:txBody>
          </p:sp>
        </p:grpSp>
        <p:sp>
          <p:nvSpPr>
            <p:cNvPr id="20" name="Rectangles 19"/>
            <p:cNvSpPr/>
            <p:nvPr/>
          </p:nvSpPr>
          <p:spPr>
            <a:xfrm>
              <a:off x="8435" y="311"/>
              <a:ext cx="576" cy="576"/>
            </a:xfrm>
            <a:prstGeom prst="rect">
              <a:avLst/>
            </a:prstGeom>
            <a:solidFill>
              <a:srgbClr val="1ED76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a:latin typeface="Arial Regular" panose="020B0704020202020204" charset="0"/>
                  <a:cs typeface="Arial Regular" panose="020B0704020202020204" charset="0"/>
                </a:rPr>
                <a:t>2</a:t>
              </a:r>
            </a:p>
          </p:txBody>
        </p:sp>
        <p:sp>
          <p:nvSpPr>
            <p:cNvPr id="21" name="Rectangles 20"/>
            <p:cNvSpPr/>
            <p:nvPr/>
          </p:nvSpPr>
          <p:spPr>
            <a:xfrm>
              <a:off x="4770" y="3131"/>
              <a:ext cx="576" cy="576"/>
            </a:xfrm>
            <a:prstGeom prst="rect">
              <a:avLst/>
            </a:prstGeom>
            <a:solidFill>
              <a:srgbClr val="1ED76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a:latin typeface="Arial Regular" panose="020B0704020202020204" charset="0"/>
                  <a:cs typeface="Arial Regular" panose="020B0704020202020204" charset="0"/>
                </a:rPr>
                <a:t>3</a:t>
              </a:r>
            </a:p>
          </p:txBody>
        </p:sp>
        <p:sp>
          <p:nvSpPr>
            <p:cNvPr id="23" name="Rectangles 22"/>
            <p:cNvSpPr/>
            <p:nvPr/>
          </p:nvSpPr>
          <p:spPr>
            <a:xfrm>
              <a:off x="8435" y="3151"/>
              <a:ext cx="576" cy="576"/>
            </a:xfrm>
            <a:prstGeom prst="rect">
              <a:avLst/>
            </a:prstGeom>
            <a:solidFill>
              <a:srgbClr val="1ED76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a:latin typeface="Arial Regular" panose="020B0704020202020204" charset="0"/>
                  <a:cs typeface="Arial Regular" panose="020B0704020202020204" charset="0"/>
                </a:rPr>
                <a:t>4</a:t>
              </a:r>
            </a:p>
          </p:txBody>
        </p:sp>
        <p:sp>
          <p:nvSpPr>
            <p:cNvPr id="24" name="Rectangles 23"/>
            <p:cNvSpPr/>
            <p:nvPr/>
          </p:nvSpPr>
          <p:spPr>
            <a:xfrm>
              <a:off x="4790" y="5951"/>
              <a:ext cx="576" cy="576"/>
            </a:xfrm>
            <a:prstGeom prst="rect">
              <a:avLst/>
            </a:prstGeom>
            <a:solidFill>
              <a:srgbClr val="1ED76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a:latin typeface="Arial Regular" panose="020B0704020202020204" charset="0"/>
                  <a:cs typeface="Arial Regular" panose="020B0704020202020204" charset="0"/>
                </a:rPr>
                <a:t>5</a:t>
              </a:r>
            </a:p>
          </p:txBody>
        </p:sp>
        <p:sp>
          <p:nvSpPr>
            <p:cNvPr id="25" name="Rectangles 24"/>
            <p:cNvSpPr/>
            <p:nvPr/>
          </p:nvSpPr>
          <p:spPr>
            <a:xfrm>
              <a:off x="8435" y="5991"/>
              <a:ext cx="576" cy="576"/>
            </a:xfrm>
            <a:prstGeom prst="rect">
              <a:avLst/>
            </a:prstGeom>
            <a:solidFill>
              <a:srgbClr val="1ED76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a:latin typeface="Arial Regular" panose="020B0704020202020204" charset="0"/>
                  <a:cs typeface="Arial Regular" panose="020B0704020202020204" charset="0"/>
                </a:rPr>
                <a:t>6</a:t>
              </a:r>
            </a:p>
          </p:txBody>
        </p:sp>
        <p:sp>
          <p:nvSpPr>
            <p:cNvPr id="27" name="Freeform 9"/>
            <p:cNvSpPr>
              <a:spLocks noEditPoints="1"/>
            </p:cNvSpPr>
            <p:nvPr/>
          </p:nvSpPr>
          <p:spPr bwMode="auto">
            <a:xfrm>
              <a:off x="5386" y="1080"/>
              <a:ext cx="583" cy="645"/>
            </a:xfrm>
            <a:custGeom>
              <a:avLst/>
              <a:gdLst/>
              <a:ahLst/>
              <a:cxnLst>
                <a:cxn ang="0">
                  <a:pos x="374" y="158"/>
                </a:cxn>
                <a:cxn ang="0">
                  <a:pos x="352" y="158"/>
                </a:cxn>
                <a:cxn ang="0">
                  <a:pos x="209" y="0"/>
                </a:cxn>
                <a:cxn ang="0">
                  <a:pos x="67" y="158"/>
                </a:cxn>
                <a:cxn ang="0">
                  <a:pos x="44" y="158"/>
                </a:cxn>
                <a:cxn ang="0">
                  <a:pos x="0" y="203"/>
                </a:cxn>
                <a:cxn ang="0">
                  <a:pos x="0" y="414"/>
                </a:cxn>
                <a:cxn ang="0">
                  <a:pos x="44" y="478"/>
                </a:cxn>
                <a:cxn ang="0">
                  <a:pos x="374" y="478"/>
                </a:cxn>
                <a:cxn ang="0">
                  <a:pos x="428" y="414"/>
                </a:cxn>
                <a:cxn ang="0">
                  <a:pos x="428" y="203"/>
                </a:cxn>
                <a:cxn ang="0">
                  <a:pos x="374" y="158"/>
                </a:cxn>
                <a:cxn ang="0">
                  <a:pos x="247" y="414"/>
                </a:cxn>
                <a:cxn ang="0">
                  <a:pos x="172" y="414"/>
                </a:cxn>
                <a:cxn ang="0">
                  <a:pos x="186" y="309"/>
                </a:cxn>
                <a:cxn ang="0">
                  <a:pos x="161" y="265"/>
                </a:cxn>
                <a:cxn ang="0">
                  <a:pos x="210" y="216"/>
                </a:cxn>
                <a:cxn ang="0">
                  <a:pos x="258" y="264"/>
                </a:cxn>
                <a:cxn ang="0">
                  <a:pos x="232" y="310"/>
                </a:cxn>
                <a:cxn ang="0">
                  <a:pos x="247" y="414"/>
                </a:cxn>
                <a:cxn ang="0">
                  <a:pos x="112" y="158"/>
                </a:cxn>
                <a:cxn ang="0">
                  <a:pos x="209" y="45"/>
                </a:cxn>
                <a:cxn ang="0">
                  <a:pos x="307" y="158"/>
                </a:cxn>
                <a:cxn ang="0">
                  <a:pos x="112" y="158"/>
                </a:cxn>
              </a:cxnLst>
              <a:rect l="0" t="0" r="r" b="b"/>
              <a:pathLst>
                <a:path w="428" h="478">
                  <a:moveTo>
                    <a:pt x="374" y="158"/>
                  </a:moveTo>
                  <a:cubicBezTo>
                    <a:pt x="352" y="158"/>
                    <a:pt x="352" y="158"/>
                    <a:pt x="352" y="158"/>
                  </a:cubicBezTo>
                  <a:cubicBezTo>
                    <a:pt x="352" y="58"/>
                    <a:pt x="292" y="0"/>
                    <a:pt x="209" y="0"/>
                  </a:cubicBezTo>
                  <a:cubicBezTo>
                    <a:pt x="127" y="0"/>
                    <a:pt x="67" y="58"/>
                    <a:pt x="67" y="158"/>
                  </a:cubicBezTo>
                  <a:cubicBezTo>
                    <a:pt x="44" y="158"/>
                    <a:pt x="44" y="158"/>
                    <a:pt x="44" y="158"/>
                  </a:cubicBezTo>
                  <a:cubicBezTo>
                    <a:pt x="11" y="158"/>
                    <a:pt x="0" y="170"/>
                    <a:pt x="0" y="203"/>
                  </a:cubicBezTo>
                  <a:cubicBezTo>
                    <a:pt x="0" y="414"/>
                    <a:pt x="0" y="414"/>
                    <a:pt x="0" y="414"/>
                  </a:cubicBezTo>
                  <a:cubicBezTo>
                    <a:pt x="0" y="447"/>
                    <a:pt x="11" y="478"/>
                    <a:pt x="44" y="478"/>
                  </a:cubicBezTo>
                  <a:cubicBezTo>
                    <a:pt x="374" y="478"/>
                    <a:pt x="374" y="478"/>
                    <a:pt x="374" y="478"/>
                  </a:cubicBezTo>
                  <a:cubicBezTo>
                    <a:pt x="407" y="478"/>
                    <a:pt x="428" y="447"/>
                    <a:pt x="428" y="414"/>
                  </a:cubicBezTo>
                  <a:cubicBezTo>
                    <a:pt x="428" y="203"/>
                    <a:pt x="428" y="203"/>
                    <a:pt x="428" y="203"/>
                  </a:cubicBezTo>
                  <a:cubicBezTo>
                    <a:pt x="428" y="170"/>
                    <a:pt x="407" y="158"/>
                    <a:pt x="374" y="158"/>
                  </a:cubicBezTo>
                  <a:moveTo>
                    <a:pt x="247" y="414"/>
                  </a:moveTo>
                  <a:cubicBezTo>
                    <a:pt x="172" y="414"/>
                    <a:pt x="172" y="414"/>
                    <a:pt x="172" y="414"/>
                  </a:cubicBezTo>
                  <a:cubicBezTo>
                    <a:pt x="186" y="309"/>
                    <a:pt x="186" y="309"/>
                    <a:pt x="186" y="309"/>
                  </a:cubicBezTo>
                  <a:cubicBezTo>
                    <a:pt x="171" y="301"/>
                    <a:pt x="161" y="283"/>
                    <a:pt x="161" y="265"/>
                  </a:cubicBezTo>
                  <a:cubicBezTo>
                    <a:pt x="161" y="238"/>
                    <a:pt x="183" y="216"/>
                    <a:pt x="210" y="216"/>
                  </a:cubicBezTo>
                  <a:cubicBezTo>
                    <a:pt x="236" y="216"/>
                    <a:pt x="258" y="237"/>
                    <a:pt x="258" y="264"/>
                  </a:cubicBezTo>
                  <a:cubicBezTo>
                    <a:pt x="258" y="282"/>
                    <a:pt x="248" y="302"/>
                    <a:pt x="232" y="310"/>
                  </a:cubicBezTo>
                  <a:lnTo>
                    <a:pt x="247" y="414"/>
                  </a:lnTo>
                  <a:close/>
                  <a:moveTo>
                    <a:pt x="112" y="158"/>
                  </a:moveTo>
                  <a:cubicBezTo>
                    <a:pt x="112" y="66"/>
                    <a:pt x="161" y="45"/>
                    <a:pt x="209" y="45"/>
                  </a:cubicBezTo>
                  <a:cubicBezTo>
                    <a:pt x="258" y="45"/>
                    <a:pt x="307" y="66"/>
                    <a:pt x="307" y="158"/>
                  </a:cubicBezTo>
                  <a:lnTo>
                    <a:pt x="112" y="158"/>
                  </a:ln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1029970" rtl="0" eaLnBrk="1" fontAlgn="auto" latinLnBrk="0" hangingPunct="1">
                <a:lnSpc>
                  <a:spcPct val="100000"/>
                </a:lnSpc>
                <a:spcBef>
                  <a:spcPts val="0"/>
                </a:spcBef>
                <a:spcAft>
                  <a:spcPts val="0"/>
                </a:spcAft>
                <a:buClrTx/>
                <a:buSzTx/>
                <a:buFontTx/>
                <a:buNone/>
                <a:defRPr/>
              </a:pPr>
              <a:endParaRPr kumimoji="0" lang="en-US" sz="19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26" name="Freeform 6"/>
            <p:cNvSpPr>
              <a:spLocks noChangeAspect="1" noEditPoints="1"/>
            </p:cNvSpPr>
            <p:nvPr/>
          </p:nvSpPr>
          <p:spPr bwMode="auto">
            <a:xfrm>
              <a:off x="8992" y="1080"/>
              <a:ext cx="728" cy="576"/>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1029970" rtl="0" eaLnBrk="1" fontAlgn="auto" latinLnBrk="0" hangingPunct="1">
                <a:lnSpc>
                  <a:spcPct val="100000"/>
                </a:lnSpc>
                <a:spcBef>
                  <a:spcPts val="0"/>
                </a:spcBef>
                <a:spcAft>
                  <a:spcPts val="0"/>
                </a:spcAft>
                <a:buClrTx/>
                <a:buSzTx/>
                <a:buFontTx/>
                <a:buNone/>
                <a:defRPr/>
              </a:pPr>
              <a:endParaRPr kumimoji="0" lang="en-US" sz="1995" b="0" i="0" u="none" strike="noStrike" kern="0" cap="none" spc="0" normalizeH="0" baseline="0" noProof="0" dirty="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30" name="Freeform 9"/>
            <p:cNvSpPr>
              <a:spLocks noChangeAspect="1" noEditPoints="1"/>
            </p:cNvSpPr>
            <p:nvPr/>
          </p:nvSpPr>
          <p:spPr bwMode="auto">
            <a:xfrm rot="2024094">
              <a:off x="5508" y="3585"/>
              <a:ext cx="437" cy="1008"/>
            </a:xfrm>
            <a:custGeom>
              <a:avLst/>
              <a:gdLst/>
              <a:ahLst/>
              <a:cxnLst>
                <a:cxn ang="0">
                  <a:pos x="0" y="84"/>
                </a:cxn>
                <a:cxn ang="0">
                  <a:pos x="50" y="134"/>
                </a:cxn>
                <a:cxn ang="0">
                  <a:pos x="61" y="133"/>
                </a:cxn>
                <a:cxn ang="0">
                  <a:pos x="61" y="148"/>
                </a:cxn>
                <a:cxn ang="0">
                  <a:pos x="73" y="154"/>
                </a:cxn>
                <a:cxn ang="0">
                  <a:pos x="73" y="278"/>
                </a:cxn>
                <a:cxn ang="0">
                  <a:pos x="61" y="284"/>
                </a:cxn>
                <a:cxn ang="0">
                  <a:pos x="61" y="377"/>
                </a:cxn>
                <a:cxn ang="0">
                  <a:pos x="75" y="392"/>
                </a:cxn>
                <a:cxn ang="0">
                  <a:pos x="93" y="392"/>
                </a:cxn>
                <a:cxn ang="0">
                  <a:pos x="107" y="377"/>
                </a:cxn>
                <a:cxn ang="0">
                  <a:pos x="107" y="357"/>
                </a:cxn>
                <a:cxn ang="0">
                  <a:pos x="143" y="357"/>
                </a:cxn>
                <a:cxn ang="0">
                  <a:pos x="157" y="343"/>
                </a:cxn>
                <a:cxn ang="0">
                  <a:pos x="143" y="329"/>
                </a:cxn>
                <a:cxn ang="0">
                  <a:pos x="107" y="329"/>
                </a:cxn>
                <a:cxn ang="0">
                  <a:pos x="107" y="321"/>
                </a:cxn>
                <a:cxn ang="0">
                  <a:pos x="143" y="321"/>
                </a:cxn>
                <a:cxn ang="0">
                  <a:pos x="157" y="307"/>
                </a:cxn>
                <a:cxn ang="0">
                  <a:pos x="143" y="293"/>
                </a:cxn>
                <a:cxn ang="0">
                  <a:pos x="107" y="293"/>
                </a:cxn>
                <a:cxn ang="0">
                  <a:pos x="107" y="283"/>
                </a:cxn>
                <a:cxn ang="0">
                  <a:pos x="95" y="277"/>
                </a:cxn>
                <a:cxn ang="0">
                  <a:pos x="95" y="156"/>
                </a:cxn>
                <a:cxn ang="0">
                  <a:pos x="107" y="150"/>
                </a:cxn>
                <a:cxn ang="0">
                  <a:pos x="107" y="133"/>
                </a:cxn>
                <a:cxn ang="0">
                  <a:pos x="117" y="134"/>
                </a:cxn>
                <a:cxn ang="0">
                  <a:pos x="168" y="84"/>
                </a:cxn>
                <a:cxn ang="0">
                  <a:pos x="132" y="36"/>
                </a:cxn>
                <a:cxn ang="0">
                  <a:pos x="84" y="0"/>
                </a:cxn>
                <a:cxn ang="0">
                  <a:pos x="36" y="36"/>
                </a:cxn>
                <a:cxn ang="0">
                  <a:pos x="0" y="84"/>
                </a:cxn>
                <a:cxn ang="0">
                  <a:pos x="84" y="31"/>
                </a:cxn>
                <a:cxn ang="0">
                  <a:pos x="107" y="54"/>
                </a:cxn>
                <a:cxn ang="0">
                  <a:pos x="106" y="62"/>
                </a:cxn>
                <a:cxn ang="0">
                  <a:pos x="129" y="87"/>
                </a:cxn>
                <a:cxn ang="0">
                  <a:pos x="105" y="111"/>
                </a:cxn>
                <a:cxn ang="0">
                  <a:pos x="84" y="100"/>
                </a:cxn>
                <a:cxn ang="0">
                  <a:pos x="63" y="111"/>
                </a:cxn>
                <a:cxn ang="0">
                  <a:pos x="38" y="87"/>
                </a:cxn>
                <a:cxn ang="0">
                  <a:pos x="62" y="62"/>
                </a:cxn>
                <a:cxn ang="0">
                  <a:pos x="61" y="54"/>
                </a:cxn>
                <a:cxn ang="0">
                  <a:pos x="84" y="31"/>
                </a:cxn>
                <a:cxn ang="0">
                  <a:pos x="84" y="31"/>
                </a:cxn>
                <a:cxn ang="0">
                  <a:pos x="84" y="31"/>
                </a:cxn>
              </a:cxnLst>
              <a:rect l="0" t="0" r="r" b="b"/>
              <a:pathLst>
                <a:path w="168" h="392">
                  <a:moveTo>
                    <a:pt x="0" y="84"/>
                  </a:moveTo>
                  <a:cubicBezTo>
                    <a:pt x="0" y="112"/>
                    <a:pt x="23" y="134"/>
                    <a:pt x="50" y="134"/>
                  </a:cubicBezTo>
                  <a:cubicBezTo>
                    <a:pt x="54" y="134"/>
                    <a:pt x="57" y="134"/>
                    <a:pt x="61" y="133"/>
                  </a:cubicBezTo>
                  <a:cubicBezTo>
                    <a:pt x="61" y="148"/>
                    <a:pt x="61" y="148"/>
                    <a:pt x="61" y="148"/>
                  </a:cubicBezTo>
                  <a:cubicBezTo>
                    <a:pt x="73" y="154"/>
                    <a:pt x="73" y="154"/>
                    <a:pt x="73" y="154"/>
                  </a:cubicBezTo>
                  <a:cubicBezTo>
                    <a:pt x="73" y="278"/>
                    <a:pt x="73" y="278"/>
                    <a:pt x="73" y="278"/>
                  </a:cubicBezTo>
                  <a:cubicBezTo>
                    <a:pt x="61" y="284"/>
                    <a:pt x="61" y="284"/>
                    <a:pt x="61" y="284"/>
                  </a:cubicBezTo>
                  <a:cubicBezTo>
                    <a:pt x="61" y="377"/>
                    <a:pt x="61" y="377"/>
                    <a:pt x="61" y="377"/>
                  </a:cubicBezTo>
                  <a:cubicBezTo>
                    <a:pt x="61" y="385"/>
                    <a:pt x="67" y="392"/>
                    <a:pt x="75" y="392"/>
                  </a:cubicBezTo>
                  <a:cubicBezTo>
                    <a:pt x="93" y="392"/>
                    <a:pt x="93" y="392"/>
                    <a:pt x="93" y="392"/>
                  </a:cubicBezTo>
                  <a:cubicBezTo>
                    <a:pt x="101" y="392"/>
                    <a:pt x="107" y="385"/>
                    <a:pt x="107" y="377"/>
                  </a:cubicBezTo>
                  <a:cubicBezTo>
                    <a:pt x="107" y="357"/>
                    <a:pt x="107" y="357"/>
                    <a:pt x="107" y="357"/>
                  </a:cubicBezTo>
                  <a:cubicBezTo>
                    <a:pt x="143" y="357"/>
                    <a:pt x="143" y="357"/>
                    <a:pt x="143" y="357"/>
                  </a:cubicBezTo>
                  <a:cubicBezTo>
                    <a:pt x="150" y="357"/>
                    <a:pt x="157" y="350"/>
                    <a:pt x="157" y="343"/>
                  </a:cubicBezTo>
                  <a:cubicBezTo>
                    <a:pt x="157" y="335"/>
                    <a:pt x="150" y="329"/>
                    <a:pt x="143" y="329"/>
                  </a:cubicBezTo>
                  <a:cubicBezTo>
                    <a:pt x="107" y="329"/>
                    <a:pt x="107" y="329"/>
                    <a:pt x="107" y="329"/>
                  </a:cubicBezTo>
                  <a:cubicBezTo>
                    <a:pt x="107" y="321"/>
                    <a:pt x="107" y="321"/>
                    <a:pt x="107" y="321"/>
                  </a:cubicBezTo>
                  <a:cubicBezTo>
                    <a:pt x="143" y="321"/>
                    <a:pt x="143" y="321"/>
                    <a:pt x="143" y="321"/>
                  </a:cubicBezTo>
                  <a:cubicBezTo>
                    <a:pt x="150" y="321"/>
                    <a:pt x="157" y="314"/>
                    <a:pt x="157" y="307"/>
                  </a:cubicBezTo>
                  <a:cubicBezTo>
                    <a:pt x="157" y="299"/>
                    <a:pt x="150" y="293"/>
                    <a:pt x="143" y="293"/>
                  </a:cubicBezTo>
                  <a:cubicBezTo>
                    <a:pt x="107" y="293"/>
                    <a:pt x="107" y="293"/>
                    <a:pt x="107" y="293"/>
                  </a:cubicBezTo>
                  <a:cubicBezTo>
                    <a:pt x="107" y="283"/>
                    <a:pt x="107" y="283"/>
                    <a:pt x="107" y="283"/>
                  </a:cubicBezTo>
                  <a:cubicBezTo>
                    <a:pt x="95" y="277"/>
                    <a:pt x="95" y="277"/>
                    <a:pt x="95" y="277"/>
                  </a:cubicBezTo>
                  <a:cubicBezTo>
                    <a:pt x="95" y="156"/>
                    <a:pt x="95" y="156"/>
                    <a:pt x="95" y="156"/>
                  </a:cubicBezTo>
                  <a:cubicBezTo>
                    <a:pt x="107" y="150"/>
                    <a:pt x="107" y="150"/>
                    <a:pt x="107" y="150"/>
                  </a:cubicBezTo>
                  <a:cubicBezTo>
                    <a:pt x="107" y="133"/>
                    <a:pt x="107" y="133"/>
                    <a:pt x="107" y="133"/>
                  </a:cubicBezTo>
                  <a:cubicBezTo>
                    <a:pt x="110" y="134"/>
                    <a:pt x="114" y="134"/>
                    <a:pt x="117" y="134"/>
                  </a:cubicBezTo>
                  <a:cubicBezTo>
                    <a:pt x="145" y="134"/>
                    <a:pt x="168" y="112"/>
                    <a:pt x="168" y="84"/>
                  </a:cubicBezTo>
                  <a:cubicBezTo>
                    <a:pt x="168" y="61"/>
                    <a:pt x="153" y="42"/>
                    <a:pt x="132" y="36"/>
                  </a:cubicBezTo>
                  <a:cubicBezTo>
                    <a:pt x="126" y="15"/>
                    <a:pt x="107" y="0"/>
                    <a:pt x="84" y="0"/>
                  </a:cubicBezTo>
                  <a:cubicBezTo>
                    <a:pt x="61" y="0"/>
                    <a:pt x="42" y="15"/>
                    <a:pt x="36" y="36"/>
                  </a:cubicBezTo>
                  <a:cubicBezTo>
                    <a:pt x="15" y="42"/>
                    <a:pt x="0" y="61"/>
                    <a:pt x="0" y="84"/>
                  </a:cubicBezTo>
                  <a:close/>
                  <a:moveTo>
                    <a:pt x="84" y="31"/>
                  </a:moveTo>
                  <a:cubicBezTo>
                    <a:pt x="97" y="31"/>
                    <a:pt x="107" y="41"/>
                    <a:pt x="107" y="54"/>
                  </a:cubicBezTo>
                  <a:cubicBezTo>
                    <a:pt x="107" y="57"/>
                    <a:pt x="106" y="59"/>
                    <a:pt x="106" y="62"/>
                  </a:cubicBezTo>
                  <a:cubicBezTo>
                    <a:pt x="119" y="62"/>
                    <a:pt x="129" y="73"/>
                    <a:pt x="129" y="87"/>
                  </a:cubicBezTo>
                  <a:cubicBezTo>
                    <a:pt x="129" y="100"/>
                    <a:pt x="118" y="111"/>
                    <a:pt x="105" y="111"/>
                  </a:cubicBezTo>
                  <a:cubicBezTo>
                    <a:pt x="96" y="111"/>
                    <a:pt x="88" y="107"/>
                    <a:pt x="84" y="100"/>
                  </a:cubicBezTo>
                  <a:cubicBezTo>
                    <a:pt x="79" y="107"/>
                    <a:pt x="72" y="111"/>
                    <a:pt x="63" y="111"/>
                  </a:cubicBezTo>
                  <a:cubicBezTo>
                    <a:pt x="49" y="111"/>
                    <a:pt x="38" y="100"/>
                    <a:pt x="38" y="87"/>
                  </a:cubicBezTo>
                  <a:cubicBezTo>
                    <a:pt x="38" y="73"/>
                    <a:pt x="49" y="62"/>
                    <a:pt x="62" y="62"/>
                  </a:cubicBezTo>
                  <a:cubicBezTo>
                    <a:pt x="61" y="59"/>
                    <a:pt x="61" y="57"/>
                    <a:pt x="61" y="54"/>
                  </a:cubicBezTo>
                  <a:cubicBezTo>
                    <a:pt x="61" y="41"/>
                    <a:pt x="71" y="31"/>
                    <a:pt x="84" y="31"/>
                  </a:cubicBezTo>
                  <a:close/>
                  <a:moveTo>
                    <a:pt x="84" y="31"/>
                  </a:moveTo>
                  <a:cubicBezTo>
                    <a:pt x="84" y="31"/>
                    <a:pt x="84" y="31"/>
                    <a:pt x="84" y="31"/>
                  </a:cubicBezTo>
                </a:path>
              </a:pathLst>
            </a:custGeom>
            <a:solidFill>
              <a:srgbClr val="FFFFFF"/>
            </a:solidFill>
            <a:ln w="9525">
              <a:noFill/>
              <a:round/>
            </a:ln>
          </p:spPr>
          <p:txBody>
            <a:bodyPr vert="horz" wrap="square" lIns="68458" tIns="34229" rIns="68458" bIns="34229" numCol="1" anchor="t" anchorCtr="0" compatLnSpc="1"/>
            <a:lstStyle/>
            <a:p>
              <a:pPr marL="0" marR="0" lvl="0" indent="0" algn="l" defTabSz="1029970" rtl="0" eaLnBrk="1" fontAlgn="auto" latinLnBrk="0" hangingPunct="1">
                <a:lnSpc>
                  <a:spcPct val="100000"/>
                </a:lnSpc>
                <a:spcBef>
                  <a:spcPts val="0"/>
                </a:spcBef>
                <a:spcAft>
                  <a:spcPts val="0"/>
                </a:spcAft>
                <a:buClrTx/>
                <a:buSzTx/>
                <a:buFontTx/>
                <a:buNone/>
                <a:defRPr/>
              </a:pPr>
              <a:endParaRPr kumimoji="0" lang="en-US" sz="1995" b="0" i="0" u="none" strike="noStrike" kern="0" cap="none" spc="0" normalizeH="0" baseline="0" noProof="0" dirty="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28" name="Freeform 9"/>
            <p:cNvSpPr>
              <a:spLocks noChangeAspect="1" noEditPoints="1"/>
            </p:cNvSpPr>
            <p:nvPr/>
          </p:nvSpPr>
          <p:spPr bwMode="auto">
            <a:xfrm rot="2024094">
              <a:off x="9100" y="6482"/>
              <a:ext cx="437" cy="1008"/>
            </a:xfrm>
            <a:custGeom>
              <a:avLst/>
              <a:gdLst/>
              <a:ahLst/>
              <a:cxnLst>
                <a:cxn ang="0">
                  <a:pos x="0" y="84"/>
                </a:cxn>
                <a:cxn ang="0">
                  <a:pos x="50" y="134"/>
                </a:cxn>
                <a:cxn ang="0">
                  <a:pos x="61" y="133"/>
                </a:cxn>
                <a:cxn ang="0">
                  <a:pos x="61" y="148"/>
                </a:cxn>
                <a:cxn ang="0">
                  <a:pos x="73" y="154"/>
                </a:cxn>
                <a:cxn ang="0">
                  <a:pos x="73" y="278"/>
                </a:cxn>
                <a:cxn ang="0">
                  <a:pos x="61" y="284"/>
                </a:cxn>
                <a:cxn ang="0">
                  <a:pos x="61" y="377"/>
                </a:cxn>
                <a:cxn ang="0">
                  <a:pos x="75" y="392"/>
                </a:cxn>
                <a:cxn ang="0">
                  <a:pos x="93" y="392"/>
                </a:cxn>
                <a:cxn ang="0">
                  <a:pos x="107" y="377"/>
                </a:cxn>
                <a:cxn ang="0">
                  <a:pos x="107" y="357"/>
                </a:cxn>
                <a:cxn ang="0">
                  <a:pos x="143" y="357"/>
                </a:cxn>
                <a:cxn ang="0">
                  <a:pos x="157" y="343"/>
                </a:cxn>
                <a:cxn ang="0">
                  <a:pos x="143" y="329"/>
                </a:cxn>
                <a:cxn ang="0">
                  <a:pos x="107" y="329"/>
                </a:cxn>
                <a:cxn ang="0">
                  <a:pos x="107" y="321"/>
                </a:cxn>
                <a:cxn ang="0">
                  <a:pos x="143" y="321"/>
                </a:cxn>
                <a:cxn ang="0">
                  <a:pos x="157" y="307"/>
                </a:cxn>
                <a:cxn ang="0">
                  <a:pos x="143" y="293"/>
                </a:cxn>
                <a:cxn ang="0">
                  <a:pos x="107" y="293"/>
                </a:cxn>
                <a:cxn ang="0">
                  <a:pos x="107" y="283"/>
                </a:cxn>
                <a:cxn ang="0">
                  <a:pos x="95" y="277"/>
                </a:cxn>
                <a:cxn ang="0">
                  <a:pos x="95" y="156"/>
                </a:cxn>
                <a:cxn ang="0">
                  <a:pos x="107" y="150"/>
                </a:cxn>
                <a:cxn ang="0">
                  <a:pos x="107" y="133"/>
                </a:cxn>
                <a:cxn ang="0">
                  <a:pos x="117" y="134"/>
                </a:cxn>
                <a:cxn ang="0">
                  <a:pos x="168" y="84"/>
                </a:cxn>
                <a:cxn ang="0">
                  <a:pos x="132" y="36"/>
                </a:cxn>
                <a:cxn ang="0">
                  <a:pos x="84" y="0"/>
                </a:cxn>
                <a:cxn ang="0">
                  <a:pos x="36" y="36"/>
                </a:cxn>
                <a:cxn ang="0">
                  <a:pos x="0" y="84"/>
                </a:cxn>
                <a:cxn ang="0">
                  <a:pos x="84" y="31"/>
                </a:cxn>
                <a:cxn ang="0">
                  <a:pos x="107" y="54"/>
                </a:cxn>
                <a:cxn ang="0">
                  <a:pos x="106" y="62"/>
                </a:cxn>
                <a:cxn ang="0">
                  <a:pos x="129" y="87"/>
                </a:cxn>
                <a:cxn ang="0">
                  <a:pos x="105" y="111"/>
                </a:cxn>
                <a:cxn ang="0">
                  <a:pos x="84" y="100"/>
                </a:cxn>
                <a:cxn ang="0">
                  <a:pos x="63" y="111"/>
                </a:cxn>
                <a:cxn ang="0">
                  <a:pos x="38" y="87"/>
                </a:cxn>
                <a:cxn ang="0">
                  <a:pos x="62" y="62"/>
                </a:cxn>
                <a:cxn ang="0">
                  <a:pos x="61" y="54"/>
                </a:cxn>
                <a:cxn ang="0">
                  <a:pos x="84" y="31"/>
                </a:cxn>
                <a:cxn ang="0">
                  <a:pos x="84" y="31"/>
                </a:cxn>
                <a:cxn ang="0">
                  <a:pos x="84" y="31"/>
                </a:cxn>
              </a:cxnLst>
              <a:rect l="0" t="0" r="r" b="b"/>
              <a:pathLst>
                <a:path w="168" h="392">
                  <a:moveTo>
                    <a:pt x="0" y="84"/>
                  </a:moveTo>
                  <a:cubicBezTo>
                    <a:pt x="0" y="112"/>
                    <a:pt x="23" y="134"/>
                    <a:pt x="50" y="134"/>
                  </a:cubicBezTo>
                  <a:cubicBezTo>
                    <a:pt x="54" y="134"/>
                    <a:pt x="57" y="134"/>
                    <a:pt x="61" y="133"/>
                  </a:cubicBezTo>
                  <a:cubicBezTo>
                    <a:pt x="61" y="148"/>
                    <a:pt x="61" y="148"/>
                    <a:pt x="61" y="148"/>
                  </a:cubicBezTo>
                  <a:cubicBezTo>
                    <a:pt x="73" y="154"/>
                    <a:pt x="73" y="154"/>
                    <a:pt x="73" y="154"/>
                  </a:cubicBezTo>
                  <a:cubicBezTo>
                    <a:pt x="73" y="278"/>
                    <a:pt x="73" y="278"/>
                    <a:pt x="73" y="278"/>
                  </a:cubicBezTo>
                  <a:cubicBezTo>
                    <a:pt x="61" y="284"/>
                    <a:pt x="61" y="284"/>
                    <a:pt x="61" y="284"/>
                  </a:cubicBezTo>
                  <a:cubicBezTo>
                    <a:pt x="61" y="377"/>
                    <a:pt x="61" y="377"/>
                    <a:pt x="61" y="377"/>
                  </a:cubicBezTo>
                  <a:cubicBezTo>
                    <a:pt x="61" y="385"/>
                    <a:pt x="67" y="392"/>
                    <a:pt x="75" y="392"/>
                  </a:cubicBezTo>
                  <a:cubicBezTo>
                    <a:pt x="93" y="392"/>
                    <a:pt x="93" y="392"/>
                    <a:pt x="93" y="392"/>
                  </a:cubicBezTo>
                  <a:cubicBezTo>
                    <a:pt x="101" y="392"/>
                    <a:pt x="107" y="385"/>
                    <a:pt x="107" y="377"/>
                  </a:cubicBezTo>
                  <a:cubicBezTo>
                    <a:pt x="107" y="357"/>
                    <a:pt x="107" y="357"/>
                    <a:pt x="107" y="357"/>
                  </a:cubicBezTo>
                  <a:cubicBezTo>
                    <a:pt x="143" y="357"/>
                    <a:pt x="143" y="357"/>
                    <a:pt x="143" y="357"/>
                  </a:cubicBezTo>
                  <a:cubicBezTo>
                    <a:pt x="150" y="357"/>
                    <a:pt x="157" y="350"/>
                    <a:pt x="157" y="343"/>
                  </a:cubicBezTo>
                  <a:cubicBezTo>
                    <a:pt x="157" y="335"/>
                    <a:pt x="150" y="329"/>
                    <a:pt x="143" y="329"/>
                  </a:cubicBezTo>
                  <a:cubicBezTo>
                    <a:pt x="107" y="329"/>
                    <a:pt x="107" y="329"/>
                    <a:pt x="107" y="329"/>
                  </a:cubicBezTo>
                  <a:cubicBezTo>
                    <a:pt x="107" y="321"/>
                    <a:pt x="107" y="321"/>
                    <a:pt x="107" y="321"/>
                  </a:cubicBezTo>
                  <a:cubicBezTo>
                    <a:pt x="143" y="321"/>
                    <a:pt x="143" y="321"/>
                    <a:pt x="143" y="321"/>
                  </a:cubicBezTo>
                  <a:cubicBezTo>
                    <a:pt x="150" y="321"/>
                    <a:pt x="157" y="314"/>
                    <a:pt x="157" y="307"/>
                  </a:cubicBezTo>
                  <a:cubicBezTo>
                    <a:pt x="157" y="299"/>
                    <a:pt x="150" y="293"/>
                    <a:pt x="143" y="293"/>
                  </a:cubicBezTo>
                  <a:cubicBezTo>
                    <a:pt x="107" y="293"/>
                    <a:pt x="107" y="293"/>
                    <a:pt x="107" y="293"/>
                  </a:cubicBezTo>
                  <a:cubicBezTo>
                    <a:pt x="107" y="283"/>
                    <a:pt x="107" y="283"/>
                    <a:pt x="107" y="283"/>
                  </a:cubicBezTo>
                  <a:cubicBezTo>
                    <a:pt x="95" y="277"/>
                    <a:pt x="95" y="277"/>
                    <a:pt x="95" y="277"/>
                  </a:cubicBezTo>
                  <a:cubicBezTo>
                    <a:pt x="95" y="156"/>
                    <a:pt x="95" y="156"/>
                    <a:pt x="95" y="156"/>
                  </a:cubicBezTo>
                  <a:cubicBezTo>
                    <a:pt x="107" y="150"/>
                    <a:pt x="107" y="150"/>
                    <a:pt x="107" y="150"/>
                  </a:cubicBezTo>
                  <a:cubicBezTo>
                    <a:pt x="107" y="133"/>
                    <a:pt x="107" y="133"/>
                    <a:pt x="107" y="133"/>
                  </a:cubicBezTo>
                  <a:cubicBezTo>
                    <a:pt x="110" y="134"/>
                    <a:pt x="114" y="134"/>
                    <a:pt x="117" y="134"/>
                  </a:cubicBezTo>
                  <a:cubicBezTo>
                    <a:pt x="145" y="134"/>
                    <a:pt x="168" y="112"/>
                    <a:pt x="168" y="84"/>
                  </a:cubicBezTo>
                  <a:cubicBezTo>
                    <a:pt x="168" y="61"/>
                    <a:pt x="153" y="42"/>
                    <a:pt x="132" y="36"/>
                  </a:cubicBezTo>
                  <a:cubicBezTo>
                    <a:pt x="126" y="15"/>
                    <a:pt x="107" y="0"/>
                    <a:pt x="84" y="0"/>
                  </a:cubicBezTo>
                  <a:cubicBezTo>
                    <a:pt x="61" y="0"/>
                    <a:pt x="42" y="15"/>
                    <a:pt x="36" y="36"/>
                  </a:cubicBezTo>
                  <a:cubicBezTo>
                    <a:pt x="15" y="42"/>
                    <a:pt x="0" y="61"/>
                    <a:pt x="0" y="84"/>
                  </a:cubicBezTo>
                  <a:close/>
                  <a:moveTo>
                    <a:pt x="84" y="31"/>
                  </a:moveTo>
                  <a:cubicBezTo>
                    <a:pt x="97" y="31"/>
                    <a:pt x="107" y="41"/>
                    <a:pt x="107" y="54"/>
                  </a:cubicBezTo>
                  <a:cubicBezTo>
                    <a:pt x="107" y="57"/>
                    <a:pt x="106" y="59"/>
                    <a:pt x="106" y="62"/>
                  </a:cubicBezTo>
                  <a:cubicBezTo>
                    <a:pt x="119" y="62"/>
                    <a:pt x="129" y="73"/>
                    <a:pt x="129" y="87"/>
                  </a:cubicBezTo>
                  <a:cubicBezTo>
                    <a:pt x="129" y="100"/>
                    <a:pt x="118" y="111"/>
                    <a:pt x="105" y="111"/>
                  </a:cubicBezTo>
                  <a:cubicBezTo>
                    <a:pt x="96" y="111"/>
                    <a:pt x="88" y="107"/>
                    <a:pt x="84" y="100"/>
                  </a:cubicBezTo>
                  <a:cubicBezTo>
                    <a:pt x="79" y="107"/>
                    <a:pt x="72" y="111"/>
                    <a:pt x="63" y="111"/>
                  </a:cubicBezTo>
                  <a:cubicBezTo>
                    <a:pt x="49" y="111"/>
                    <a:pt x="38" y="100"/>
                    <a:pt x="38" y="87"/>
                  </a:cubicBezTo>
                  <a:cubicBezTo>
                    <a:pt x="38" y="73"/>
                    <a:pt x="49" y="62"/>
                    <a:pt x="62" y="62"/>
                  </a:cubicBezTo>
                  <a:cubicBezTo>
                    <a:pt x="61" y="59"/>
                    <a:pt x="61" y="57"/>
                    <a:pt x="61" y="54"/>
                  </a:cubicBezTo>
                  <a:cubicBezTo>
                    <a:pt x="61" y="41"/>
                    <a:pt x="71" y="31"/>
                    <a:pt x="84" y="31"/>
                  </a:cubicBezTo>
                  <a:close/>
                  <a:moveTo>
                    <a:pt x="84" y="31"/>
                  </a:moveTo>
                  <a:cubicBezTo>
                    <a:pt x="84" y="31"/>
                    <a:pt x="84" y="31"/>
                    <a:pt x="84" y="31"/>
                  </a:cubicBezTo>
                </a:path>
              </a:pathLst>
            </a:custGeom>
            <a:solidFill>
              <a:srgbClr val="FFFFFF"/>
            </a:solidFill>
            <a:ln w="9525">
              <a:noFill/>
              <a:round/>
            </a:ln>
          </p:spPr>
          <p:txBody>
            <a:bodyPr vert="horz" wrap="square" lIns="68458" tIns="34229" rIns="68458" bIns="34229" numCol="1" anchor="t" anchorCtr="0" compatLnSpc="1"/>
            <a:lstStyle/>
            <a:p>
              <a:pPr marL="0" marR="0" lvl="0" indent="0" algn="l" defTabSz="1029970" rtl="0" eaLnBrk="1" fontAlgn="auto" latinLnBrk="0" hangingPunct="1">
                <a:lnSpc>
                  <a:spcPct val="100000"/>
                </a:lnSpc>
                <a:spcBef>
                  <a:spcPts val="0"/>
                </a:spcBef>
                <a:spcAft>
                  <a:spcPts val="0"/>
                </a:spcAft>
                <a:buClrTx/>
                <a:buSzTx/>
                <a:buFontTx/>
                <a:buNone/>
                <a:defRPr/>
              </a:pPr>
              <a:endParaRPr kumimoji="0" lang="en-US" sz="1995" b="0" i="0" u="none" strike="noStrike" kern="0" cap="none" spc="0" normalizeH="0" baseline="0" noProof="0" dirty="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29" name="Freeform 6"/>
            <p:cNvSpPr>
              <a:spLocks noChangeAspect="1" noEditPoints="1"/>
            </p:cNvSpPr>
            <p:nvPr/>
          </p:nvSpPr>
          <p:spPr bwMode="auto">
            <a:xfrm>
              <a:off x="5386" y="6698"/>
              <a:ext cx="728" cy="576"/>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1029970" rtl="0" eaLnBrk="1" fontAlgn="auto" latinLnBrk="0" hangingPunct="1">
                <a:lnSpc>
                  <a:spcPct val="100000"/>
                </a:lnSpc>
                <a:spcBef>
                  <a:spcPts val="0"/>
                </a:spcBef>
                <a:spcAft>
                  <a:spcPts val="0"/>
                </a:spcAft>
                <a:buClrTx/>
                <a:buSzTx/>
                <a:buFontTx/>
                <a:buNone/>
                <a:defRPr/>
              </a:pPr>
              <a:endParaRPr kumimoji="0" lang="en-US" sz="1995" b="0" i="0" u="none" strike="noStrike" kern="0" cap="none" spc="0" normalizeH="0" baseline="0" noProof="0" dirty="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sp>
          <p:nvSpPr>
            <p:cNvPr id="31" name="Freeform 9"/>
            <p:cNvSpPr>
              <a:spLocks noEditPoints="1"/>
            </p:cNvSpPr>
            <p:nvPr/>
          </p:nvSpPr>
          <p:spPr bwMode="auto">
            <a:xfrm>
              <a:off x="9019" y="3727"/>
              <a:ext cx="583" cy="645"/>
            </a:xfrm>
            <a:custGeom>
              <a:avLst/>
              <a:gdLst/>
              <a:ahLst/>
              <a:cxnLst>
                <a:cxn ang="0">
                  <a:pos x="374" y="158"/>
                </a:cxn>
                <a:cxn ang="0">
                  <a:pos x="352" y="158"/>
                </a:cxn>
                <a:cxn ang="0">
                  <a:pos x="209" y="0"/>
                </a:cxn>
                <a:cxn ang="0">
                  <a:pos x="67" y="158"/>
                </a:cxn>
                <a:cxn ang="0">
                  <a:pos x="44" y="158"/>
                </a:cxn>
                <a:cxn ang="0">
                  <a:pos x="0" y="203"/>
                </a:cxn>
                <a:cxn ang="0">
                  <a:pos x="0" y="414"/>
                </a:cxn>
                <a:cxn ang="0">
                  <a:pos x="44" y="478"/>
                </a:cxn>
                <a:cxn ang="0">
                  <a:pos x="374" y="478"/>
                </a:cxn>
                <a:cxn ang="0">
                  <a:pos x="428" y="414"/>
                </a:cxn>
                <a:cxn ang="0">
                  <a:pos x="428" y="203"/>
                </a:cxn>
                <a:cxn ang="0">
                  <a:pos x="374" y="158"/>
                </a:cxn>
                <a:cxn ang="0">
                  <a:pos x="247" y="414"/>
                </a:cxn>
                <a:cxn ang="0">
                  <a:pos x="172" y="414"/>
                </a:cxn>
                <a:cxn ang="0">
                  <a:pos x="186" y="309"/>
                </a:cxn>
                <a:cxn ang="0">
                  <a:pos x="161" y="265"/>
                </a:cxn>
                <a:cxn ang="0">
                  <a:pos x="210" y="216"/>
                </a:cxn>
                <a:cxn ang="0">
                  <a:pos x="258" y="264"/>
                </a:cxn>
                <a:cxn ang="0">
                  <a:pos x="232" y="310"/>
                </a:cxn>
                <a:cxn ang="0">
                  <a:pos x="247" y="414"/>
                </a:cxn>
                <a:cxn ang="0">
                  <a:pos x="112" y="158"/>
                </a:cxn>
                <a:cxn ang="0">
                  <a:pos x="209" y="45"/>
                </a:cxn>
                <a:cxn ang="0">
                  <a:pos x="307" y="158"/>
                </a:cxn>
                <a:cxn ang="0">
                  <a:pos x="112" y="158"/>
                </a:cxn>
              </a:cxnLst>
              <a:rect l="0" t="0" r="r" b="b"/>
              <a:pathLst>
                <a:path w="428" h="478">
                  <a:moveTo>
                    <a:pt x="374" y="158"/>
                  </a:moveTo>
                  <a:cubicBezTo>
                    <a:pt x="352" y="158"/>
                    <a:pt x="352" y="158"/>
                    <a:pt x="352" y="158"/>
                  </a:cubicBezTo>
                  <a:cubicBezTo>
                    <a:pt x="352" y="58"/>
                    <a:pt x="292" y="0"/>
                    <a:pt x="209" y="0"/>
                  </a:cubicBezTo>
                  <a:cubicBezTo>
                    <a:pt x="127" y="0"/>
                    <a:pt x="67" y="58"/>
                    <a:pt x="67" y="158"/>
                  </a:cubicBezTo>
                  <a:cubicBezTo>
                    <a:pt x="44" y="158"/>
                    <a:pt x="44" y="158"/>
                    <a:pt x="44" y="158"/>
                  </a:cubicBezTo>
                  <a:cubicBezTo>
                    <a:pt x="11" y="158"/>
                    <a:pt x="0" y="170"/>
                    <a:pt x="0" y="203"/>
                  </a:cubicBezTo>
                  <a:cubicBezTo>
                    <a:pt x="0" y="414"/>
                    <a:pt x="0" y="414"/>
                    <a:pt x="0" y="414"/>
                  </a:cubicBezTo>
                  <a:cubicBezTo>
                    <a:pt x="0" y="447"/>
                    <a:pt x="11" y="478"/>
                    <a:pt x="44" y="478"/>
                  </a:cubicBezTo>
                  <a:cubicBezTo>
                    <a:pt x="374" y="478"/>
                    <a:pt x="374" y="478"/>
                    <a:pt x="374" y="478"/>
                  </a:cubicBezTo>
                  <a:cubicBezTo>
                    <a:pt x="407" y="478"/>
                    <a:pt x="428" y="447"/>
                    <a:pt x="428" y="414"/>
                  </a:cubicBezTo>
                  <a:cubicBezTo>
                    <a:pt x="428" y="203"/>
                    <a:pt x="428" y="203"/>
                    <a:pt x="428" y="203"/>
                  </a:cubicBezTo>
                  <a:cubicBezTo>
                    <a:pt x="428" y="170"/>
                    <a:pt x="407" y="158"/>
                    <a:pt x="374" y="158"/>
                  </a:cubicBezTo>
                  <a:moveTo>
                    <a:pt x="247" y="414"/>
                  </a:moveTo>
                  <a:cubicBezTo>
                    <a:pt x="172" y="414"/>
                    <a:pt x="172" y="414"/>
                    <a:pt x="172" y="414"/>
                  </a:cubicBezTo>
                  <a:cubicBezTo>
                    <a:pt x="186" y="309"/>
                    <a:pt x="186" y="309"/>
                    <a:pt x="186" y="309"/>
                  </a:cubicBezTo>
                  <a:cubicBezTo>
                    <a:pt x="171" y="301"/>
                    <a:pt x="161" y="283"/>
                    <a:pt x="161" y="265"/>
                  </a:cubicBezTo>
                  <a:cubicBezTo>
                    <a:pt x="161" y="238"/>
                    <a:pt x="183" y="216"/>
                    <a:pt x="210" y="216"/>
                  </a:cubicBezTo>
                  <a:cubicBezTo>
                    <a:pt x="236" y="216"/>
                    <a:pt x="258" y="237"/>
                    <a:pt x="258" y="264"/>
                  </a:cubicBezTo>
                  <a:cubicBezTo>
                    <a:pt x="258" y="282"/>
                    <a:pt x="248" y="302"/>
                    <a:pt x="232" y="310"/>
                  </a:cubicBezTo>
                  <a:lnTo>
                    <a:pt x="247" y="414"/>
                  </a:lnTo>
                  <a:close/>
                  <a:moveTo>
                    <a:pt x="112" y="158"/>
                  </a:moveTo>
                  <a:cubicBezTo>
                    <a:pt x="112" y="66"/>
                    <a:pt x="161" y="45"/>
                    <a:pt x="209" y="45"/>
                  </a:cubicBezTo>
                  <a:cubicBezTo>
                    <a:pt x="258" y="45"/>
                    <a:pt x="307" y="66"/>
                    <a:pt x="307" y="158"/>
                  </a:cubicBezTo>
                  <a:lnTo>
                    <a:pt x="112" y="158"/>
                  </a:lnTo>
                  <a:close/>
                </a:path>
              </a:pathLst>
            </a:custGeom>
            <a:solidFill>
              <a:srgbClr val="FFFFFF"/>
            </a:solidFill>
            <a:ln w="9525">
              <a:noFill/>
              <a:round/>
            </a:ln>
          </p:spPr>
          <p:txBody>
            <a:bodyPr vert="horz" wrap="square" lIns="68458" tIns="34229" rIns="68458" bIns="34229" numCol="1" anchor="t" anchorCtr="0" compatLnSpc="1"/>
            <a:lstStyle/>
            <a:p>
              <a:pPr marL="0" marR="0" lvl="0" indent="0" algn="l" defTabSz="1029970" rtl="0" eaLnBrk="1" fontAlgn="auto" latinLnBrk="0" hangingPunct="1">
                <a:lnSpc>
                  <a:spcPct val="100000"/>
                </a:lnSpc>
                <a:spcBef>
                  <a:spcPts val="0"/>
                </a:spcBef>
                <a:spcAft>
                  <a:spcPts val="0"/>
                </a:spcAft>
                <a:buClrTx/>
                <a:buSzTx/>
                <a:buFontTx/>
                <a:buNone/>
                <a:defRPr/>
              </a:pPr>
              <a:endParaRPr kumimoji="0" lang="en-US" sz="1995" b="0" i="0" u="none" strike="noStrike" kern="0" cap="none" spc="0" normalizeH="0" baseline="0" noProof="0">
                <a:ln>
                  <a:noFill/>
                </a:ln>
                <a:solidFill>
                  <a:srgbClr val="262626"/>
                </a:solidFill>
                <a:effectLst/>
                <a:uLnTx/>
                <a:uFillTx/>
                <a:latin typeface="Arial" panose="020B0704020202020204" pitchFamily="34" charset="0"/>
                <a:ea typeface="Microsoft YaHei" charset="-122"/>
                <a:cs typeface="+mn-ea"/>
                <a:sym typeface="Arial" panose="020B0704020202020204" pitchFamily="34" charset="0"/>
              </a:endParaRPr>
            </a:p>
          </p:txBody>
        </p:sp>
      </p:grpSp>
      <p:sp>
        <p:nvSpPr>
          <p:cNvPr id="32" name="Text Box 31"/>
          <p:cNvSpPr txBox="1"/>
          <p:nvPr/>
        </p:nvSpPr>
        <p:spPr>
          <a:xfrm>
            <a:off x="3270250" y="1123950"/>
            <a:ext cx="400050" cy="398780"/>
          </a:xfrm>
          <a:prstGeom prst="rect">
            <a:avLst/>
          </a:prstGeom>
          <a:noFill/>
        </p:spPr>
        <p:txBody>
          <a:bodyPr wrap="square" rtlCol="0">
            <a:spAutoFit/>
          </a:bodyPr>
          <a:lstStyle/>
          <a:p>
            <a:r>
              <a:rPr lang="en-US" sz="2000" b="1">
                <a:solidFill>
                  <a:schemeClr val="bg1"/>
                </a:solidFill>
                <a:latin typeface="Arial Bold" panose="020B0704020202020204" charset="0"/>
                <a:cs typeface="Arial Bold" panose="020B0704020202020204" charset="0"/>
              </a:rPr>
              <a:t>1</a:t>
            </a:r>
          </a:p>
        </p:txBody>
      </p:sp>
      <p:sp>
        <p:nvSpPr>
          <p:cNvPr id="33" name="Text Box 32"/>
          <p:cNvSpPr txBox="1"/>
          <p:nvPr/>
        </p:nvSpPr>
        <p:spPr>
          <a:xfrm>
            <a:off x="3270250" y="1797050"/>
            <a:ext cx="400050" cy="398780"/>
          </a:xfrm>
          <a:prstGeom prst="rect">
            <a:avLst/>
          </a:prstGeom>
          <a:noFill/>
        </p:spPr>
        <p:txBody>
          <a:bodyPr wrap="square" rtlCol="0">
            <a:spAutoFit/>
          </a:bodyPr>
          <a:lstStyle/>
          <a:p>
            <a:r>
              <a:rPr lang="en-US" sz="2000" b="1">
                <a:solidFill>
                  <a:schemeClr val="bg1"/>
                </a:solidFill>
                <a:latin typeface="Arial Bold" panose="020B0704020202020204" charset="0"/>
                <a:cs typeface="Arial Bold" panose="020B0704020202020204" charset="0"/>
              </a:rPr>
              <a:t>2</a:t>
            </a:r>
          </a:p>
        </p:txBody>
      </p:sp>
      <p:sp>
        <p:nvSpPr>
          <p:cNvPr id="34" name="Text Box 33"/>
          <p:cNvSpPr txBox="1"/>
          <p:nvPr/>
        </p:nvSpPr>
        <p:spPr>
          <a:xfrm>
            <a:off x="3257550" y="2470150"/>
            <a:ext cx="400050" cy="398780"/>
          </a:xfrm>
          <a:prstGeom prst="rect">
            <a:avLst/>
          </a:prstGeom>
          <a:noFill/>
        </p:spPr>
        <p:txBody>
          <a:bodyPr wrap="square" rtlCol="0">
            <a:spAutoFit/>
          </a:bodyPr>
          <a:lstStyle/>
          <a:p>
            <a:r>
              <a:rPr lang="en-US" sz="2000" b="1">
                <a:solidFill>
                  <a:schemeClr val="bg1"/>
                </a:solidFill>
                <a:latin typeface="Arial Bold" panose="020B0704020202020204" charset="0"/>
                <a:cs typeface="Arial Bold" panose="020B0704020202020204" charset="0"/>
              </a:rPr>
              <a:t>3</a:t>
            </a:r>
          </a:p>
        </p:txBody>
      </p:sp>
      <p:sp>
        <p:nvSpPr>
          <p:cNvPr id="35" name="Text Box 34"/>
          <p:cNvSpPr txBox="1"/>
          <p:nvPr/>
        </p:nvSpPr>
        <p:spPr>
          <a:xfrm>
            <a:off x="3244850" y="3117850"/>
            <a:ext cx="400050" cy="398780"/>
          </a:xfrm>
          <a:prstGeom prst="rect">
            <a:avLst/>
          </a:prstGeom>
          <a:noFill/>
        </p:spPr>
        <p:txBody>
          <a:bodyPr wrap="square" rtlCol="0">
            <a:spAutoFit/>
          </a:bodyPr>
          <a:lstStyle/>
          <a:p>
            <a:r>
              <a:rPr lang="en-US" sz="2000" b="1">
                <a:solidFill>
                  <a:schemeClr val="bg1"/>
                </a:solidFill>
                <a:latin typeface="Arial Bold" panose="020B0704020202020204" charset="0"/>
                <a:cs typeface="Arial Bold" panose="020B0704020202020204" charset="0"/>
              </a:rPr>
              <a:t>4</a:t>
            </a:r>
          </a:p>
        </p:txBody>
      </p:sp>
      <p:sp>
        <p:nvSpPr>
          <p:cNvPr id="36" name="Text Box 35"/>
          <p:cNvSpPr txBox="1"/>
          <p:nvPr/>
        </p:nvSpPr>
        <p:spPr>
          <a:xfrm>
            <a:off x="3244850" y="3778250"/>
            <a:ext cx="400050" cy="398780"/>
          </a:xfrm>
          <a:prstGeom prst="rect">
            <a:avLst/>
          </a:prstGeom>
          <a:noFill/>
        </p:spPr>
        <p:txBody>
          <a:bodyPr wrap="square" rtlCol="0">
            <a:spAutoFit/>
          </a:bodyPr>
          <a:lstStyle/>
          <a:p>
            <a:r>
              <a:rPr lang="en-US" sz="2000" b="1">
                <a:solidFill>
                  <a:schemeClr val="bg1"/>
                </a:solidFill>
                <a:latin typeface="Arial Bold" panose="020B0704020202020204" charset="0"/>
                <a:cs typeface="Arial Bold" panose="020B0704020202020204" charset="0"/>
              </a:rPr>
              <a:t>5</a:t>
            </a:r>
          </a:p>
        </p:txBody>
      </p:sp>
      <p:sp>
        <p:nvSpPr>
          <p:cNvPr id="37" name="Text Box 36"/>
          <p:cNvSpPr txBox="1"/>
          <p:nvPr/>
        </p:nvSpPr>
        <p:spPr>
          <a:xfrm>
            <a:off x="3232150" y="4400550"/>
            <a:ext cx="400050" cy="398780"/>
          </a:xfrm>
          <a:prstGeom prst="rect">
            <a:avLst/>
          </a:prstGeom>
          <a:noFill/>
        </p:spPr>
        <p:txBody>
          <a:bodyPr wrap="square" rtlCol="0">
            <a:spAutoFit/>
          </a:bodyPr>
          <a:lstStyle/>
          <a:p>
            <a:r>
              <a:rPr lang="en-US" sz="2000" b="1">
                <a:solidFill>
                  <a:schemeClr val="bg1"/>
                </a:solidFill>
                <a:latin typeface="Arial Bold" panose="020B0704020202020204" charset="0"/>
                <a:cs typeface="Arial Bold" panose="020B0704020202020204" charset="0"/>
              </a:rPr>
              <a:t>6</a:t>
            </a:r>
          </a:p>
        </p:txBody>
      </p:sp>
      <p:sp>
        <p:nvSpPr>
          <p:cNvPr id="39" name="矩形 9"/>
          <p:cNvSpPr/>
          <p:nvPr/>
        </p:nvSpPr>
        <p:spPr>
          <a:xfrm>
            <a:off x="3686175" y="1112520"/>
            <a:ext cx="4968875" cy="460375"/>
          </a:xfrm>
          <a:prstGeom prst="rect">
            <a:avLst/>
          </a:prstGeom>
          <a:noFill/>
          <a:ln w="9525">
            <a:noFill/>
          </a:ln>
        </p:spPr>
        <p:txBody>
          <a:bodyPr wrap="square" anchor="t">
            <a:spAutoFit/>
          </a:bodyPr>
          <a:lstStyle/>
          <a:p>
            <a:pPr indent="0" algn="just" defTabSz="911225" fontAlgn="base">
              <a:lnSpc>
                <a:spcPct val="120000"/>
              </a:lnSpc>
              <a:spcBef>
                <a:spcPct val="20000"/>
              </a:spcBef>
            </a:pPr>
            <a:r>
              <a:rPr lang="zh-CN" altLang="en-US" sz="1000" strike="noStrike" noProof="1">
                <a:solidFill>
                  <a:schemeClr val="bg1"/>
                </a:solidFill>
                <a:latin typeface="Microsoft YaHei" charset="-122"/>
                <a:ea typeface="Microsoft YaHei" charset="-122"/>
                <a:cs typeface="+mn-cs"/>
                <a:sym typeface="Arial" panose="020B0704020202020204" pitchFamily="34" charset="0"/>
              </a:rPr>
              <a:t>Add your words here,according to your need to draw the text box size.Please read the instructions and more work at the end of the manual template.</a:t>
            </a:r>
          </a:p>
        </p:txBody>
      </p:sp>
      <p:sp>
        <p:nvSpPr>
          <p:cNvPr id="40" name="矩形 9"/>
          <p:cNvSpPr/>
          <p:nvPr/>
        </p:nvSpPr>
        <p:spPr>
          <a:xfrm>
            <a:off x="3686175" y="1786890"/>
            <a:ext cx="4968875" cy="460375"/>
          </a:xfrm>
          <a:prstGeom prst="rect">
            <a:avLst/>
          </a:prstGeom>
          <a:noFill/>
          <a:ln w="9525">
            <a:noFill/>
          </a:ln>
        </p:spPr>
        <p:txBody>
          <a:bodyPr wrap="square" anchor="t">
            <a:spAutoFit/>
          </a:bodyPr>
          <a:lstStyle/>
          <a:p>
            <a:pPr indent="0" algn="just" defTabSz="911225" fontAlgn="base">
              <a:lnSpc>
                <a:spcPct val="120000"/>
              </a:lnSpc>
              <a:spcBef>
                <a:spcPct val="20000"/>
              </a:spcBef>
            </a:pPr>
            <a:r>
              <a:rPr lang="zh-CN" altLang="en-US" sz="1000" strike="noStrike" noProof="1">
                <a:solidFill>
                  <a:schemeClr val="bg1"/>
                </a:solidFill>
                <a:latin typeface="Microsoft YaHei" charset="-122"/>
                <a:ea typeface="Microsoft YaHei" charset="-122"/>
                <a:cs typeface="+mn-cs"/>
                <a:sym typeface="Arial" panose="020B0704020202020204" pitchFamily="34" charset="0"/>
              </a:rPr>
              <a:t>Add your words here,according to your need to draw the text box size.Please read the instructions and more work at the end of the manual template.</a:t>
            </a:r>
          </a:p>
        </p:txBody>
      </p:sp>
      <p:sp>
        <p:nvSpPr>
          <p:cNvPr id="41" name="矩形 9"/>
          <p:cNvSpPr/>
          <p:nvPr/>
        </p:nvSpPr>
        <p:spPr>
          <a:xfrm>
            <a:off x="3686175" y="2435860"/>
            <a:ext cx="4968875" cy="460375"/>
          </a:xfrm>
          <a:prstGeom prst="rect">
            <a:avLst/>
          </a:prstGeom>
          <a:noFill/>
          <a:ln w="9525">
            <a:noFill/>
          </a:ln>
        </p:spPr>
        <p:txBody>
          <a:bodyPr wrap="square" anchor="t">
            <a:spAutoFit/>
          </a:bodyPr>
          <a:lstStyle/>
          <a:p>
            <a:pPr indent="0" algn="just" defTabSz="911225" fontAlgn="base">
              <a:lnSpc>
                <a:spcPct val="120000"/>
              </a:lnSpc>
              <a:spcBef>
                <a:spcPct val="20000"/>
              </a:spcBef>
            </a:pPr>
            <a:r>
              <a:rPr lang="zh-CN" altLang="en-US" sz="1000" strike="noStrike" noProof="1">
                <a:solidFill>
                  <a:schemeClr val="bg1"/>
                </a:solidFill>
                <a:latin typeface="Microsoft YaHei" charset="-122"/>
                <a:ea typeface="Microsoft YaHei" charset="-122"/>
                <a:cs typeface="+mn-cs"/>
                <a:sym typeface="Arial" panose="020B0704020202020204" pitchFamily="34" charset="0"/>
              </a:rPr>
              <a:t>Add your words here,according to your need to draw the text box size.Please read the instructions and more work at the end of the manual template.</a:t>
            </a:r>
          </a:p>
        </p:txBody>
      </p:sp>
      <p:sp>
        <p:nvSpPr>
          <p:cNvPr id="42" name="矩形 9"/>
          <p:cNvSpPr/>
          <p:nvPr/>
        </p:nvSpPr>
        <p:spPr>
          <a:xfrm>
            <a:off x="3686175" y="3097530"/>
            <a:ext cx="4968875" cy="460375"/>
          </a:xfrm>
          <a:prstGeom prst="rect">
            <a:avLst/>
          </a:prstGeom>
          <a:noFill/>
          <a:ln w="9525">
            <a:noFill/>
          </a:ln>
        </p:spPr>
        <p:txBody>
          <a:bodyPr wrap="square" anchor="t">
            <a:spAutoFit/>
          </a:bodyPr>
          <a:lstStyle/>
          <a:p>
            <a:pPr indent="0" algn="just" defTabSz="911225" fontAlgn="base">
              <a:lnSpc>
                <a:spcPct val="120000"/>
              </a:lnSpc>
              <a:spcBef>
                <a:spcPct val="20000"/>
              </a:spcBef>
            </a:pPr>
            <a:r>
              <a:rPr lang="zh-CN" altLang="en-US" sz="1000" strike="noStrike" noProof="1">
                <a:solidFill>
                  <a:schemeClr val="bg1"/>
                </a:solidFill>
                <a:latin typeface="Microsoft YaHei" charset="-122"/>
                <a:ea typeface="Microsoft YaHei" charset="-122"/>
                <a:cs typeface="+mn-cs"/>
                <a:sym typeface="Arial" panose="020B0704020202020204" pitchFamily="34" charset="0"/>
              </a:rPr>
              <a:t>Add your words here,according to your need to draw the text box size.Please read the instructions and more work at the end of the manual template.</a:t>
            </a:r>
          </a:p>
        </p:txBody>
      </p:sp>
      <p:sp>
        <p:nvSpPr>
          <p:cNvPr id="43" name="矩形 9"/>
          <p:cNvSpPr/>
          <p:nvPr/>
        </p:nvSpPr>
        <p:spPr>
          <a:xfrm>
            <a:off x="3686175" y="3784600"/>
            <a:ext cx="4968875" cy="460375"/>
          </a:xfrm>
          <a:prstGeom prst="rect">
            <a:avLst/>
          </a:prstGeom>
          <a:noFill/>
          <a:ln w="9525">
            <a:noFill/>
          </a:ln>
        </p:spPr>
        <p:txBody>
          <a:bodyPr wrap="square" anchor="t">
            <a:spAutoFit/>
          </a:bodyPr>
          <a:lstStyle/>
          <a:p>
            <a:pPr indent="0" algn="just" defTabSz="911225" fontAlgn="base">
              <a:lnSpc>
                <a:spcPct val="120000"/>
              </a:lnSpc>
              <a:spcBef>
                <a:spcPct val="20000"/>
              </a:spcBef>
            </a:pPr>
            <a:r>
              <a:rPr lang="zh-CN" altLang="en-US" sz="1000" strike="noStrike" noProof="1">
                <a:solidFill>
                  <a:schemeClr val="bg1"/>
                </a:solidFill>
                <a:latin typeface="Microsoft YaHei" charset="-122"/>
                <a:ea typeface="Microsoft YaHei" charset="-122"/>
                <a:cs typeface="+mn-cs"/>
                <a:sym typeface="Arial" panose="020B0704020202020204" pitchFamily="34" charset="0"/>
              </a:rPr>
              <a:t>Add your words here,according to your need to draw the text box size.Please read the instructions and more work at the end of the manual template.</a:t>
            </a:r>
          </a:p>
        </p:txBody>
      </p:sp>
      <p:sp>
        <p:nvSpPr>
          <p:cNvPr id="44" name="矩形 9"/>
          <p:cNvSpPr/>
          <p:nvPr/>
        </p:nvSpPr>
        <p:spPr>
          <a:xfrm>
            <a:off x="3686175" y="4395470"/>
            <a:ext cx="4968875" cy="460375"/>
          </a:xfrm>
          <a:prstGeom prst="rect">
            <a:avLst/>
          </a:prstGeom>
          <a:noFill/>
          <a:ln w="9525">
            <a:noFill/>
          </a:ln>
        </p:spPr>
        <p:txBody>
          <a:bodyPr wrap="square" anchor="t">
            <a:spAutoFit/>
          </a:bodyPr>
          <a:lstStyle/>
          <a:p>
            <a:pPr indent="0" algn="just" defTabSz="911225" fontAlgn="base">
              <a:lnSpc>
                <a:spcPct val="120000"/>
              </a:lnSpc>
              <a:spcBef>
                <a:spcPct val="20000"/>
              </a:spcBef>
            </a:pPr>
            <a:r>
              <a:rPr lang="zh-CN" altLang="en-US" sz="1000" strike="noStrike" noProof="1">
                <a:solidFill>
                  <a:schemeClr val="bg1"/>
                </a:solidFill>
                <a:latin typeface="Microsoft YaHei" charset="-122"/>
                <a:ea typeface="Microsoft YaHei" charset="-122"/>
                <a:cs typeface="+mn-cs"/>
                <a:sym typeface="Arial" panose="020B0704020202020204" pitchFamily="34" charset="0"/>
              </a:rPr>
              <a:t>Add your words here,according to your need to draw the text box size.Please read the instructions and more work at the end of the manual template.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39"/>
          <p:cNvSpPr>
            <a:spLocks noChangeAspect="1" noTextEdit="1"/>
          </p:cNvSpPr>
          <p:nvPr/>
        </p:nvSpPr>
        <p:spPr>
          <a:xfrm rot="10800000">
            <a:off x="1143000" y="-117475"/>
            <a:ext cx="4122738" cy="5262563"/>
          </a:xfrm>
          <a:prstGeom prst="rect">
            <a:avLst/>
          </a:prstGeom>
          <a:noFill/>
          <a:ln w="9525">
            <a:noFill/>
          </a:ln>
        </p:spPr>
        <p:txBody>
          <a:bodyPr anchor="t" anchorCtr="0"/>
          <a:lstStyle/>
          <a:p>
            <a:pPr eaLnBrk="0" hangingPunct="0"/>
            <a:endParaRPr lang="zh-CN" altLang="en-US" sz="100">
              <a:latin typeface="Calibri" pitchFamily="34" charset="0"/>
              <a:ea typeface="SimSun" pitchFamily="2" charset="-122"/>
            </a:endParaRPr>
          </a:p>
        </p:txBody>
      </p:sp>
      <p:sp>
        <p:nvSpPr>
          <p:cNvPr id="2" name="Text Box 1"/>
          <p:cNvSpPr txBox="1"/>
          <p:nvPr/>
        </p:nvSpPr>
        <p:spPr>
          <a:xfrm>
            <a:off x="1491615" y="1461135"/>
            <a:ext cx="2297430" cy="1861185"/>
          </a:xfrm>
          <a:prstGeom prst="rect">
            <a:avLst/>
          </a:prstGeom>
          <a:noFill/>
        </p:spPr>
        <p:txBody>
          <a:bodyPr wrap="square" rtlCol="0">
            <a:spAutoFit/>
          </a:bodyPr>
          <a:lstStyle/>
          <a:p>
            <a:pPr algn="ctr"/>
            <a:r>
              <a:rPr lang="en-US" sz="11500">
                <a:solidFill>
                  <a:schemeClr val="bg1"/>
                </a:solidFill>
                <a:latin typeface="Arial Black" panose="020B0A04020102020204" charset="0"/>
                <a:cs typeface="Arial Black" panose="020B0A04020102020204" charset="0"/>
              </a:rPr>
              <a:t>06</a:t>
            </a:r>
          </a:p>
        </p:txBody>
      </p:sp>
      <p:sp>
        <p:nvSpPr>
          <p:cNvPr id="3" name="Text Box 2"/>
          <p:cNvSpPr txBox="1"/>
          <p:nvPr/>
        </p:nvSpPr>
        <p:spPr>
          <a:xfrm>
            <a:off x="3963035" y="2112010"/>
            <a:ext cx="3780790" cy="746760"/>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CONCLUSION</a:t>
            </a:r>
          </a:p>
        </p:txBody>
      </p:sp>
      <p:cxnSp>
        <p:nvCxnSpPr>
          <p:cNvPr id="4" name="Straight Connector 3"/>
          <p:cNvCxnSpPr/>
          <p:nvPr/>
        </p:nvCxnSpPr>
        <p:spPr>
          <a:xfrm>
            <a:off x="1512570" y="3413760"/>
            <a:ext cx="6217920" cy="0"/>
          </a:xfrm>
          <a:prstGeom prst="line">
            <a:avLst/>
          </a:prstGeom>
          <a:ln w="76200">
            <a:solidFill>
              <a:srgbClr val="1ED7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8610" y="161925"/>
            <a:ext cx="6771640" cy="621665"/>
          </a:xfrm>
          <a:prstGeom prst="rect">
            <a:avLst/>
          </a:prstGeom>
          <a:noFill/>
        </p:spPr>
        <p:txBody>
          <a:bodyPr wrap="square" rtlCol="0">
            <a:noAutofit/>
          </a:bodyPr>
          <a:lstStyle/>
          <a:p>
            <a:pPr algn="l"/>
            <a:r>
              <a:rPr lang="en-US" sz="3600">
                <a:solidFill>
                  <a:schemeClr val="bg1"/>
                </a:solidFill>
                <a:latin typeface="Arial Black" panose="020B0A04020102020204" charset="0"/>
                <a:cs typeface="Arial Black" panose="020B0A04020102020204" charset="0"/>
              </a:rPr>
              <a:t>SUMMARY</a:t>
            </a:r>
          </a:p>
        </p:txBody>
      </p:sp>
      <p:cxnSp>
        <p:nvCxnSpPr>
          <p:cNvPr id="2" name="Straight Connector 1">
            <a:extLst>
              <a:ext uri="{FF2B5EF4-FFF2-40B4-BE49-F238E27FC236}">
                <a16:creationId xmlns:a16="http://schemas.microsoft.com/office/drawing/2014/main" id="{24203948-F524-96AA-4C70-6A5ECB742A97}"/>
              </a:ext>
            </a:extLst>
          </p:cNvPr>
          <p:cNvCxnSpPr/>
          <p:nvPr/>
        </p:nvCxnSpPr>
        <p:spPr>
          <a:xfrm>
            <a:off x="405130" y="795655"/>
            <a:ext cx="8138160" cy="0"/>
          </a:xfrm>
          <a:prstGeom prst="line">
            <a:avLst/>
          </a:prstGeom>
          <a:ln w="76200">
            <a:solidFill>
              <a:srgbClr val="1ED760"/>
            </a:solidFill>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 name="文本框 15"/>
          <p:cNvSpPr txBox="1"/>
          <p:nvPr/>
        </p:nvSpPr>
        <p:spPr>
          <a:xfrm>
            <a:off x="303530" y="1511935"/>
            <a:ext cx="3676650" cy="2122805"/>
          </a:xfrm>
          <a:prstGeom prst="rect">
            <a:avLst/>
          </a:prstGeom>
          <a:noFill/>
          <a:ln w="9525">
            <a:noFill/>
          </a:ln>
        </p:spPr>
        <p:txBody>
          <a:bodyPr wrap="square" anchor="t">
            <a:spAutoFit/>
          </a:bodyPr>
          <a:lstStyle/>
          <a:p>
            <a:pPr algn="ctr"/>
            <a:r>
              <a:rPr lang="en-US" altLang="zh-CN" sz="6600" b="1" noProof="1">
                <a:solidFill>
                  <a:srgbClr val="FFFFFF"/>
                </a:solidFill>
                <a:latin typeface="Arial Bold" panose="020B0704020202020204" charset="0"/>
                <a:ea typeface="SimSun" pitchFamily="2" charset="-122"/>
                <a:cs typeface="Arial Bold" panose="020B0704020202020204" charset="0"/>
              </a:rPr>
              <a:t>THANK YOU</a:t>
            </a:r>
          </a:p>
        </p:txBody>
      </p:sp>
      <p:cxnSp>
        <p:nvCxnSpPr>
          <p:cNvPr id="42" name="Straight Connector 41"/>
          <p:cNvCxnSpPr/>
          <p:nvPr/>
        </p:nvCxnSpPr>
        <p:spPr>
          <a:xfrm flipV="1">
            <a:off x="4275456" y="589756"/>
            <a:ext cx="0" cy="3808730"/>
          </a:xfrm>
          <a:prstGeom prst="line">
            <a:avLst/>
          </a:prstGeom>
          <a:ln w="76200" cmpd="sng">
            <a:solidFill>
              <a:srgbClr val="1ED760"/>
            </a:solidFill>
          </a:ln>
          <a:effectLst/>
        </p:spPr>
        <p:style>
          <a:lnRef idx="2">
            <a:schemeClr val="accent1"/>
          </a:lnRef>
          <a:fillRef idx="0">
            <a:schemeClr val="accent1"/>
          </a:fillRef>
          <a:effectRef idx="1">
            <a:schemeClr val="accent1"/>
          </a:effectRef>
          <a:fontRef idx="minor">
            <a:schemeClr val="tx1"/>
          </a:fontRef>
        </p:style>
      </p:cxnSp>
      <p:sp>
        <p:nvSpPr>
          <p:cNvPr id="40967" name="Freeform 49"/>
          <p:cNvSpPr/>
          <p:nvPr/>
        </p:nvSpPr>
        <p:spPr>
          <a:xfrm>
            <a:off x="4684395" y="1475740"/>
            <a:ext cx="731520" cy="731520"/>
          </a:xfrm>
          <a:custGeom>
            <a:avLst/>
            <a:gdLst/>
            <a:ahLst/>
            <a:cxnLst>
              <a:cxn ang="0">
                <a:pos x="94141165" y="0"/>
              </a:cxn>
              <a:cxn ang="0">
                <a:pos x="94141165" y="0"/>
              </a:cxn>
              <a:cxn ang="0">
                <a:pos x="0" y="90696031"/>
              </a:cxn>
              <a:cxn ang="0">
                <a:pos x="94141165" y="184532186"/>
              </a:cxn>
              <a:cxn ang="0">
                <a:pos x="188282330" y="90696031"/>
              </a:cxn>
              <a:cxn ang="0">
                <a:pos x="94141165" y="0"/>
              </a:cxn>
              <a:cxn ang="0">
                <a:pos x="69719380" y="132706399"/>
              </a:cxn>
              <a:cxn ang="0">
                <a:pos x="69719380" y="132706399"/>
              </a:cxn>
              <a:cxn ang="0">
                <a:pos x="52388095" y="132706399"/>
              </a:cxn>
              <a:cxn ang="0">
                <a:pos x="52388095" y="69886562"/>
              </a:cxn>
              <a:cxn ang="0">
                <a:pos x="69719380" y="69886562"/>
              </a:cxn>
              <a:cxn ang="0">
                <a:pos x="69719380" y="132706399"/>
              </a:cxn>
              <a:cxn ang="0">
                <a:pos x="62629605" y="62819837"/>
              </a:cxn>
              <a:cxn ang="0">
                <a:pos x="62629605" y="62819837"/>
              </a:cxn>
              <a:cxn ang="0">
                <a:pos x="52388095" y="52611541"/>
              </a:cxn>
              <a:cxn ang="0">
                <a:pos x="62629605" y="42010368"/>
              </a:cxn>
              <a:cxn ang="0">
                <a:pos x="73264630" y="52611541"/>
              </a:cxn>
              <a:cxn ang="0">
                <a:pos x="62629605" y="62819837"/>
              </a:cxn>
              <a:cxn ang="0">
                <a:pos x="139439485" y="132706399"/>
              </a:cxn>
              <a:cxn ang="0">
                <a:pos x="139439485" y="132706399"/>
              </a:cxn>
              <a:cxn ang="0">
                <a:pos x="122108200" y="132706399"/>
              </a:cxn>
              <a:cxn ang="0">
                <a:pos x="122108200" y="97762756"/>
              </a:cxn>
              <a:cxn ang="0">
                <a:pos x="111866689" y="83628582"/>
              </a:cxn>
              <a:cxn ang="0">
                <a:pos x="100837426" y="90696031"/>
              </a:cxn>
              <a:cxn ang="0">
                <a:pos x="100837426" y="94229032"/>
              </a:cxn>
              <a:cxn ang="0">
                <a:pos x="100837426" y="132706399"/>
              </a:cxn>
              <a:cxn ang="0">
                <a:pos x="83506141" y="132706399"/>
              </a:cxn>
              <a:cxn ang="0">
                <a:pos x="83506141" y="90696031"/>
              </a:cxn>
              <a:cxn ang="0">
                <a:pos x="79960891" y="69886562"/>
              </a:cxn>
              <a:cxn ang="0">
                <a:pos x="97292176" y="69886562"/>
              </a:cxn>
              <a:cxn ang="0">
                <a:pos x="97292176" y="76954011"/>
              </a:cxn>
              <a:cxn ang="0">
                <a:pos x="100837426" y="76954011"/>
              </a:cxn>
              <a:cxn ang="0">
                <a:pos x="118168711" y="69886562"/>
              </a:cxn>
              <a:cxn ang="0">
                <a:pos x="139439485" y="94229032"/>
              </a:cxn>
              <a:cxn ang="0">
                <a:pos x="139439485" y="132706399"/>
              </a:cxn>
            </a:cxnLst>
            <a:rect l="0" t="0" r="0" b="0"/>
            <a:pathLst>
              <a:path w="479" h="471">
                <a:moveTo>
                  <a:pt x="239" y="0"/>
                </a:moveTo>
                <a:lnTo>
                  <a:pt x="239" y="0"/>
                </a:lnTo>
                <a:cubicBezTo>
                  <a:pt x="106" y="0"/>
                  <a:pt x="0" y="107"/>
                  <a:pt x="0" y="231"/>
                </a:cubicBezTo>
                <a:cubicBezTo>
                  <a:pt x="0" y="364"/>
                  <a:pt x="106" y="470"/>
                  <a:pt x="239" y="470"/>
                </a:cubicBezTo>
                <a:cubicBezTo>
                  <a:pt x="372" y="470"/>
                  <a:pt x="478" y="364"/>
                  <a:pt x="478" y="231"/>
                </a:cubicBezTo>
                <a:cubicBezTo>
                  <a:pt x="478" y="107"/>
                  <a:pt x="372" y="0"/>
                  <a:pt x="239" y="0"/>
                </a:cubicBezTo>
                <a:close/>
                <a:moveTo>
                  <a:pt x="177" y="338"/>
                </a:moveTo>
                <a:lnTo>
                  <a:pt x="177" y="338"/>
                </a:lnTo>
                <a:cubicBezTo>
                  <a:pt x="133" y="338"/>
                  <a:pt x="133" y="338"/>
                  <a:pt x="133" y="338"/>
                </a:cubicBezTo>
                <a:cubicBezTo>
                  <a:pt x="133" y="178"/>
                  <a:pt x="133" y="178"/>
                  <a:pt x="133" y="178"/>
                </a:cubicBezTo>
                <a:cubicBezTo>
                  <a:pt x="177" y="178"/>
                  <a:pt x="177" y="178"/>
                  <a:pt x="177" y="178"/>
                </a:cubicBezTo>
                <a:lnTo>
                  <a:pt x="177" y="338"/>
                </a:lnTo>
                <a:close/>
                <a:moveTo>
                  <a:pt x="159" y="160"/>
                </a:moveTo>
                <a:lnTo>
                  <a:pt x="159" y="160"/>
                </a:lnTo>
                <a:cubicBezTo>
                  <a:pt x="141" y="160"/>
                  <a:pt x="133" y="151"/>
                  <a:pt x="133" y="134"/>
                </a:cubicBezTo>
                <a:cubicBezTo>
                  <a:pt x="133" y="125"/>
                  <a:pt x="141" y="107"/>
                  <a:pt x="159" y="107"/>
                </a:cubicBezTo>
                <a:cubicBezTo>
                  <a:pt x="168" y="107"/>
                  <a:pt x="177" y="125"/>
                  <a:pt x="186" y="134"/>
                </a:cubicBezTo>
                <a:cubicBezTo>
                  <a:pt x="186" y="151"/>
                  <a:pt x="168" y="160"/>
                  <a:pt x="159" y="160"/>
                </a:cubicBezTo>
                <a:close/>
                <a:moveTo>
                  <a:pt x="354" y="338"/>
                </a:moveTo>
                <a:lnTo>
                  <a:pt x="354" y="338"/>
                </a:lnTo>
                <a:cubicBezTo>
                  <a:pt x="310" y="338"/>
                  <a:pt x="310" y="338"/>
                  <a:pt x="310" y="338"/>
                </a:cubicBezTo>
                <a:cubicBezTo>
                  <a:pt x="310" y="249"/>
                  <a:pt x="310" y="249"/>
                  <a:pt x="310" y="249"/>
                </a:cubicBezTo>
                <a:cubicBezTo>
                  <a:pt x="310" y="231"/>
                  <a:pt x="300" y="213"/>
                  <a:pt x="284" y="213"/>
                </a:cubicBezTo>
                <a:cubicBezTo>
                  <a:pt x="275" y="213"/>
                  <a:pt x="265" y="222"/>
                  <a:pt x="256" y="231"/>
                </a:cubicBezTo>
                <a:lnTo>
                  <a:pt x="256" y="240"/>
                </a:lnTo>
                <a:cubicBezTo>
                  <a:pt x="256" y="338"/>
                  <a:pt x="256" y="338"/>
                  <a:pt x="256" y="338"/>
                </a:cubicBezTo>
                <a:cubicBezTo>
                  <a:pt x="212" y="338"/>
                  <a:pt x="212" y="338"/>
                  <a:pt x="212" y="338"/>
                </a:cubicBezTo>
                <a:cubicBezTo>
                  <a:pt x="212" y="231"/>
                  <a:pt x="212" y="231"/>
                  <a:pt x="212" y="231"/>
                </a:cubicBezTo>
                <a:cubicBezTo>
                  <a:pt x="212" y="205"/>
                  <a:pt x="212" y="196"/>
                  <a:pt x="203" y="178"/>
                </a:cubicBezTo>
                <a:cubicBezTo>
                  <a:pt x="247" y="178"/>
                  <a:pt x="247" y="178"/>
                  <a:pt x="247" y="178"/>
                </a:cubicBezTo>
                <a:cubicBezTo>
                  <a:pt x="247" y="196"/>
                  <a:pt x="247" y="196"/>
                  <a:pt x="247" y="196"/>
                </a:cubicBezTo>
                <a:cubicBezTo>
                  <a:pt x="256" y="196"/>
                  <a:pt x="256" y="196"/>
                  <a:pt x="256" y="196"/>
                </a:cubicBezTo>
                <a:cubicBezTo>
                  <a:pt x="256" y="187"/>
                  <a:pt x="275" y="178"/>
                  <a:pt x="300" y="178"/>
                </a:cubicBezTo>
                <a:cubicBezTo>
                  <a:pt x="337" y="178"/>
                  <a:pt x="354" y="196"/>
                  <a:pt x="354" y="240"/>
                </a:cubicBezTo>
                <a:lnTo>
                  <a:pt x="354" y="338"/>
                </a:lnTo>
                <a:close/>
              </a:path>
            </a:pathLst>
          </a:custGeom>
          <a:solidFill>
            <a:srgbClr val="FDFDFD">
              <a:alpha val="100000"/>
            </a:srgbClr>
          </a:solidFill>
          <a:ln w="9525">
            <a:noFill/>
          </a:ln>
        </p:spPr>
        <p:txBody>
          <a:bodyPr/>
          <a:lstStyle/>
          <a:p>
            <a:endParaRPr lang="zh-CN" altLang="en-US"/>
          </a:p>
        </p:txBody>
      </p:sp>
      <p:pic>
        <p:nvPicPr>
          <p:cNvPr id="3" name="Picture 2"/>
          <p:cNvPicPr>
            <a:picLocks noChangeAspect="1"/>
          </p:cNvPicPr>
          <p:nvPr/>
        </p:nvPicPr>
        <p:blipFill>
          <a:blip r:embed="rId2"/>
          <a:stretch>
            <a:fillRect/>
          </a:stretch>
        </p:blipFill>
        <p:spPr>
          <a:xfrm>
            <a:off x="4684078" y="2772728"/>
            <a:ext cx="731520" cy="731520"/>
          </a:xfrm>
          <a:prstGeom prst="rect">
            <a:avLst/>
          </a:prstGeom>
        </p:spPr>
      </p:pic>
      <p:sp>
        <p:nvSpPr>
          <p:cNvPr id="4" name="Text Box 3"/>
          <p:cNvSpPr txBox="1"/>
          <p:nvPr/>
        </p:nvSpPr>
        <p:spPr>
          <a:xfrm>
            <a:off x="5822315" y="2776855"/>
            <a:ext cx="3039745" cy="829945"/>
          </a:xfrm>
          <a:prstGeom prst="rect">
            <a:avLst/>
          </a:prstGeom>
          <a:noFill/>
        </p:spPr>
        <p:txBody>
          <a:bodyPr wrap="square" rtlCol="0">
            <a:spAutoFit/>
          </a:bodyPr>
          <a:lstStyle/>
          <a:p>
            <a:r>
              <a:rPr lang="en-US" sz="2400">
                <a:solidFill>
                  <a:schemeClr val="bg1"/>
                </a:solidFill>
              </a:rPr>
              <a:t>github.com/</a:t>
            </a:r>
          </a:p>
          <a:p>
            <a:r>
              <a:rPr lang="en-US" sz="2400">
                <a:solidFill>
                  <a:schemeClr val="bg1"/>
                </a:solidFill>
              </a:rPr>
              <a:t>BabithaRavindra</a:t>
            </a:r>
          </a:p>
        </p:txBody>
      </p:sp>
      <p:sp>
        <p:nvSpPr>
          <p:cNvPr id="2" name="Text Box 1"/>
          <p:cNvSpPr txBox="1"/>
          <p:nvPr/>
        </p:nvSpPr>
        <p:spPr>
          <a:xfrm>
            <a:off x="5823585" y="1475105"/>
            <a:ext cx="3039745" cy="829945"/>
          </a:xfrm>
          <a:prstGeom prst="rect">
            <a:avLst/>
          </a:prstGeom>
          <a:noFill/>
        </p:spPr>
        <p:txBody>
          <a:bodyPr wrap="square" rtlCol="0">
            <a:spAutoFit/>
          </a:bodyPr>
          <a:lstStyle/>
          <a:p>
            <a:r>
              <a:rPr lang="en-US" altLang="en-US" sz="2400">
                <a:solidFill>
                  <a:schemeClr val="bg1"/>
                </a:solidFill>
              </a:rPr>
              <a:t>linkedin.com/in/</a:t>
            </a:r>
          </a:p>
          <a:p>
            <a:r>
              <a:rPr lang="en-US" altLang="en-US" sz="2400">
                <a:solidFill>
                  <a:schemeClr val="bg1"/>
                </a:solidFill>
              </a:rPr>
              <a:t>babitha-ravindra</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hoenix">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hoenix">
      <a:majorFont>
        <a:latin typeface="Footlight MT Light"/>
        <a:ea typeface=""/>
        <a:cs typeface=""/>
        <a:font script="Jpan" typeface="ＭＳ Ｐゴシック"/>
        <a:font script="Hang" typeface="맑은 고딕"/>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oudy Old Style"/>
        <a:ea typeface=""/>
        <a:cs typeface=""/>
        <a:font script="Jpan" typeface="ＭＳ Ｐ明朝"/>
        <a:font script="Hang" typeface="HY견명조"/>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Phoenix">
      <a:fillStyleLst>
        <a:solidFill>
          <a:schemeClr val="phClr">
            <a:tint val="100000"/>
            <a:shade val="100000"/>
            <a:hueMod val="100000"/>
            <a:satMod val="100000"/>
          </a:schemeClr>
        </a:solidFill>
        <a:gradFill rotWithShape="1">
          <a:gsLst>
            <a:gs pos="0">
              <a:schemeClr val="phClr">
                <a:tint val="65000"/>
                <a:satMod val="180000"/>
              </a:schemeClr>
            </a:gs>
            <a:gs pos="50000">
              <a:schemeClr val="phClr">
                <a:tint val="40000"/>
                <a:satMod val="175000"/>
              </a:schemeClr>
            </a:gs>
            <a:gs pos="100000">
              <a:schemeClr val="phClr">
                <a:tint val="65000"/>
                <a:satMod val="180000"/>
              </a:schemeClr>
            </a:gs>
          </a:gsLst>
          <a:lin ang="0" scaled="1"/>
        </a:gradFill>
        <a:gradFill rotWithShape="1">
          <a:gsLst>
            <a:gs pos="0">
              <a:schemeClr val="phClr">
                <a:shade val="38000"/>
                <a:satMod val="150000"/>
              </a:schemeClr>
            </a:gs>
            <a:gs pos="50000">
              <a:schemeClr val="phClr">
                <a:shade val="100000"/>
                <a:satMod val="100000"/>
              </a:schemeClr>
            </a:gs>
            <a:gs pos="100000">
              <a:schemeClr val="phClr">
                <a:shade val="38000"/>
                <a:satMod val="150000"/>
              </a:schemeClr>
            </a:gs>
          </a:gsLst>
          <a:lin ang="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tint val="100000"/>
            <a:shade val="100000"/>
            <a:hueMod val="100000"/>
            <a:satMod val="100000"/>
          </a:schemeClr>
        </a:solidFill>
        <a:gradFill rotWithShape="1">
          <a:gsLst>
            <a:gs pos="0">
              <a:schemeClr val="phClr">
                <a:tint val="80000"/>
                <a:satMod val="400000"/>
              </a:schemeClr>
            </a:gs>
            <a:gs pos="25000">
              <a:schemeClr val="phClr">
                <a:tint val="83000"/>
                <a:satMod val="300000"/>
              </a:schemeClr>
            </a:gs>
            <a:gs pos="100000">
              <a:schemeClr val="phClr">
                <a:shade val="15000"/>
                <a:satMod val="300000"/>
              </a:schemeClr>
            </a:gs>
          </a:gsLst>
          <a:path path="circle">
            <a:fillToRect l="10000" t="180000" r="10000" b="50000"/>
          </a:path>
        </a:gradFill>
        <a:blipFill>
          <a:blip xmlns:r="http://schemas.openxmlformats.org/officeDocument/2006/relationships" r:embed="rId1">
            <a:duotone>
              <a:schemeClr val="phClr">
                <a:tint val="100000"/>
                <a:shade val="70000"/>
                <a:hueMod val="100000"/>
                <a:satMod val="100000"/>
              </a:schemeClr>
              <a:schemeClr val="phClr">
                <a:tint val="90000"/>
                <a:shade val="100000"/>
                <a:hueMod val="100000"/>
                <a:satMod val="100000"/>
              </a:schemeClr>
            </a:duotone>
          </a:blip>
          <a:tile tx="0" ty="0" sx="50000" sy="50000" flip="x"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TotalTime>
  <Words>2652</Words>
  <Application>Microsoft Office PowerPoint</Application>
  <PresentationFormat>On-screen Show (16:9)</PresentationFormat>
  <Paragraphs>157</Paragraphs>
  <Slides>30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Dotum</vt:lpstr>
      <vt:lpstr>Microsoft YaHei</vt:lpstr>
      <vt:lpstr>Arial</vt:lpstr>
      <vt:lpstr>Arial Black</vt:lpstr>
      <vt:lpstr>Arial Bold</vt:lpstr>
      <vt:lpstr>Arial Regular</vt:lpstr>
      <vt:lpstr>Calibri</vt:lpstr>
      <vt:lpstr>Footlight MT Light</vt:lpstr>
      <vt:lpstr>Goudy Old Style</vt:lpstr>
      <vt:lpstr>Phoenix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Q1. Which genre has the highest average popularity across all tracks?</vt:lpstr>
      <vt:lpstr>Q2. Which genre has the longest average track duration?</vt:lpstr>
      <vt:lpstr>Q3.Detect genre fatigue: genres with declining average popularity over time</vt:lpstr>
      <vt:lpstr>Q4.Which artists consistently appear in the top 5 most popular tracks across genres?</vt:lpstr>
      <vt:lpstr>Q5. List the artists who have contributed to the highest number of unique genres.</vt:lpstr>
      <vt:lpstr>Q5. Which artists have the highest average energy and danceability across their tracks?</vt:lpstr>
      <vt:lpstr>Q7. Which genre has the highest average valence and energy combined?</vt:lpstr>
      <vt:lpstr>Q8. What is the average danceability score per genre, ranked from highest to lowest?</vt:lpstr>
      <vt:lpstr>Q9.List the top 3 most popular tracks per genre (using DENSE_RANK).</vt:lpstr>
      <vt:lpstr>Q10. Which tracks are outliers in both tempo and energy (2 standard deviations from mean)?</vt:lpstr>
      <vt:lpstr>PowerPoint Presentation</vt:lpstr>
      <vt:lpstr>PowerPoint Presentation</vt:lpstr>
      <vt:lpstr>PowerPoint Presentation</vt:lpstr>
      <vt:lpstr>PowerPoint Presentation</vt:lpstr>
      <vt:lpstr>PowerPoint Presentation</vt:lpstr>
    </vt:vector>
  </TitlesOfParts>
  <Company>topppt.cn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Babitha Ravindra</cp:lastModifiedBy>
  <cp:revision>35</cp:revision>
  <dcterms:created xsi:type="dcterms:W3CDTF">2025-05-25T12:10:15Z</dcterms:created>
  <dcterms:modified xsi:type="dcterms:W3CDTF">2025-10-18T12:04:43Z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1033-6.13.1.8710</vt:lpwstr>
  </property>
  <property fmtid="{D5CDD505-2E9C-101B-9397-08002B2CF9AE}" pid="3" name="ICV">
    <vt:lpwstr>38561D8C72F46B92CDDFFD671E436686_41</vt:lpwstr>
  </property>
</Properties>
</file>